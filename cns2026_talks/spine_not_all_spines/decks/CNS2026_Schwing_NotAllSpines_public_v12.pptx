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4"/>
    <p:sldId id="257" r:id="rId3"/>
    <p:sldId id="258" r:id="rId2"/>
    <p:sldId id="259" r:id="rId13"/>
    <p:sldId id="260" r:id="rId14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</p:sldIdLst>
  <p:sldSz cx="12192000" cy="6858000"/>
  <p:notesSz cx="6858000" cy="9144000"/>
  <p:embeddedFontLst>
    <p:embeddedFont>
      <p:font typeface="New Hero" panose="02000500000000000000" pitchFamily="50" charset="0"/>
      <p:regular r:id="rId5"/>
      <p:italic r:id="rId6"/>
    </p:embeddedFont>
    <p:embeddedFont>
      <p:font typeface="New Hero Medium" panose="02000600000000000000" pitchFamily="50" charset="0"/>
      <p:regular r:id="rId7"/>
      <p:italic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652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3.xml"/><Relationship Id="rId3" Type="http://schemas.openxmlformats.org/officeDocument/2006/relationships/slide" Target="slides/slide2.xml"/><Relationship Id="rId4" Type="http://schemas.openxmlformats.org/officeDocument/2006/relationships/slide" Target="slides/slide1.xml"/><Relationship Id="rId5" Type="http://schemas.openxmlformats.org/officeDocument/2006/relationships/font" Target="fonts/font1.fntdata"/><Relationship Id="rId6" Type="http://schemas.openxmlformats.org/officeDocument/2006/relationships/font" Target="fonts/font2.fntdata"/><Relationship Id="rId7" Type="http://schemas.openxmlformats.org/officeDocument/2006/relationships/font" Target="fonts/font3.fntdata"/><Relationship Id="rId8" Type="http://schemas.openxmlformats.org/officeDocument/2006/relationships/font" Target="fonts/font4.fntdata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notesMaster" Target="notesMasters/notesMaster1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number is from a verified primary source except the four marked derived: the wrong-site share of the NPDB total (one quarter of paid never-event claims are wrong site), the yearly cost of the fiducial series (179 patients over 38.4 months at $34–37 per operating-room minute, 2014 dollars), and the US wrong-level operation and indemnity estimates (the two published per-procedure rates applied to 1.3–1.6 million spine operations a year, with the published litigation and payment fractions).</a:t>
            </a:r>
          </a:p>
          <a:p/>
          <a:p>
            <a:r>
              <a:t>The $1.3 billion is all surgical never events (retained objects, wrong site, wrong procedure, wrong patient) over 1990–2010; no published wrong-site-only total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C5D9C-5792-771F-694B-77CA430491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85558" y="2192976"/>
            <a:ext cx="5482442" cy="907473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 dirty="0"/>
              <a:t>Dr. Faculty Name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D7A35E-BEBE-B4D0-7E84-2C228CF60F5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85558" y="3249879"/>
            <a:ext cx="5482442" cy="907473"/>
          </a:xfrm>
        </p:spPr>
        <p:txBody>
          <a:bodyPr/>
          <a:lstStyle>
            <a:lvl1pPr marL="0" indent="0" algn="l">
              <a:buNone/>
              <a:defRPr sz="24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Course Name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41D854B-C2B2-DDD8-28EF-A21EAB95E16D}"/>
              </a:ext>
            </a:extLst>
          </p:cNvPr>
          <p:cNvGrpSpPr/>
          <p:nvPr userDrawn="1"/>
        </p:nvGrpSpPr>
        <p:grpSpPr>
          <a:xfrm>
            <a:off x="847126" y="1001444"/>
            <a:ext cx="3392365" cy="5404342"/>
            <a:chOff x="1036632" y="919574"/>
            <a:chExt cx="3753081" cy="572376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1C177E0-77CF-B03F-06FA-088C1D06034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1827" y="2219010"/>
              <a:ext cx="3747886" cy="4424324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0F9E73F2-0D3C-7F75-3484-F28045CEC69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7022" y="919574"/>
              <a:ext cx="3742691" cy="697664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9F29650-3D6A-FED0-9A7A-6C768EE2C654}"/>
                </a:ext>
              </a:extLst>
            </p:cNvPr>
            <p:cNvSpPr txBox="1"/>
            <p:nvPr userDrawn="1"/>
          </p:nvSpPr>
          <p:spPr>
            <a:xfrm>
              <a:off x="1036632" y="1733458"/>
              <a:ext cx="3753081" cy="3911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accent1"/>
                  </a:solidFill>
                </a:rPr>
                <a:t>Change is the only constant.</a:t>
              </a: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41E578DB-AFC7-16E4-ECF9-65CEB98447D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1068" y="214666"/>
            <a:ext cx="4049865" cy="700055"/>
          </a:xfrm>
          <a:prstGeom prst="rect">
            <a:avLst/>
          </a:prstGeo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F253582-705B-B89C-A200-9E17D2D2C5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4775" y="4306782"/>
            <a:ext cx="5483225" cy="907473"/>
          </a:xfrm>
        </p:spPr>
        <p:txBody>
          <a:bodyPr>
            <a:normAutofit/>
          </a:bodyPr>
          <a:lstStyle>
            <a:lvl1pPr>
              <a:buNone/>
              <a:defRPr sz="1800" i="1"/>
            </a:lvl1pPr>
          </a:lstStyle>
          <a:p>
            <a:pPr lvl="0"/>
            <a:r>
              <a:rPr lang="en-US" dirty="0"/>
              <a:t>Month Day, 2026</a:t>
            </a:r>
          </a:p>
        </p:txBody>
      </p:sp>
    </p:spTree>
    <p:extLst>
      <p:ext uri="{BB962C8B-B14F-4D97-AF65-F5344CB8AC3E}">
        <p14:creationId xmlns:p14="http://schemas.microsoft.com/office/powerpoint/2010/main" val="7110986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06045-3FB1-8F2E-A028-FB95665FB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8C1D1-BE5D-4237-1020-D5CE775F4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435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C2D3F5-1202-6847-63BD-4AC6A5ECB2C0}"/>
              </a:ext>
            </a:extLst>
          </p:cNvPr>
          <p:cNvSpPr/>
          <p:nvPr userDrawn="1"/>
        </p:nvSpPr>
        <p:spPr>
          <a:xfrm>
            <a:off x="0" y="5910242"/>
            <a:ext cx="12192000" cy="947758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0E8012F-5BD4-739D-BDB0-CC13C8D4C5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1440" y="5968249"/>
            <a:ext cx="4168239" cy="77698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12AA35E-FC7F-3AD6-8375-B0AF94E67B9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323" y="6024721"/>
            <a:ext cx="4168238" cy="720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620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06045-3FB1-8F2E-A028-FB95665FB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9286" y="365125"/>
            <a:ext cx="8899566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8C1D1-BE5D-4237-1020-D5CE775F4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9286" y="1825625"/>
            <a:ext cx="8899566" cy="43495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C2D3F5-1202-6847-63BD-4AC6A5ECB2C0}"/>
              </a:ext>
            </a:extLst>
          </p:cNvPr>
          <p:cNvSpPr/>
          <p:nvPr userDrawn="1"/>
        </p:nvSpPr>
        <p:spPr>
          <a:xfrm>
            <a:off x="0" y="0"/>
            <a:ext cx="1520042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8FB3A93-668A-1CF3-B918-CD631EB4E2C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50" r="25049" b="5581"/>
          <a:stretch>
            <a:fillRect/>
          </a:stretch>
        </p:blipFill>
        <p:spPr>
          <a:xfrm>
            <a:off x="0" y="3462836"/>
            <a:ext cx="1520042" cy="339516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49D4793-B10F-8496-76F9-FE0FE360815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64" y="2524382"/>
            <a:ext cx="1353312" cy="252268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6D4AEB14-71E3-97E9-160E-A0BBA1A71054}"/>
              </a:ext>
            </a:extLst>
          </p:cNvPr>
          <p:cNvGrpSpPr/>
          <p:nvPr userDrawn="1"/>
        </p:nvGrpSpPr>
        <p:grpSpPr>
          <a:xfrm>
            <a:off x="82887" y="766440"/>
            <a:ext cx="1354267" cy="964978"/>
            <a:chOff x="10782960" y="633046"/>
            <a:chExt cx="1354267" cy="964978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FFCFB381-6494-A153-C972-3B18E1B8A55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1498"/>
            <a:stretch>
              <a:fillRect/>
            </a:stretch>
          </p:blipFill>
          <p:spPr>
            <a:xfrm>
              <a:off x="10784059" y="633046"/>
              <a:ext cx="1352069" cy="422367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1B64C24C-DAD1-0F23-28F8-6F5C083DA34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564"/>
            <a:stretch>
              <a:fillRect/>
            </a:stretch>
          </p:blipFill>
          <p:spPr>
            <a:xfrm>
              <a:off x="10782960" y="1281349"/>
              <a:ext cx="1354267" cy="316675"/>
            </a:xfrm>
            <a:prstGeom prst="rect">
              <a:avLst/>
            </a:prstGeom>
          </p:spPr>
        </p:pic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253C4AD-7231-2FE0-A5D7-FAF0BDD46E7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783437" y="1157717"/>
              <a:ext cx="135331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1022265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A36C3F-FC84-C2F8-4A3E-63120A1D4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F108BF-53B4-57C0-F90D-24E0BD5706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6659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2.png"/><Relationship Id="rId3" Type="http://schemas.openxmlformats.org/officeDocument/2006/relationships/hyperlink" Target="https://github.com/OpenSpineConsortium/spinopelvic-seg" TargetMode="External"/><Relationship Id="rId4" Type="http://schemas.openxmlformats.org/officeDocument/2006/relationships/hyperlink" Target="https://huggingface.co/OpenSpineConsortium/spinopelvic-seg-checkpoints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85558" y="1050000"/>
            <a:ext cx="6600000" cy="2200000"/>
          </a:xfrm>
        </p:spPr>
        <p:txBody>
          <a:bodyPr wrap="square"/>
          <a:lstStyle/>
          <a:p>
            <a:r>
              <a:rPr sz="2400" b="1">
                <a:solidFill>
                  <a:srgbClr val="FFFFFF"/>
                </a:solidFill>
              </a:rPr>
              <a:t>Not All Spines Are Created Equal: A Single-Shot CT Segmentation Model For Preoperative Detection Of Lumbar And Thoracic End Anomalies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85558" y="3350000"/>
            <a:ext cx="6600000" cy="900000"/>
          </a:xfrm>
        </p:spPr>
        <p:txBody>
          <a:bodyPr wrap="square"/>
          <a:lstStyle/>
          <a:p>
            <a:r>
              <a:rPr sz="2000">
                <a:solidFill>
                  <a:srgbClr val="FFFFFF"/>
                </a:solidFill>
              </a:rPr>
              <a:t>Gregory J. Schwing, MD, PhD</a:t>
            </a:r>
          </a:p>
          <a:p>
            <a:r>
              <a:rPr sz="1300">
                <a:solidFill>
                  <a:srgbClr val="FFFFFF"/>
                </a:solidFill>
              </a:rPr>
              <a:t>Department of General Surgery, Detroit Medical Center and Wayne State University, Detroit, MI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>
          <a:xfrm>
            <a:off x="5185558" y="4400000"/>
            <a:ext cx="6600000" cy="1800000"/>
          </a:xfrm>
        </p:spPr>
        <p:txBody>
          <a:bodyPr wrap="square"/>
          <a:lstStyle/>
          <a:p>
            <a:pPr>
              <a:spcAft>
                <a:spcPts val="500"/>
              </a:spcAft>
            </a:pPr>
            <a:r>
              <a:rPr sz="1200">
                <a:solidFill>
                  <a:srgbClr val="FFFFFF"/>
                </a:solidFill>
              </a:rPr>
              <a:t>CNS 2026 Annual Meeting, Washington, DC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FFFFFF"/>
                </a:solidFill>
              </a:rPr>
              <a:t>Mini Podium 4, Spine Session 1 (MP4SP1)  ·  Monday 2 November 2026, 5:21–6:00 PM  ·  Podium 4, Ballroom ABC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FFFFFF"/>
                </a:solidFill>
              </a:rPr>
              <a:t>Results from: Not All Spines Are Created Equal, NeurIPS 2026, Evaluations and Datasets track (accepted)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Where this is going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1750000" y="1520000"/>
            <a:ext cx="520000" cy="520000"/>
          </a:xfrm>
          <a:prstGeom prst="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50000" y="1520000"/>
            <a:ext cx="9450000" cy="5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91D63"/>
                </a:solidFill>
              </a:rPr>
              <a:t>Surgeons count vertebrae. On a transitional spine the count is wrong</a:t>
            </a:r>
          </a:p>
        </p:txBody>
      </p:sp>
      <p:sp>
        <p:nvSpPr>
          <p:cNvPr id="5" name="Rectangle 4"/>
          <p:cNvSpPr/>
          <p:nvPr/>
        </p:nvSpPr>
        <p:spPr>
          <a:xfrm>
            <a:off x="1750000" y="2450000"/>
            <a:ext cx="520000" cy="520000"/>
          </a:xfrm>
          <a:prstGeom prst="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50000" y="2450000"/>
            <a:ext cx="9450000" cy="5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91D63"/>
                </a:solidFill>
              </a:rPr>
              <a:t>The planning CT is read more and more through an automatic segmenter; the most widely used one has no sixth lumbar class</a:t>
            </a:r>
          </a:p>
        </p:txBody>
      </p:sp>
      <p:sp>
        <p:nvSpPr>
          <p:cNvPr id="7" name="Rectangle 6"/>
          <p:cNvSpPr/>
          <p:nvPr/>
        </p:nvSpPr>
        <p:spPr>
          <a:xfrm>
            <a:off x="1750000" y="3380000"/>
            <a:ext cx="520000" cy="520000"/>
          </a:xfrm>
          <a:prstGeom prst="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50000" y="3380000"/>
            <a:ext cx="9450000" cy="5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91D63"/>
                </a:solidFill>
              </a:rPr>
              <a:t>What it does on a transitional spine, measured on a public benchmark built for the purpose: 802 patients, 33 transitional, Castellvi graded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1750000" y="4310000"/>
            <a:ext cx="520000" cy="520000"/>
          </a:xfrm>
          <a:prstGeom prst="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50000" y="4310000"/>
            <a:ext cx="9450000" cy="5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91D63"/>
                </a:solidFill>
              </a:rPr>
              <a:t>A released single-shot spine-and-pelvis segmenter: what it repairs, and what it does not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50000" y="5240000"/>
            <a:ext cx="520000" cy="520000"/>
          </a:xfrm>
          <a:prstGeom prst="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50000" y="5240000"/>
            <a:ext cx="9450000" cy="5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91D63"/>
                </a:solidFill>
              </a:rPr>
              <a:t>What is missing: enough transitional patients' scans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The level is counted, and the count is often wrong</a:t>
            </a:r>
          </a:p>
        </p:txBody>
      </p:sp>
      <p:pic>
        <p:nvPicPr>
          <p:cNvPr id="3" name="Picture 2" descr="Strong et al. 2022, Figure 3: fluoroscopy with a needle at the T10 pedicle, levels counted from the sacrum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4447602" cy="3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5400000"/>
            <a:ext cx="4447602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Strong et al. 2022, Figure 3: intraoperative fluoroscopy, needle at the T10 pedicle, counted from the sacrum. J Neurosurg Spine 36:792 (PMC10193475); permission pending.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7602" y="1420000"/>
            <a:ext cx="5402398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91D63"/>
                </a:solidFill>
              </a:rPr>
              <a:t>Half of spine surgeons report a wrong-level operation in their career (Mody 2008; Groff 2013)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91D63"/>
                </a:solidFill>
              </a:rPr>
              <a:t>Registry of 34,544 operations: 0.12 %, thoracic 0.42 % (Furuya 2026)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91D63"/>
                </a:solidFill>
              </a:rPr>
              <a:t>The first exposed level is wrong in 4–15 % before the check film; verification protocols miss a third (Ammerman 2006; Dablouk 2019; Longo 2012)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7602" y="4970000"/>
            <a:ext cx="5402398" cy="1000000"/>
          </a:xfrm>
          <a:prstGeom prst="round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Every check in use today counts the levels again, and a recount fails the same way on a transitional spine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50000" y="6380000"/>
            <a:ext cx="1015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7A7A"/>
                </a:solidFill>
              </a:rPr>
              <a:t>1. Mody MG, et al. Spine 2008;33:194.   2. Groff MW, et al. World Neurosurg 2013;79:585.   3. Furuya M, et al. Bone Joint J 2026;108-B:673.   4. Dablouk MO, et al. Br J Neurosurg 2019.   5. Ammerman JM, et al. Surg Neurol 2006.   6. Longo UG, et al. J Bone Joint Surg Br 2012;94-B:1546.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Transitional anatomy changes the count</a:t>
            </a:r>
          </a:p>
        </p:txBody>
      </p:sp>
      <p:pic>
        <p:nvPicPr>
          <p:cNvPr id="3" name="Picture 2" descr="Figure; see the caption on the slide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7052" y="1420000"/>
            <a:ext cx="8515895" cy="35499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5029999"/>
            <a:ext cx="1015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Labelled CT, public de-identified records (CTSpinoPelvic1K). Bar, 20 mm.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5419999"/>
            <a:ext cx="10150000" cy="8800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91D63"/>
                </a:solidFill>
              </a:rPr>
              <a:t>8.8 % of 3,147 full-length radiographs lack 24 presacral segments (Sabri 2025); in 550 lumbar operations the count was wrong in 38 of 71 patients with a transitional vertebra (Nakagawa 2017)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91D63"/>
                </a:solidFill>
              </a:rPr>
              <a:t>The truth is on CT, where the whole column can be counted and the junction graded (Castellvi 1984)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0000" y="6380000"/>
            <a:ext cx="1015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7A7A"/>
                </a:solidFill>
              </a:rPr>
              <a:t>7. Sabri SA, et al. Neurosurg Focus 2025;58(6):E13.   8. Nakagawa T, et al. 2017.   9. Castellvi AE, et al. Spine 1984;9:493.   10. CTSpinoPelvic1K, doi.org/10.5281/zenodo.22139642.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What a wrong site costs, and what avoiding it costs</a:t>
            </a:r>
          </a:p>
        </p:txBody>
      </p:sp>
      <p:pic>
        <p:nvPicPr>
          <p:cNvPr id="3" name="Picture 2" descr="Published costs of wrong-site surgery and of the checks that prevent i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10150000" cy="4785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6380000"/>
            <a:ext cx="1015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7A7A"/>
                </a:solidFill>
              </a:rPr>
              <a:t>Mehtsun WT, et al. Surgery 2013;153:465.   Tan et al. Jt Comm J Qual Patient Saf 2023;49:265.   Bettis T, et al. Patient Saf Surg 2026.   Goodkin R, Laska LL. Surg Neurol 2004;61:323.   Mody MG, et al. Spine 2008;33:194.   Groff MW, et al. World Neurosurg 2013;79:585.   Machin JT, et al. Eur Spine J 2018;27:2693.   Harrison WD, et al. Ann R Coll Surg Engl 2015.   AJNR Am J Neuroradiol 2023;44:618.   Childers CP, Maggard-Gibbons M. JAMA Surg 2018;153:e176233.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The label on the film is only as right as the planning read</a:t>
            </a:r>
          </a:p>
        </p:txBody>
      </p:sp>
      <p:pic>
        <p:nvPicPr>
          <p:cNvPr id="3" name="Picture 2" descr="De Silva 2016 Figure 1 and Manbachi 2018 Figure 6: level labels carried from the planning CT onto the film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4820512" cy="423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5710000"/>
            <a:ext cx="4820512" cy="6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Top: De Silva et al. 2016, Figure 1 (Spine; PMC5045321). Bottom: Manbachi et al. 2018, Figure 6, labels on a 13th rib and a lumbarised S1 (Ann Biomed Eng; PMC9107073). Permission pending.</a:t>
            </a:r>
          </a:p>
        </p:txBody>
      </p:sp>
      <p:pic>
        <p:nvPicPr>
          <p:cNvPr id="5" name="Picture 4" descr="Published level-checking methods and what each is scored agains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0512" y="1420000"/>
            <a:ext cx="5029488" cy="32424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70512" y="4812442"/>
            <a:ext cx="5029488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C70B7"/>
                </a:solidFill>
              </a:rPr>
              <a:t>Registration scores against the labels it imported. On a transitional spine the label is only as right as the planning read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C70B7"/>
                </a:solidFill>
              </a:rPr>
              <a:t>So the level is decided on the planning CT, and more and more by a segmenter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50000" y="6380000"/>
            <a:ext cx="1015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7A7A"/>
                </a:solidFill>
              </a:rPr>
              <a:t>11. Otake Y, et al. Phys Med Biol 2012;57:5485.   12. De Silva T, et al. Spine 2016.   13. Manbachi A, et al. Ann Biomed Eng 2018;46:1548.   14. Peh WCG, et al. 1999.   15. Zhang R, et al. J Xray Sci Technol 2023.   16. Huang Y, et al. Comput Methods Programs Biomed 2022.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The planning read fails where the count fails</a:t>
            </a:r>
          </a:p>
        </p:txBody>
      </p:sp>
      <p:pic>
        <p:nvPicPr>
          <p:cNvPr id="3" name="Picture 2" descr="Figure; see the caption on the slide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5600000" cy="33815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4881538"/>
            <a:ext cx="5600000" cy="14184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A lumbarization case with a true L6. Left, ground truth; right, the segmenter's output.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50000" y="1420000"/>
            <a:ext cx="4250000" cy="48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An open-source whole-body segmenter, unmodified, on 1,152 public CTs (Wasserthal 2023)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Normal anatomy: L5 Dice 0.94. Lumbarization: the labels slide one level, L5 Dice 0.29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L6 emitted: 0 of 1,152. Confident, well formed, one level off, no error signal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Published: Not All Spines Are Created Equal, NeurIPS 2026, Evaluations and Datasets track (accepted)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0000" y="6380000"/>
            <a:ext cx="1015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7A7A"/>
                </a:solidFill>
              </a:rPr>
              <a:t>17. Wasserthal J, et al. Radiol Artif Intell 2023;5:e230024.   18. Schwing GJ, et al. Not All Spines Are Created Equal: How CT Segmenters Fail on Lumbosacral Transitional Vertebrae. NeurIPS 2026 (accepted).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A public benchmark, transitional spines graded</a:t>
            </a:r>
          </a:p>
        </p:txBody>
      </p:sp>
      <p:pic>
        <p:nvPicPr>
          <p:cNvPr id="3" name="Picture 2" descr="Figure; see the caption on the slide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3900000" cy="39735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5473584"/>
            <a:ext cx="3900000" cy="8264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Two-reader consensus Castellvi grade, all 33 transitional patients (NeurIPS 2026, Table 4).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50000" y="1420000"/>
            <a:ext cx="5950000" cy="48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191D63"/>
                </a:solidFill>
              </a:rPr>
              <a:t>CTSpinoPelvic1K: 1,153 CT records of 802 patients, spine and pelvis in one mask (CTSpine1K and CTPelvic1K, one screening cohort)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191D63"/>
                </a:solidFill>
              </a:rPr>
              <a:t>33 transitional patients in six phenotypes: 14 lumbarization, 9 four-lumbar sacralization, 6 full, 2 semi, 2 ambiguous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191D63"/>
                </a:solidFill>
              </a:rPr>
              <a:t>Castellvi graded by two radiology residents: 27 of 33 agreed (κ 0.74), six settled by consensus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191D63"/>
                </a:solidFill>
              </a:rPr>
              <a:t>16 of 33 are IIIb, all nine four-lumbar spines among them; only 2 are Type I, so this is the conspicuous 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0000" y="6380000"/>
            <a:ext cx="1015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7A7A"/>
                </a:solidFill>
              </a:rPr>
              <a:t>19. Deng Y, et al. CTSpine1K, 2021.   20. Liu P, et al. CTPelvic1K, 2021.   21. Castellvi AE, et al. Spine 1984;9:493.   22. CTSpinoPelvic1K, doi.org/10.5281/zenodo.22139642.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How the benchmark was built</a:t>
            </a:r>
          </a:p>
        </p:txBody>
      </p:sp>
      <p:pic>
        <p:nvPicPr>
          <p:cNvPr id="3" name="Picture 2" descr="Flow of the dataset construction, from the source CT and label sets to 802 released records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2715715" cy="4860000"/>
          </a:xfrm>
          <a:prstGeom prst="rect">
            <a:avLst/>
          </a:prstGeom>
        </p:spPr>
      </p:pic>
      <p:pic>
        <p:nvPicPr>
          <p:cNvPr id="4" name="Picture 3" descr="Surgical hardware labelled as its own classes: hip arthroplasty, femoral-neck screws, sacroiliac screws, interbody cages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5715" y="1420000"/>
            <a:ext cx="7134285" cy="153890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65715" y="3018902"/>
            <a:ext cx="7134285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Surgical hardware as its own classes, 11 records (MDPA Fig. S1). Bar, 5 cm.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5715" y="3458902"/>
            <a:ext cx="7134285" cy="282109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91D63"/>
                </a:solidFill>
              </a:rPr>
              <a:t>Two public label sets matched to the CT series each was drawn on; neither source recorded which of the two scans it used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91D63"/>
                </a:solidFill>
              </a:rPr>
              <a:t>112 spine and 13 pelvic corrections to the source labels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91D63"/>
                </a:solidFill>
              </a:rPr>
              <a:t>Release gates: geometry and sides from the affine, then every measure in its physiological range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91D63"/>
                </a:solidFill>
              </a:rPr>
              <a:t>802 records, 33 with a consensus Castellvi grade; public on Zenodo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50000" y="6380000"/>
            <a:ext cx="1015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7A7A"/>
                </a:solidFill>
              </a:rPr>
              <a:t>Figures: CTSpinoPelvic1K dataset article (arXiv 2609.22760, Medical Physics, submitted), Fig. 1 and Fig. S1.   CTSpinoPelvic1K, doi.org/10.5281/zenodo.22139642.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Its spinopelvic measures match published CT</a:t>
            </a:r>
          </a:p>
        </p:txBody>
      </p:sp>
      <p:pic>
        <p:nvPicPr>
          <p:cNvPr id="3" name="Picture 2" descr="Distributions of pelvic incidence, sacral slope and pelvic tilt over 756 records with standing and published CT reference lines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10150000" cy="212118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3581182"/>
            <a:ext cx="1015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756 of 802 records passing the geometric gates. Dashed, standing radiograph (Vialle 2005); dotted, published supine CT (MDPA Fig. S2).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750000" y="3961182"/>
          <a:ext cx="6300000" cy="13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0000"/>
                <a:gridCol w="1800000"/>
                <a:gridCol w="1400000"/>
                <a:gridCol w="1400000"/>
              </a:tblGrid>
              <a:tr h="325000">
                <a:tc>
                  <a:txBody>
                    <a:bodyPr/>
                    <a:lstStyle/>
                    <a:p>
                      <a:pPr algn="l"/>
                    </a:p>
                  </a:txBody>
                  <a:tcPr>
                    <a:solidFill>
                      <a:srgbClr val="191D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This dataset, supine (n = 756)</a:t>
                      </a:r>
                    </a:p>
                  </a:txBody>
                  <a:tcPr>
                    <a:solidFill>
                      <a:srgbClr val="191D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Veilleux 2020 (n = 200)</a:t>
                      </a:r>
                    </a:p>
                  </a:txBody>
                  <a:tcPr>
                    <a:solidFill>
                      <a:srgbClr val="191D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Hasegawa 2018 (n = 24)</a:t>
                      </a:r>
                    </a:p>
                  </a:txBody>
                  <a:tcPr>
                    <a:solidFill>
                      <a:srgbClr val="191D63"/>
                    </a:solidFill>
                  </a:tcPr>
                </a:tc>
              </a:tr>
              <a:tr h="3250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91D63"/>
                          </a:solidFill>
                        </a:rPr>
                        <a:t>Pelvic incidence</a:t>
                      </a:r>
                    </a:p>
                  </a:txBody>
                  <a:tcPr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91D63"/>
                          </a:solidFill>
                        </a:rPr>
                        <a:t>52.1 ± 11.1°</a:t>
                      </a:r>
                    </a:p>
                  </a:txBody>
                  <a:tcPr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91D63"/>
                          </a:solidFill>
                        </a:rPr>
                        <a:t>52.1°</a:t>
                      </a:r>
                    </a:p>
                  </a:txBody>
                  <a:tcPr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91D63"/>
                          </a:solidFill>
                        </a:rPr>
                        <a:t>53.4°</a:t>
                      </a:r>
                    </a:p>
                  </a:txBody>
                  <a:tcPr>
                    <a:solidFill>
                      <a:srgbClr val="EEF1F8"/>
                    </a:solidFill>
                  </a:tcPr>
                </a:tc>
              </a:tr>
              <a:tr h="3250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91D63"/>
                          </a:solidFill>
                        </a:rPr>
                        <a:t>Sacral slope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91D63"/>
                          </a:solidFill>
                        </a:rPr>
                        <a:t>36.6 ± 10.6°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91D63"/>
                          </a:solidFill>
                        </a:rPr>
                        <a:t>36.5°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91D63"/>
                          </a:solidFill>
                        </a:rPr>
                        <a:t>34.1°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50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91D63"/>
                          </a:solidFill>
                        </a:rPr>
                        <a:t>Pelvic tilt</a:t>
                      </a:r>
                    </a:p>
                  </a:txBody>
                  <a:tcPr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91D63"/>
                          </a:solidFill>
                        </a:rPr>
                        <a:t>15.5 ± 7.9°</a:t>
                      </a:r>
                    </a:p>
                  </a:txBody>
                  <a:tcPr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91D63"/>
                          </a:solidFill>
                        </a:rPr>
                        <a:t>15.6°</a:t>
                      </a:r>
                    </a:p>
                  </a:txBody>
                  <a:tcPr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91D63"/>
                          </a:solidFill>
                        </a:rPr>
                        <a:t>19.2°</a:t>
                      </a:r>
                    </a:p>
                  </a:txBody>
                  <a:tcPr>
                    <a:solidFill>
                      <a:srgbClr val="EEF1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350000" y="3961182"/>
            <a:ext cx="3550000" cy="231881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91D63"/>
                </a:solidFill>
              </a:rPr>
              <a:t>Pelvic incidence is a fixed property of the pelvis, so it tests the labels: 52.1° here and in Veilleux's automated supine CT series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91D63"/>
                </a:solidFill>
              </a:rPr>
              <a:t>Sacral slope and tilt, which depend on posture, sit within 0.1° of the same series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50000" y="6380000"/>
            <a:ext cx="1015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7A7A"/>
                </a:solidFill>
              </a:rPr>
              <a:t>Veilleux NJ, et al. J Bone Joint Surg Am 2020;102:e130.   Hasegawa K, et al. BMC Musculoskelet Disord 2018;19:437.   Vialle R, et al. J Bone Joint Surg Am 2005;87:260.   Dataset article: arXiv 2609.22760, Table III and Fig. S2.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The segmenter fails by phenotype, one level at a time</a:t>
            </a:r>
          </a:p>
        </p:txBody>
      </p:sp>
      <p:pic>
        <p:nvPicPr>
          <p:cNvPr id="3" name="Picture 2" descr="Figure; see the caption on the slide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5200000" cy="31205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4620584"/>
            <a:ext cx="5200000" cy="16794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Per-level Dice of the unmodified whole-body segmenter by phenotype; n is patients (NeurIPS 2026, Table 1).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50000" y="1420000"/>
            <a:ext cx="4650000" cy="48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191D63"/>
                </a:solidFill>
              </a:rPr>
              <a:t>Normal anatomy (768 patients): L1–L5 Dice 0.92–0.94, its published level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191D63"/>
                </a:solidFill>
              </a:rPr>
              <a:t>Lumbarization (14): falls level by level, L3 0.69, L4 0.39, L5 0.29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191D63"/>
                </a:solidFill>
              </a:rPr>
              <a:t>Four lumbar bodies (9): every label one level off, 0.265 at L1, 0.001 at L4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191D63"/>
                </a:solidFill>
              </a:rPr>
              <a:t>Per patient, L5 Dice below 0.5 in 10 of 14 lumbarizations and 9 of 9 four-lumbar spines, against 9 of 750 normal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50000" y="5200000"/>
            <a:ext cx="4650000" cy="110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C70B7"/>
                </a:solidFill>
              </a:rPr>
              <a:t>The mechanism and how often it occurs; no wrong-level event is attributed to a segmenter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50000" y="6380000"/>
            <a:ext cx="1015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7A7A"/>
                </a:solidFill>
              </a:rPr>
              <a:t>17. Wasserthal J, et al. Radiol Artif Intell 2023;5:e230024.   18. Schwing GJ, et al. Not All Spines Are Created Equal: How CT Segmenters Fail on Lumbosacral Transitional Vertebrae. NeurIPS 2026 (accepted).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The released model: spine and pelvis in one pass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750000" y="1570000"/>
            <a:ext cx="2700000" cy="900000"/>
          </a:xfrm>
          <a:prstGeom prst="round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50000" y="2550000"/>
            <a:ext cx="27000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91D63"/>
                </a:solidFill>
              </a:rPr>
              <a:t>Abdominopelvic CT at 0.80 × 0.75 × 0.75 mm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75000" y="1570000"/>
            <a:ext cx="2700000" cy="900000"/>
          </a:xfrm>
          <a:prstGeom prst="round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One network, one pass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75000" y="2550000"/>
            <a:ext cx="27000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91D63"/>
                </a:solidFill>
              </a:rPr>
              <a:t>nnU-Net, 3-D full resolution; a 256 × 320 × 320 patch holds lumbar spine and pelvis (≈100 GB, one H200)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00000" y="1570000"/>
            <a:ext cx="2700000" cy="900000"/>
          </a:xfrm>
          <a:prstGeom prst="round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Nine classes 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00000" y="2550000"/>
            <a:ext cx="27000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91D63"/>
                </a:solidFill>
              </a:rPr>
              <a:t>L1–L4, last lumbar (L5 and L6 merged), sacrum, both hips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802500" y="1860000"/>
            <a:ext cx="320000" cy="320000"/>
          </a:xfrm>
          <a:prstGeom prst="rightArrow">
            <a:avLst/>
          </a:prstGeom>
          <a:solidFill>
            <a:srgbClr val="FFC42F"/>
          </a:solidFill>
          <a:ln>
            <a:solidFill>
              <a:srgbClr val="FFC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8527500" y="1860000"/>
            <a:ext cx="320000" cy="320000"/>
          </a:xfrm>
          <a:prstGeom prst="rightArrow">
            <a:avLst/>
          </a:prstGeom>
          <a:solidFill>
            <a:srgbClr val="FFC42F"/>
          </a:solidFill>
          <a:ln>
            <a:solidFill>
              <a:srgbClr val="FFC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50000" y="3770000"/>
            <a:ext cx="10150000" cy="2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0">
                <a:solidFill>
                  <a:srgbClr val="191D63"/>
                </a:solidFill>
              </a:rPr>
              <a:t>The last lumbar body is one class, L5 and L6 together, the merge VERIDAH uses for its classifier (Möller 2026)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0">
                <a:solidFill>
                  <a:srgbClr val="191D63"/>
                </a:solidFill>
              </a:rPr>
              <a:t>Trained on all 1,153 records: unlabelled regions are ignored, so spine-only and pelvis-only records still teach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0">
                <a:solidFill>
                  <a:srgbClr val="191D63"/>
                </a:solidFill>
              </a:rPr>
              <a:t>Transitional records oversampled to a quarter of the training samples; 5-fold cross-validation; 174 records held out, 7 of them transitional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0">
                <a:solidFill>
                  <a:srgbClr val="191D63"/>
                </a:solidFill>
              </a:rPr>
              <a:t>Weights, trainer and inference code are public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50000" y="6380000"/>
            <a:ext cx="1015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7A7A"/>
                </a:solidFill>
              </a:rPr>
              <a:t>23. Isensee F, et al. Nat Methods 2021;18:203.   24. Möller H, et al. VERIDAH, 2026.   25. Schwing GJ, et al. Not All Spines Are Created Equal: How CT Segmenters Fail on Lumbosacral Transitional Vertebrae. NeurIPS 2026 (accepted).   Code: github.com/OpenSpineConsortium/spinopelvic-seg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What the merge repairs: the junction and the sacrum</a:t>
            </a:r>
          </a:p>
        </p:txBody>
      </p:sp>
      <p:pic>
        <p:nvPicPr>
          <p:cNvPr id="3" name="Picture 2" descr="Figure; see the caption on the slide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4900000" cy="32784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4778438"/>
            <a:ext cx="4900000" cy="15215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Dice, the unmodified whole-body segmenter against the released model (NeurIPS 2026, Tables 1, 5 and 6).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50000" y="1420000"/>
            <a:ext cx="4950000" cy="48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191D63"/>
                </a:solidFill>
              </a:rPr>
              <a:t>Lumbosacral junction on lumbarization: 0.357 (whole-body segmenter, 3 patients) to 0.946 (the one held-out patient whose truth holds L5 and sacrum)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191D63"/>
                </a:solidFill>
              </a:rPr>
              <a:t>Last lumbar emitted on 3 of 3 held-out lumbarizations and 167 of 167 normal records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191D63"/>
                </a:solidFill>
              </a:rPr>
              <a:t>Sacrum: 0.817 to 0.969 (113 held-out records with a sacral mask)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191D63"/>
                </a:solidFill>
              </a:rPr>
              <a:t>Normal L1–L4: 0.95–0.97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50000" y="5200000"/>
            <a:ext cx="4950000" cy="110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C70B7"/>
                </a:solidFill>
              </a:rPr>
              <a:t>Different test sets: the whole-body segmenter zero-shot on the cohort, ours on the held-out split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50000" y="6380000"/>
            <a:ext cx="1015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7A7A"/>
                </a:solidFill>
              </a:rPr>
              <a:t>18. Schwing GJ, et al. Not All Spines Are Created Equal: How CT Segmenters Fail on Lumbosacral Transitional Vertebrae. NeurIPS 2026 (accepted).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What it does not repair</a:t>
            </a:r>
          </a:p>
        </p:txBody>
      </p:sp>
      <p:pic>
        <p:nvPicPr>
          <p:cNvPr id="3" name="Picture 2" descr="Figure; see the caption on the slide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4700000" cy="333725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4837258"/>
            <a:ext cx="4700000" cy="146274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The unmerged control: share of true-L6 voxels called L5, mean of the last 100 of 500 epochs (NeurIPS 2026, section 8.1).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50000" y="1420000"/>
            <a:ext cx="5150000" cy="48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191D63"/>
                </a:solidFill>
              </a:rPr>
              <a:t>The same network with an explicit L6 class and L6 oversampling still called most true L6 voxels L5; L6 Dice 0.01–0.13 against 0.91–0.95 for L5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191D63"/>
                </a:solidFill>
              </a:rPr>
              <a:t>The merge moves the collision up: on a four-lumbar spine (one held-out patient) 82.7 % of true L4 voxels were called last lumbar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191D63"/>
                </a:solidFill>
              </a:rPr>
              <a:t>On lumbarization the upper labels still slide: L2 0.61, L3 0.38, L4 0.21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50000" y="5200000"/>
            <a:ext cx="5150000" cy="110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C70B7"/>
                </a:solidFill>
              </a:rPr>
              <a:t>A patch never holds both ends of the spine: telling four lumbar bodies from five needs a component that sees the whole column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50000" y="6380000"/>
            <a:ext cx="1015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7A7A"/>
                </a:solidFill>
              </a:rPr>
              <a:t>18. Schwing GJ, et al. Not All Spines Are Created Equal: How CT Segmenters Fail on Lumbosacral Transitional Vertebrae. NeurIPS 2026 (accepted).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Limitations and next steps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750000" y="1420000"/>
            <a:ext cx="4925000" cy="520000"/>
          </a:xfrm>
          <a:prstGeom prst="round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50000" y="2070000"/>
            <a:ext cx="4925000" cy="3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191D63"/>
                </a:solidFill>
              </a:rPr>
              <a:t>One cohort: US screening CT, ages 45–75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191D63"/>
                </a:solidFill>
              </a:rPr>
              <a:t>Phenotypes come from the source annotations, not image reads; Castellvi is a two-resident consensus with no senior read; 2 of 33 are Type I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191D63"/>
                </a:solidFill>
              </a:rPr>
              <a:t>Seven transitional patients held out; the junction is scorable on one lumbarization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191D63"/>
                </a:solidFill>
              </a:rPr>
              <a:t>A mechanism, not an outcome: no reader study, no planning simulation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75000" y="1420000"/>
            <a:ext cx="4925000" cy="520000"/>
          </a:xfrm>
          <a:prstGeom prst="round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75000" y="2070000"/>
            <a:ext cx="4925000" cy="3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191D63"/>
                </a:solidFill>
              </a:rPr>
              <a:t>More transitional patients: VerSe labels L6 in 460 CTs without a pelvis; completing the sacrum with this segmenter gives a 1,613-volume spinopelvic cohort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191D63"/>
                </a:solidFill>
              </a:rPr>
              <a:t>This segmenter upstream of VERIDAH's sequence predictor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191D63"/>
                </a:solidFill>
              </a:rPr>
              <a:t>A senior read of all 33, and a screen of the normal cohort for Type I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191D63"/>
                </a:solidFill>
              </a:rPr>
              <a:t>Released since the paper (v11): one record per patient, per-level ribs and femora, both Castellvi reads and their consensus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50000" y="6380000"/>
            <a:ext cx="1015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7A7A"/>
                </a:solidFill>
              </a:rPr>
              <a:t>18. Schwing GJ, et al. Not All Spines Are Created Equal: How CT Segmenters Fail on Lumbosacral Transitional Vertebrae. NeurIPS 2026 (accepted).   26. Sekuboyina A, et al. VerSe. Med Image Anal 2021;73:102166.   22. CTSpinoPelvic1K, doi.org/10.5281/zenodo.22139642.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50000" y="1420000"/>
            <a:ext cx="10150000" cy="3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900" b="0">
                <a:solidFill>
                  <a:srgbClr val="191D63"/>
                </a:solidFill>
              </a:rPr>
              <a:t>The most widely used CT segmenter has no L6: on lumbarization it shifts the lumbar labels one level, confidently, with no error signal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900" b="0">
                <a:solidFill>
                  <a:srgbClr val="191D63"/>
                </a:solidFill>
              </a:rPr>
              <a:t>CTSpinoPelvic1K makes that failure measurable: 802 patients, 33 transitional, Castellvi graded, public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900" b="0">
                <a:solidFill>
                  <a:srgbClr val="191D63"/>
                </a:solidFill>
              </a:rPr>
              <a:t>Merging L5 and L6 in training restores the junction and the sacrum; adding an L6 class does not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900" b="0">
                <a:solidFill>
                  <a:srgbClr val="191D63"/>
                </a:solidFill>
              </a:rPr>
              <a:t>Telling four lumbar bodies from five in one pass is still open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750000" y="4870000"/>
            <a:ext cx="10150000" cy="800000"/>
          </a:xfrm>
          <a:prstGeom prst="round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100" b="1">
                <a:solidFill>
                  <a:srgbClr val="FFFFFF"/>
                </a:solidFill>
              </a:rPr>
              <a:t>Report any spine model by phenotype, with each stratum's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5820000"/>
            <a:ext cx="1015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C70B7"/>
                </a:solidFill>
              </a:rPr>
              <a:t>Evidence status: retrospective, public de-identified data; small transitional strata, each reported with its n; not a cleared device.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Acknowledgments and data availability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50000" y="1420000"/>
            <a:ext cx="6300000" cy="48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91D63"/>
                </a:solidFill>
              </a:rPr>
              <a:t>With thanks to Patrick Schwing (LSU Health Sciences Center New Orleans); Miraziz Ismoilov and Nizar Alnabahneh (Radiology) and Loren Schwiebert (Computer Science), Wayne State University; and the annotators Ashley Schehr, Annika Tekumulla, Margret Khoushi, Ryan Christian, Dane Hubers, Faris Mahjoub, Hassan Saad, Mia Sooch, Sathyagopal Siddapureddy, Michael McLellan and Jerick Kim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91D63"/>
                </a:solidFill>
              </a:rPr>
              <a:t>Data: CTSpinoPelvic1K (doi.org/10.5281/zenodo.22139642), built on CTSpine1K, CTPelvic1K and The Cancer Imaging Archive; all de-identified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91D63"/>
                </a:solidFill>
              </a:rPr>
              <a:t>Paper: Not All Spines Are Created Equal, NeurIPS 2026, Evaluations and Datasets track (accepted)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91D63"/>
                </a:solidFill>
              </a:rPr>
              <a:t>Funding: NIH NIGMS F30GM147909. No commercial support.</a:t>
            </a:r>
          </a:p>
        </p:txBody>
      </p:sp>
      <p:pic>
        <p:nvPicPr>
          <p:cNvPr id="4" name="Picture 3" descr="Open Spine Consortium logo.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0000" y="1520000"/>
            <a:ext cx="3600000" cy="10145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00000" y="2684545"/>
            <a:ext cx="3600000" cy="10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91D63"/>
                </a:solidFill>
              </a:rPr>
              <a:t>Weights and code: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91D63"/>
                </a:solidFill>
                <a:hlinkClick r:id="rId3"/>
              </a:rPr>
              <a:t>github.com/OpenSpineConsortium/spinopelvic-seg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91D63"/>
                </a:solidFill>
                <a:hlinkClick r:id="rId4"/>
              </a:rPr>
              <a:t>huggingface.co/OpenSpineConsortium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00000" y="3834545"/>
            <a:ext cx="3600000" cy="1100000"/>
          </a:xfrm>
          <a:prstGeom prst="round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Questions</a:t>
            </a:r>
          </a:p>
          <a:p>
            <a:pPr algn="ctr"/>
            <a:r>
              <a:rPr sz="1400" b="0">
                <a:solidFill>
                  <a:srgbClr val="FFFFFF"/>
                </a:solidFill>
              </a:rPr>
              <a:t>gregory.schwing@med.wayne.edu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NS AM 2026">
      <a:dk1>
        <a:srgbClr val="191D63"/>
      </a:dk1>
      <a:lt1>
        <a:sysClr val="window" lastClr="FFFFFF"/>
      </a:lt1>
      <a:dk2>
        <a:srgbClr val="191D63"/>
      </a:dk2>
      <a:lt2>
        <a:srgbClr val="E6E6E5"/>
      </a:lt2>
      <a:accent1>
        <a:srgbClr val="FFC42F"/>
      </a:accent1>
      <a:accent2>
        <a:srgbClr val="EF4627"/>
      </a:accent2>
      <a:accent3>
        <a:srgbClr val="61BB46"/>
      </a:accent3>
      <a:accent4>
        <a:srgbClr val="4C70B7"/>
      </a:accent4>
      <a:accent5>
        <a:srgbClr val="D7A2CA"/>
      </a:accent5>
      <a:accent6>
        <a:srgbClr val="F16881"/>
      </a:accent6>
      <a:hlink>
        <a:srgbClr val="4C70B7"/>
      </a:hlink>
      <a:folHlink>
        <a:srgbClr val="EE9BC2"/>
      </a:folHlink>
    </a:clrScheme>
    <a:fontScheme name="CNS Fonts">
      <a:majorFont>
        <a:latin typeface="New Hero Medium"/>
        <a:ea typeface=""/>
        <a:cs typeface=""/>
      </a:majorFont>
      <a:minorFont>
        <a:latin typeface="New He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New Hero Medium</vt:lpstr>
      <vt:lpstr>Arial</vt:lpstr>
      <vt:lpstr>New Hero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Nick Gbur</dc:creator>
  <cp:lastModifiedBy>Nick Gbur</cp:lastModifiedBy>
  <cp:revision>8</cp:revision>
  <dcterms:created xsi:type="dcterms:W3CDTF">2026-04-16T17:17:21Z</dcterms:created>
  <dcterms:modified xsi:type="dcterms:W3CDTF">2026-04-21T16:28:45Z</dcterms:modified>
</cp:coreProperties>
</file>