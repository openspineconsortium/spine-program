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 plots. Black is Benzel. Red is Panjabi's twelve cadavers; in the neck Benzel's canal figure is Panjabi's, number for number. Blue is 2,290 CT scans that show the whole spine, one scan a person. The canal's width sits on Panjabi's line, 0.7 millimeters from it on average, and the body's depth 1.3. But the textbook has no place for a thirteenth thoracic or a sixth lumbar vertebra: here they are, 4 and 61 spines.</a:t>
            </a:r>
          </a:p>
          <a:p>
            <a:r>
              <a:t>If asked about the gaps: the canal is read on the CT, soft tissue flood-filled behind the body inside a ring of bone, its width within 1.8 mm of Panjabi at every level. The neck's depth reads up to 4 mm under his, as CT series of the neck do; his twelve cadavers are not a CT population. The body's width is the lower end plate's over its front half, which leaves out the pedicle bases and the transverse processes' roots: 1.9 mm from Panjabi's lower plate on average, at most 3.7; the upper plate's width takes in the uncinate processes in the neck, and the lower plate's depth its anterior lip, so each chord is read on the plate that is clean of them. T13 rests on 4 spines and is shown for its place, not its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over 2,290 full spines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Red: Panjabi, 12 cadavers. Blue: 2,290 whole-spine CTs, means. Width at the lower end plate, depth at the upper.</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Picture 5" descr="Benzel's vertebral body width and depth by level in black, Panjabi's cadaveric means with one SD in red, and the mean of 2,290 whole-spine CTs in blue at every level: the lower end plate's width and the upper end plate's depth, T13 and L6 as separate points."/>
          <p:cNvPicPr>
            <a:picLocks noChangeAspect="1"/>
          </p:cNvPicPr>
          <p:nvPr/>
        </p:nvPicPr>
        <p:blipFill>
          <a:blip r:embed="rId4"/>
          <a:stretch>
            <a:fillRect/>
          </a:stretch>
        </p:blipFill>
        <p:spPr>
          <a:xfrm>
            <a:off x="2377533" y="1420000"/>
            <a:ext cx="4203658" cy="3830000"/>
          </a:xfrm>
          <a:prstGeom prst="rect">
            <a:avLst/>
          </a:prstGeom>
        </p:spPr>
      </p:pic>
      <p:pic>
        <p:nvPicPr>
          <p:cNvPr id="7" name="Picture 6" descr="Benzel's spinal canal width and depth by level in black, Panjabi's cadaveric means with one SD in red, and the mean canal of the same CTs read on the CT itself in blue at every level, T13 and L6 as separate points."/>
          <p:cNvPicPr>
            <a:picLocks noChangeAspect="1"/>
          </p:cNvPicPr>
          <p:nvPr/>
        </p:nvPicPr>
        <p:blipFill>
          <a:blip r:embed="rId5"/>
          <a:stretch>
            <a:fillRect/>
          </a:stretch>
        </p:blipFill>
        <p:spPr>
          <a:xfrm>
            <a:off x="7031191" y="1420000"/>
            <a:ext cx="4241275" cy="3829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