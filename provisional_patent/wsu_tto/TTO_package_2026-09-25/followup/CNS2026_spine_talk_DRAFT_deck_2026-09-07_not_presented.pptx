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7"/>
  </p:notesMasterIdLst>
  <p:sldIdLst>
    <p:sldId id="542" r:id="rId33"/>
    <p:sldId id="543" r:id="rId34"/>
    <p:sldId id="544" r:id="rId35"/>
    <p:sldId id="559" r:id="rId25"/>
    <p:sldId id="560" r:id="rId26"/>
    <p:sldId id="561" r:id="rId24"/>
    <p:sldId id="562" r:id="rId23"/>
    <p:sldId id="563" r:id="rId22"/>
    <p:sldId id="564" r:id="rId21"/>
    <p:sldId id="565" r:id="rId20"/>
    <p:sldId id="566" r:id="rId19"/>
    <p:sldId id="567" r:id="rId18"/>
    <p:sldId id="568" r:id="rId17"/>
    <p:sldId id="569" r:id="rId16"/>
    <p:sldId id="570" r:id="rId15"/>
    <p:sldId id="571" r:id="rId14"/>
    <p:sldId id="5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ian Niebuhr" initials="BN" lastIdx="1" clrIdx="0">
    <p:extLst>
      <p:ext uri="{19B8F6BF-5375-455C-9EA6-DF929625EA0E}">
        <p15:presenceInfo xmlns:p15="http://schemas.microsoft.com/office/powerpoint/2012/main" userId="917d2e0bc700af26"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D198"/>
    <a:srgbClr val="095945"/>
    <a:srgbClr val="4B1774"/>
    <a:srgbClr val="C17945"/>
    <a:srgbClr val="700806"/>
    <a:srgbClr val="FED07C"/>
    <a:srgbClr val="1E4576"/>
    <a:srgbClr val="71AD47"/>
    <a:srgbClr val="0D5946"/>
    <a:srgbClr val="0F5E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74" autoAdjust="0"/>
    <p:restoredTop sz="73382" autoAdjust="0"/>
  </p:normalViewPr>
  <p:slideViewPr>
    <p:cSldViewPr snapToGrid="0" snapToObjects="1">
      <p:cViewPr varScale="1">
        <p:scale>
          <a:sx n="66" d="100"/>
          <a:sy n="66" d="100"/>
        </p:scale>
        <p:origin x="1702" y="19"/>
      </p:cViewPr>
      <p:guideLst>
        <p:guide orient="horz" pos="2160"/>
        <p:guide pos="3840"/>
      </p:guideLst>
    </p:cSldViewPr>
  </p:slideViewPr>
  <p:outlineViewPr>
    <p:cViewPr>
      <p:scale>
        <a:sx n="50" d="100"/>
        <a:sy n="50" d="100"/>
      </p:scale>
      <p:origin x="0" y="0"/>
    </p:cViewPr>
  </p:outlineViewPr>
  <p:notesTextViewPr>
    <p:cViewPr>
      <p:scale>
        <a:sx n="229" d="100"/>
        <a:sy n="229"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slide" Target="slides/slide31.xml"/><Relationship Id="rId14" Type="http://schemas.openxmlformats.org/officeDocument/2006/relationships/slide" Target="slides/slide30.xml"/><Relationship Id="rId15" Type="http://schemas.openxmlformats.org/officeDocument/2006/relationships/slide" Target="slides/slide29.xml"/><Relationship Id="rId16" Type="http://schemas.openxmlformats.org/officeDocument/2006/relationships/slide" Target="slides/slide28.xml"/><Relationship Id="rId17" Type="http://schemas.openxmlformats.org/officeDocument/2006/relationships/slide" Target="slides/slide27.xml"/><Relationship Id="rId18" Type="http://schemas.openxmlformats.org/officeDocument/2006/relationships/slide" Target="slides/slide26.xml"/><Relationship Id="rId19" Type="http://schemas.openxmlformats.org/officeDocument/2006/relationships/slide" Target="slides/slide25.xml"/><Relationship Id="rId20" Type="http://schemas.openxmlformats.org/officeDocument/2006/relationships/slide" Target="slides/slide24.xml"/><Relationship Id="rId21" Type="http://schemas.openxmlformats.org/officeDocument/2006/relationships/slide" Target="slides/slide23.xml"/><Relationship Id="rId22" Type="http://schemas.openxmlformats.org/officeDocument/2006/relationships/slide" Target="slides/slide22.xml"/><Relationship Id="rId23" Type="http://schemas.openxmlformats.org/officeDocument/2006/relationships/slide" Target="slides/slide21.xml"/><Relationship Id="rId24" Type="http://schemas.openxmlformats.org/officeDocument/2006/relationships/slide" Target="slides/slide20.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notesMaster" Target="notesMasters/notesMaster1.xml"/><Relationship Id="rId28" Type="http://schemas.openxmlformats.org/officeDocument/2006/relationships/commentAuthors" Target="commentAuthors.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1.xml"/><Relationship Id="rId34" Type="http://schemas.openxmlformats.org/officeDocument/2006/relationships/slide" Target="slides/slide2.xml"/><Relationship Id="rId35"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1081B4-569A-4AA1-A563-F003F93DAA35}" type="datetimeFigureOut">
              <a:rPr lang="en-US" smtClean="0"/>
              <a:t>8/14/2026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1C4F4F-5A6B-4D80-995B-29AA582F85C3}" type="slidenum">
              <a:rPr lang="en-US" smtClean="0"/>
              <a:t>‹#›</a:t>
            </a:fld>
            <a:endParaRPr lang="en-US"/>
          </a:p>
        </p:txBody>
      </p:sp>
    </p:spTree>
    <p:extLst>
      <p:ext uri="{BB962C8B-B14F-4D97-AF65-F5344CB8AC3E}">
        <p14:creationId xmlns:p14="http://schemas.microsoft.com/office/powerpoint/2010/main" val="183269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0:00-0:12  Title. Name, institutions, and that this is a rat model of MRI-guided LITT. Do not read the title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0:12-0:22  Disclosures. Read Dr Lee's Medtronic and Monteris agreements out loud - Monteris makes the LITT system, so the room will want to hear it named.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0:22-0:40  Roadmap. Five beats, ten seconds. Do not linger.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62DCA-494B-4843-88A4-6F1841A634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AFC6A1-64EF-4BEF-B69C-03B5B0F0C9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516AB28-1609-4157-B6A5-C3CF7F834B5C}"/>
              </a:ext>
            </a:extLst>
          </p:cNvPr>
          <p:cNvSpPr>
            <a:spLocks noGrp="1"/>
          </p:cNvSpPr>
          <p:nvPr>
            <p:ph type="dt" sz="half" idx="10"/>
          </p:nvPr>
        </p:nvSpPr>
        <p:spPr/>
        <p:txBody>
          <a:bodyPr/>
          <a:lstStyle/>
          <a:p>
            <a:fld id="{83284890-85D2-4D7B-8EF5-15A9C1DB8F42}" type="datetimeFigureOut">
              <a:rPr lang="en-US" smtClean="0"/>
              <a:t>8/14/2026</a:t>
            </a:fld>
            <a:endParaRPr lang="en-US" dirty="0"/>
          </a:p>
        </p:txBody>
      </p:sp>
      <p:sp>
        <p:nvSpPr>
          <p:cNvPr id="5" name="Footer Placeholder 4">
            <a:extLst>
              <a:ext uri="{FF2B5EF4-FFF2-40B4-BE49-F238E27FC236}">
                <a16:creationId xmlns:a16="http://schemas.microsoft.com/office/drawing/2014/main" id="{62273D0A-6D71-488A-949F-1FDC8E58BF10}"/>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FB5CA8AA-270B-4D7E-8402-D9FB0DFDC5A5}"/>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1936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F92E7-E0AB-487D-97F4-3E2F83AF795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66A00F-6B93-4590-AC16-E6A88A97736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C35487-6274-4BB8-9EA0-EB8A65B04BEB}"/>
              </a:ext>
            </a:extLst>
          </p:cNvPr>
          <p:cNvSpPr>
            <a:spLocks noGrp="1"/>
          </p:cNvSpPr>
          <p:nvPr>
            <p:ph type="dt" sz="half" idx="10"/>
          </p:nvPr>
        </p:nvSpPr>
        <p:spPr/>
        <p:txBody>
          <a:bodyPr/>
          <a:lstStyle/>
          <a:p>
            <a:fld id="{82F5661D-6934-4B32-B92C-470368BF1EC6}" type="datetimeFigureOut">
              <a:rPr lang="en-US" smtClean="0"/>
              <a:t>8/14/2026</a:t>
            </a:fld>
            <a:endParaRPr lang="en-US" dirty="0"/>
          </a:p>
        </p:txBody>
      </p:sp>
      <p:sp>
        <p:nvSpPr>
          <p:cNvPr id="5" name="Footer Placeholder 4">
            <a:extLst>
              <a:ext uri="{FF2B5EF4-FFF2-40B4-BE49-F238E27FC236}">
                <a16:creationId xmlns:a16="http://schemas.microsoft.com/office/drawing/2014/main" id="{63785C0A-92D0-42D5-B6AF-276D985D0394}"/>
              </a:ext>
            </a:extLst>
          </p:cNvPr>
          <p:cNvSpPr>
            <a:spLocks noGrp="1"/>
          </p:cNvSpPr>
          <p:nvPr>
            <p:ph type="ftr" sz="quarter" idx="11"/>
          </p:nvPr>
        </p:nvSpPr>
        <p:spPr/>
        <p:txBody>
          <a:bodyPr/>
          <a:lstStyle/>
          <a:p>
            <a:r>
              <a:rPr lang="en-US"/>
              <a:t>Click to add reference(s)</a:t>
            </a:r>
            <a:endParaRPr lang="en-US" dirty="0"/>
          </a:p>
        </p:txBody>
      </p:sp>
      <p:sp>
        <p:nvSpPr>
          <p:cNvPr id="6" name="Slide Number Placeholder 5">
            <a:extLst>
              <a:ext uri="{FF2B5EF4-FFF2-40B4-BE49-F238E27FC236}">
                <a16:creationId xmlns:a16="http://schemas.microsoft.com/office/drawing/2014/main" id="{59807826-0403-4F2B-B388-BE3FC7C7CDA1}"/>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89826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DBFAC-CC1C-4B67-BF96-80502E3AE4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ABC17F-70E1-4D95-A248-873AAF8DED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57E7D28-9361-456E-BF7A-E3FE302BAF2E}"/>
              </a:ext>
            </a:extLst>
          </p:cNvPr>
          <p:cNvSpPr>
            <a:spLocks noGrp="1"/>
          </p:cNvSpPr>
          <p:nvPr>
            <p:ph type="dt" sz="half" idx="10"/>
          </p:nvPr>
        </p:nvSpPr>
        <p:spPr/>
        <p:txBody>
          <a:bodyPr/>
          <a:lstStyle/>
          <a:p>
            <a:fld id="{C6F822A4-8DA6-4447-9B1F-C5DB58435268}" type="datetimeFigureOut">
              <a:rPr lang="en-US" smtClean="0"/>
              <a:t>8/14/2026</a:t>
            </a:fld>
            <a:endParaRPr lang="en-US" dirty="0"/>
          </a:p>
        </p:txBody>
      </p:sp>
      <p:sp>
        <p:nvSpPr>
          <p:cNvPr id="5" name="Footer Placeholder 4">
            <a:extLst>
              <a:ext uri="{FF2B5EF4-FFF2-40B4-BE49-F238E27FC236}">
                <a16:creationId xmlns:a16="http://schemas.microsoft.com/office/drawing/2014/main" id="{B2A23F8A-484E-475B-A6A6-3121262BD16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A75A0A2-C033-47F6-AF47-AAD188285B17}"/>
              </a:ext>
            </a:extLst>
          </p:cNvPr>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69687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7885-AC70-4CD8-BE7C-323AD79D9C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117AC9-50CA-481B-BF0B-3711C9847E3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F72A54-CC47-4F05-B76D-8B52291885B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7FECECF-1C9E-46F2-A291-E32E1AF93199}"/>
              </a:ext>
            </a:extLst>
          </p:cNvPr>
          <p:cNvSpPr>
            <a:spLocks noGrp="1"/>
          </p:cNvSpPr>
          <p:nvPr>
            <p:ph type="dt" sz="half" idx="10"/>
          </p:nvPr>
        </p:nvSpPr>
        <p:spPr/>
        <p:txBody>
          <a:bodyPr/>
          <a:lstStyle/>
          <a:p>
            <a:fld id="{E548D31E-DCDA-41A7-9C67-C4B11B94D21D}" type="datetimeFigureOut">
              <a:rPr lang="en-US" smtClean="0"/>
              <a:t>8/14/2026</a:t>
            </a:fld>
            <a:endParaRPr lang="en-US" dirty="0"/>
          </a:p>
        </p:txBody>
      </p:sp>
      <p:sp>
        <p:nvSpPr>
          <p:cNvPr id="6" name="Footer Placeholder 5">
            <a:extLst>
              <a:ext uri="{FF2B5EF4-FFF2-40B4-BE49-F238E27FC236}">
                <a16:creationId xmlns:a16="http://schemas.microsoft.com/office/drawing/2014/main" id="{2050B02E-BB8D-4B85-9D79-8E59152B8D97}"/>
              </a:ext>
            </a:extLst>
          </p:cNvPr>
          <p:cNvSpPr>
            <a:spLocks noGrp="1"/>
          </p:cNvSpPr>
          <p:nvPr>
            <p:ph type="ftr" sz="quarter" idx="11"/>
          </p:nvPr>
        </p:nvSpPr>
        <p:spPr/>
        <p:txBody>
          <a:bodyPr/>
          <a:lstStyle/>
          <a:p>
            <a:r>
              <a:rPr lang="en-US"/>
              <a:t>Click to add reference(s)</a:t>
            </a:r>
            <a:endParaRPr lang="en-US" dirty="0"/>
          </a:p>
        </p:txBody>
      </p:sp>
      <p:sp>
        <p:nvSpPr>
          <p:cNvPr id="7" name="Slide Number Placeholder 6">
            <a:extLst>
              <a:ext uri="{FF2B5EF4-FFF2-40B4-BE49-F238E27FC236}">
                <a16:creationId xmlns:a16="http://schemas.microsoft.com/office/drawing/2014/main" id="{33367BC7-EC39-4BE2-8B8F-50A27FC798C2}"/>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50697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5FD09-7386-4291-9369-5BC88FE77F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26FD6D-F8CE-49EF-9B23-A0F9D1BF85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38CF869-F722-4F28-8B39-DF75D812A7C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FF81EB-E2AE-4146-B8F9-E57B22B4F8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5E92264-B567-4AC7-8641-6896FB0C715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6B8ED5-FB44-4999-B150-3DA59F232D5C}"/>
              </a:ext>
            </a:extLst>
          </p:cNvPr>
          <p:cNvSpPr>
            <a:spLocks noGrp="1"/>
          </p:cNvSpPr>
          <p:nvPr>
            <p:ph type="dt" sz="half" idx="10"/>
          </p:nvPr>
        </p:nvSpPr>
        <p:spPr/>
        <p:txBody>
          <a:bodyPr/>
          <a:lstStyle/>
          <a:p>
            <a:fld id="{9B3762C0-B258-48F1-ADE6-176B4174CCDD}" type="datetimeFigureOut">
              <a:rPr lang="en-US" smtClean="0"/>
              <a:t>8/14/2026</a:t>
            </a:fld>
            <a:endParaRPr lang="en-US" dirty="0"/>
          </a:p>
        </p:txBody>
      </p:sp>
      <p:sp>
        <p:nvSpPr>
          <p:cNvPr id="8" name="Footer Placeholder 7">
            <a:extLst>
              <a:ext uri="{FF2B5EF4-FFF2-40B4-BE49-F238E27FC236}">
                <a16:creationId xmlns:a16="http://schemas.microsoft.com/office/drawing/2014/main" id="{D2DF199A-20D9-4A3B-AB7D-8626A95D40F0}"/>
              </a:ext>
            </a:extLst>
          </p:cNvPr>
          <p:cNvSpPr>
            <a:spLocks noGrp="1"/>
          </p:cNvSpPr>
          <p:nvPr>
            <p:ph type="ftr" sz="quarter" idx="11"/>
          </p:nvPr>
        </p:nvSpPr>
        <p:spPr/>
        <p:txBody>
          <a:bodyPr/>
          <a:lstStyle/>
          <a:p>
            <a:r>
              <a:rPr lang="en-US"/>
              <a:t>Click to add reference(s)</a:t>
            </a:r>
            <a:endParaRPr lang="en-US" dirty="0"/>
          </a:p>
        </p:txBody>
      </p:sp>
      <p:sp>
        <p:nvSpPr>
          <p:cNvPr id="9" name="Slide Number Placeholder 8">
            <a:extLst>
              <a:ext uri="{FF2B5EF4-FFF2-40B4-BE49-F238E27FC236}">
                <a16:creationId xmlns:a16="http://schemas.microsoft.com/office/drawing/2014/main" id="{A7DD7A8D-3AC4-4ADE-8685-F9F093FB885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93052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5762C-C9D4-47A5-9E80-D40BD88299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3EF8910-477F-4E9F-8223-A421E208AC5F}"/>
              </a:ext>
            </a:extLst>
          </p:cNvPr>
          <p:cNvSpPr>
            <a:spLocks noGrp="1"/>
          </p:cNvSpPr>
          <p:nvPr>
            <p:ph type="dt" sz="half" idx="10"/>
          </p:nvPr>
        </p:nvSpPr>
        <p:spPr/>
        <p:txBody>
          <a:bodyPr/>
          <a:lstStyle/>
          <a:p>
            <a:fld id="{677919A6-33EB-49BD-A62F-1FA56B9F9712}" type="datetimeFigureOut">
              <a:rPr lang="en-US" smtClean="0"/>
              <a:t>8/14/2026</a:t>
            </a:fld>
            <a:endParaRPr lang="en-US" dirty="0"/>
          </a:p>
        </p:txBody>
      </p:sp>
      <p:sp>
        <p:nvSpPr>
          <p:cNvPr id="4" name="Footer Placeholder 3">
            <a:extLst>
              <a:ext uri="{FF2B5EF4-FFF2-40B4-BE49-F238E27FC236}">
                <a16:creationId xmlns:a16="http://schemas.microsoft.com/office/drawing/2014/main" id="{F8316E5C-97F7-4AB2-B352-BC185279A7C8}"/>
              </a:ext>
            </a:extLst>
          </p:cNvPr>
          <p:cNvSpPr>
            <a:spLocks noGrp="1"/>
          </p:cNvSpPr>
          <p:nvPr>
            <p:ph type="ftr" sz="quarter" idx="11"/>
          </p:nvPr>
        </p:nvSpPr>
        <p:spPr/>
        <p:txBody>
          <a:bodyPr/>
          <a:lstStyle/>
          <a:p>
            <a:pPr algn="l"/>
            <a:r>
              <a:rPr lang="en-US"/>
              <a:t>Click to add reference(s)</a:t>
            </a:r>
            <a:endParaRPr lang="en-US" dirty="0"/>
          </a:p>
        </p:txBody>
      </p:sp>
      <p:sp>
        <p:nvSpPr>
          <p:cNvPr id="5" name="Slide Number Placeholder 4">
            <a:extLst>
              <a:ext uri="{FF2B5EF4-FFF2-40B4-BE49-F238E27FC236}">
                <a16:creationId xmlns:a16="http://schemas.microsoft.com/office/drawing/2014/main" id="{802C3FE0-483F-4FE8-8145-52CE71C6B55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58597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706266-1B59-4F00-84B2-5C176FC7EC48}"/>
              </a:ext>
            </a:extLst>
          </p:cNvPr>
          <p:cNvSpPr>
            <a:spLocks noGrp="1"/>
          </p:cNvSpPr>
          <p:nvPr>
            <p:ph type="dt" sz="half" idx="10"/>
          </p:nvPr>
        </p:nvSpPr>
        <p:spPr/>
        <p:txBody>
          <a:bodyPr/>
          <a:lstStyle/>
          <a:p>
            <a:fld id="{CA4E7D1B-D673-4CF6-8672-009D42ABD2A0}" type="datetimeFigureOut">
              <a:rPr lang="en-US" smtClean="0"/>
              <a:t>8/14/2026</a:t>
            </a:fld>
            <a:endParaRPr lang="en-US" dirty="0"/>
          </a:p>
        </p:txBody>
      </p:sp>
      <p:sp>
        <p:nvSpPr>
          <p:cNvPr id="3" name="Footer Placeholder 2">
            <a:extLst>
              <a:ext uri="{FF2B5EF4-FFF2-40B4-BE49-F238E27FC236}">
                <a16:creationId xmlns:a16="http://schemas.microsoft.com/office/drawing/2014/main" id="{E383CBD8-94A1-46C0-9CD6-B7207BEA749F}"/>
              </a:ext>
            </a:extLst>
          </p:cNvPr>
          <p:cNvSpPr>
            <a:spLocks noGrp="1"/>
          </p:cNvSpPr>
          <p:nvPr>
            <p:ph type="ftr" sz="quarter" idx="11"/>
          </p:nvPr>
        </p:nvSpPr>
        <p:spPr/>
        <p:txBody>
          <a:bodyPr/>
          <a:lstStyle/>
          <a:p>
            <a:pPr algn="l"/>
            <a:r>
              <a:rPr lang="en-US"/>
              <a:t>Click to add reference(s)</a:t>
            </a:r>
            <a:endParaRPr lang="en-US" dirty="0"/>
          </a:p>
        </p:txBody>
      </p:sp>
      <p:sp>
        <p:nvSpPr>
          <p:cNvPr id="4" name="Slide Number Placeholder 3">
            <a:extLst>
              <a:ext uri="{FF2B5EF4-FFF2-40B4-BE49-F238E27FC236}">
                <a16:creationId xmlns:a16="http://schemas.microsoft.com/office/drawing/2014/main" id="{63B4D725-7000-41BF-BBAA-3867CDF1CC6B}"/>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02194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53EE2-AA7F-46B8-8F7D-CFDBBB442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66BAE1-CE7C-4A98-9A69-D7F2F3074D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7295F62-6FBA-48D9-80B5-0C4E223A7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BB8661-C7B6-498F-9995-34F8025B9545}"/>
              </a:ext>
            </a:extLst>
          </p:cNvPr>
          <p:cNvSpPr>
            <a:spLocks noGrp="1"/>
          </p:cNvSpPr>
          <p:nvPr>
            <p:ph type="dt" sz="half" idx="10"/>
          </p:nvPr>
        </p:nvSpPr>
        <p:spPr/>
        <p:txBody>
          <a:bodyPr/>
          <a:lstStyle/>
          <a:p>
            <a:fld id="{DA16AA21-1863-4931-97CB-99D0A168701B}" type="datetimeFigureOut">
              <a:rPr lang="en-US" smtClean="0"/>
              <a:t>8/14/2026</a:t>
            </a:fld>
            <a:endParaRPr lang="en-US" dirty="0"/>
          </a:p>
        </p:txBody>
      </p:sp>
      <p:sp>
        <p:nvSpPr>
          <p:cNvPr id="6" name="Footer Placeholder 5">
            <a:extLst>
              <a:ext uri="{FF2B5EF4-FFF2-40B4-BE49-F238E27FC236}">
                <a16:creationId xmlns:a16="http://schemas.microsoft.com/office/drawing/2014/main" id="{0CCE11FD-26C7-4BEE-A271-A21C6A775B9D}"/>
              </a:ext>
            </a:extLst>
          </p:cNvPr>
          <p:cNvSpPr>
            <a:spLocks noGrp="1"/>
          </p:cNvSpPr>
          <p:nvPr>
            <p:ph type="ftr" sz="quarter" idx="11"/>
          </p:nvPr>
        </p:nvSpPr>
        <p:spPr/>
        <p:txBody>
          <a:bodyPr/>
          <a:lstStyle/>
          <a:p>
            <a:pPr algn="l"/>
            <a:r>
              <a:rPr lang="en-US"/>
              <a:t>Click to add reference(s)</a:t>
            </a:r>
            <a:endParaRPr lang="en-US" dirty="0"/>
          </a:p>
        </p:txBody>
      </p:sp>
      <p:sp>
        <p:nvSpPr>
          <p:cNvPr id="7" name="Slide Number Placeholder 6">
            <a:extLst>
              <a:ext uri="{FF2B5EF4-FFF2-40B4-BE49-F238E27FC236}">
                <a16:creationId xmlns:a16="http://schemas.microsoft.com/office/drawing/2014/main" id="{84B2009C-DC8F-4BFD-996E-F1516F359BB8}"/>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89324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F491C-9550-40F9-B0A9-7318409A54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B89A0F-D1B8-47D1-958E-389F11854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D025E-F59F-47D0-B9D6-E6E8E24C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9AD214C-A86E-489E-940A-9FE058A1552C}"/>
              </a:ext>
            </a:extLst>
          </p:cNvPr>
          <p:cNvSpPr>
            <a:spLocks noGrp="1"/>
          </p:cNvSpPr>
          <p:nvPr>
            <p:ph type="dt" sz="half" idx="10"/>
          </p:nvPr>
        </p:nvSpPr>
        <p:spPr/>
        <p:txBody>
          <a:bodyPr/>
          <a:lstStyle/>
          <a:p>
            <a:fld id="{3772C379-9A7C-4C87-A116-CBE9F58B04C5}" type="datetimeFigureOut">
              <a:rPr lang="en-US" smtClean="0"/>
              <a:t>8/14/2026</a:t>
            </a:fld>
            <a:endParaRPr lang="en-US" dirty="0"/>
          </a:p>
        </p:txBody>
      </p:sp>
      <p:sp>
        <p:nvSpPr>
          <p:cNvPr id="6" name="Footer Placeholder 5">
            <a:extLst>
              <a:ext uri="{FF2B5EF4-FFF2-40B4-BE49-F238E27FC236}">
                <a16:creationId xmlns:a16="http://schemas.microsoft.com/office/drawing/2014/main" id="{321A7F4C-351E-4988-98D0-AE42FE1463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B9EF8D-6582-4D21-AA61-C78BB65EC24C}"/>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910447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438B3-1680-4C05-8CC4-E895BEED060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2D96378-8D56-4963-918F-716A01BDFC9E}"/>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C5B2B3-03CC-4D79-89DA-B5AED0FB7FB8}"/>
              </a:ext>
            </a:extLst>
          </p:cNvPr>
          <p:cNvSpPr>
            <a:spLocks noGrp="1"/>
          </p:cNvSpPr>
          <p:nvPr>
            <p:ph type="dt" sz="half" idx="10"/>
          </p:nvPr>
        </p:nvSpPr>
        <p:spPr/>
        <p:txBody>
          <a:bodyPr/>
          <a:lstStyle/>
          <a:p>
            <a:fld id="{87157CC2-0FC8-4686-B024-99790E0F5162}" type="datetimeFigureOut">
              <a:rPr lang="en-US" smtClean="0"/>
              <a:t>8/14/2026</a:t>
            </a:fld>
            <a:endParaRPr lang="en-US" dirty="0"/>
          </a:p>
        </p:txBody>
      </p:sp>
      <p:sp>
        <p:nvSpPr>
          <p:cNvPr id="5" name="Footer Placeholder 4">
            <a:extLst>
              <a:ext uri="{FF2B5EF4-FFF2-40B4-BE49-F238E27FC236}">
                <a16:creationId xmlns:a16="http://schemas.microsoft.com/office/drawing/2014/main" id="{34E19FD2-C25C-4BB2-8754-641D845DDF96}"/>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6083E9F7-7A91-43E8-BE89-63E45B1ECFC5}"/>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302746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4C3D66-5258-471A-A4E4-F8BDC30A8A7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04A3E5-09D0-45A8-963E-C375A6C8FBD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14EABD-A5DB-43C1-8F0F-07AC3FEBBECD}"/>
              </a:ext>
            </a:extLst>
          </p:cNvPr>
          <p:cNvSpPr>
            <a:spLocks noGrp="1"/>
          </p:cNvSpPr>
          <p:nvPr>
            <p:ph type="dt" sz="half" idx="10"/>
          </p:nvPr>
        </p:nvSpPr>
        <p:spPr/>
        <p:txBody>
          <a:bodyPr/>
          <a:lstStyle/>
          <a:p>
            <a:fld id="{F6764DA5-CD3D-4590-A511-FCD3BC7A793E}" type="datetimeFigureOut">
              <a:rPr lang="en-US" smtClean="0"/>
              <a:t>8/14/2026</a:t>
            </a:fld>
            <a:endParaRPr lang="en-US" dirty="0"/>
          </a:p>
        </p:txBody>
      </p:sp>
      <p:sp>
        <p:nvSpPr>
          <p:cNvPr id="5" name="Footer Placeholder 4">
            <a:extLst>
              <a:ext uri="{FF2B5EF4-FFF2-40B4-BE49-F238E27FC236}">
                <a16:creationId xmlns:a16="http://schemas.microsoft.com/office/drawing/2014/main" id="{D3EE2292-216E-4185-A986-67EF6FA193C3}"/>
              </a:ext>
            </a:extLst>
          </p:cNvPr>
          <p:cNvSpPr>
            <a:spLocks noGrp="1"/>
          </p:cNvSpPr>
          <p:nvPr>
            <p:ph type="ftr" sz="quarter" idx="11"/>
          </p:nvPr>
        </p:nvSpPr>
        <p:spPr/>
        <p:txBody>
          <a:body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2D02FC95-D546-4DEC-B632-0CD58CE9A2ED}"/>
              </a:ext>
            </a:extLst>
          </p:cNvPr>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882937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pPr algn="l"/>
            <a:r>
              <a:rPr lang="en-US"/>
              <a:t>Click to add reference(s)</a:t>
            </a:r>
            <a:endParaRPr lang="en-US" dirty="0"/>
          </a:p>
        </p:txBody>
      </p:sp>
    </p:spTree>
    <p:extLst>
      <p:ext uri="{BB962C8B-B14F-4D97-AF65-F5344CB8AC3E}">
        <p14:creationId xmlns:p14="http://schemas.microsoft.com/office/powerpoint/2010/main" val="791507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0F315A"/>
        </a:solidFill>
        <a:effectLst/>
      </p:bgPr>
    </p:bg>
    <p:spTree>
      <p:nvGrpSpPr>
        <p:cNvPr id="1" name=""/>
        <p:cNvGrpSpPr/>
        <p:nvPr/>
      </p:nvGrpSpPr>
      <p:grpSpPr>
        <a:xfrm>
          <a:off x="0" y="0"/>
          <a:ext cx="0" cy="0"/>
          <a:chOff x="0" y="0"/>
          <a:chExt cx="0" cy="0"/>
        </a:xfrm>
      </p:grpSpPr>
      <p:sp>
        <p:nvSpPr>
          <p:cNvPr id="2" name="Footer Placeholder 4"/>
          <p:cNvSpPr>
            <a:spLocks noGrp="1"/>
          </p:cNvSpPr>
          <p:nvPr>
            <p:ph type="ftr" sz="quarter" idx="11"/>
          </p:nvPr>
        </p:nvSpPr>
        <p:spPr>
          <a:xfrm>
            <a:off x="838200" y="6356350"/>
            <a:ext cx="10515600" cy="365125"/>
          </a:xfrm>
        </p:spPr>
        <p:txBody>
          <a:bodyPr/>
          <a:lstStyle>
            <a:lvl1pPr algn="l">
              <a:defRPr/>
            </a:lvl1pPr>
          </a:lstStyle>
          <a:p>
            <a:r>
              <a:rPr lang="en-US" dirty="0"/>
              <a:t>Click to add reference(s)</a:t>
            </a:r>
          </a:p>
        </p:txBody>
      </p:sp>
    </p:spTree>
    <p:extLst>
      <p:ext uri="{BB962C8B-B14F-4D97-AF65-F5344CB8AC3E}">
        <p14:creationId xmlns:p14="http://schemas.microsoft.com/office/powerpoint/2010/main" val="2521284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d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3386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1A9A0-90FE-43C2-84D1-C71FE68D67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2AC6306-49B0-44D7-B626-1CB4B48890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C6F3B8-125D-4382-8ECC-06215C9DA63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64C608-40B1-4030-A28D-5B74BC98ADCE}" type="datetimeFigureOut">
              <a:rPr lang="en-US" smtClean="0"/>
              <a:t>8/14/2026</a:t>
            </a:fld>
            <a:endParaRPr lang="en-US" dirty="0"/>
          </a:p>
        </p:txBody>
      </p:sp>
      <p:sp>
        <p:nvSpPr>
          <p:cNvPr id="5" name="Footer Placeholder 4">
            <a:extLst>
              <a:ext uri="{FF2B5EF4-FFF2-40B4-BE49-F238E27FC236}">
                <a16:creationId xmlns:a16="http://schemas.microsoft.com/office/drawing/2014/main" id="{0D3A798C-4BCC-4954-9F71-3C2198BC3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lgn="l"/>
            <a:r>
              <a:rPr lang="en-US"/>
              <a:t>Click to add reference(s)</a:t>
            </a:r>
            <a:endParaRPr lang="en-US" dirty="0"/>
          </a:p>
        </p:txBody>
      </p:sp>
      <p:sp>
        <p:nvSpPr>
          <p:cNvPr id="6" name="Slide Number Placeholder 5">
            <a:extLst>
              <a:ext uri="{FF2B5EF4-FFF2-40B4-BE49-F238E27FC236}">
                <a16:creationId xmlns:a16="http://schemas.microsoft.com/office/drawing/2014/main" id="{9B0E49EC-C902-4CC6-B228-D81CBD43BA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2102889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59" r:id="rId12"/>
    <p:sldLayoutId id="2147483660" r:id="rId13"/>
    <p:sldLayoutId id="214748365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hyperlink" Target="https://www.jacr.org/article/S1546-1440(26)00293-0/fulltext" TargetMode="External"/><Relationship Id="rId4" Type="http://schemas.openxmlformats.org/officeDocument/2006/relationships/hyperlink" Target="https://my.clevelandclinic.org/health/diseases/21966-myelopathy" TargetMode="External"/><Relationship Id="rId5" Type="http://schemas.openxmlformats.org/officeDocument/2006/relationships/image" Target="../media/image5.png"/><Relationship Id="rId6" Type="http://schemas.openxmlformats.org/officeDocument/2006/relationships/image" Target="../media/image10.jpeg"/><Relationship Id="rId7" Type="http://schemas.openxmlformats.org/officeDocument/2006/relationships/notesSlide" Target="../notesSlides/notesSlide2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7.png"/><Relationship Id="rId6"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7.png"/><Relationship Id="rId6"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7.png"/><Relationship Id="rId6"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5.png"/><Relationship Id="rId6"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 Id="rId5"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0.jpe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B85330E8-EBD5-E3EF-A7E9-10B9D5517609}"/>
              </a:ext>
            </a:extLst>
          </p:cNvPr>
          <p:cNvSpPr/>
          <p:nvPr/>
        </p:nvSpPr>
        <p:spPr>
          <a:xfrm>
            <a:off x="5211" y="6350602"/>
            <a:ext cx="12192000" cy="516194"/>
          </a:xfrm>
          <a:prstGeom prst="rect">
            <a:avLst/>
          </a:prstGeom>
          <a:solidFill>
            <a:srgbClr val="0068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57BC3B59-ED30-4972-72A3-9A9E36EA5F87}"/>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400">
                <a:solidFill>
                  <a:srgbClr val="000000"/>
                </a:solidFill>
                <a:latin typeface="Arial"/>
              </a:rPr>
              <a:t>Detroit Medical Center / Wayne State University  ·  OpenSpineConsortium</a:t>
            </a:r>
          </a:p>
        </p:txBody>
      </p:sp>
      <p:sp>
        <p:nvSpPr>
          <p:cNvPr id="23" name="Rectangle 22">
            <a:extLst>
              <a:ext uri="{FF2B5EF4-FFF2-40B4-BE49-F238E27FC236}">
                <a16:creationId xmlns:a16="http://schemas.microsoft.com/office/drawing/2014/main" id="{C54B485E-510E-22C3-11CF-149ACC4F3158}"/>
              </a:ext>
            </a:extLst>
          </p:cNvPr>
          <p:cNvSpPr/>
          <p:nvPr/>
        </p:nvSpPr>
        <p:spPr>
          <a:xfrm>
            <a:off x="530694" y="-41047"/>
            <a:ext cx="635230" cy="917347"/>
          </a:xfrm>
          <a:prstGeom prst="rect">
            <a:avLst/>
          </a:prstGeom>
          <a:solidFill>
            <a:srgbClr val="0F5E5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84BF3321-14AD-5805-94C8-25DA20493824}"/>
              </a:ext>
            </a:extLst>
          </p:cNvPr>
          <p:cNvCxnSpPr>
            <a:cxnSpLocks/>
          </p:cNvCxnSpPr>
          <p:nvPr/>
        </p:nvCxnSpPr>
        <p:spPr>
          <a:xfrm>
            <a:off x="2877671" y="3832412"/>
            <a:ext cx="6427694" cy="0"/>
          </a:xfrm>
          <a:prstGeom prst="line">
            <a:avLst/>
          </a:prstGeom>
          <a:ln w="19050">
            <a:solidFill>
              <a:srgbClr val="0368A6"/>
            </a:solidFil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16BA32AA-53AA-8ABA-8E56-8DA18720DB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7790" y="5647997"/>
            <a:ext cx="1092809" cy="5354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ome - Wayne State University: School of Medicine">
            <a:extLst>
              <a:ext uri="{FF2B5EF4-FFF2-40B4-BE49-F238E27FC236}">
                <a16:creationId xmlns:a16="http://schemas.microsoft.com/office/drawing/2014/main" id="{D766B862-DB9F-39EF-F06F-2C15C3EDBA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5271"/>
          <a:stretch/>
        </p:blipFill>
        <p:spPr bwMode="auto">
          <a:xfrm>
            <a:off x="8454770" y="5455564"/>
            <a:ext cx="1507716" cy="747062"/>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E73562F5-032C-EB92-2F5E-843286394E34}"/>
              </a:ext>
            </a:extLst>
          </p:cNvPr>
          <p:cNvCxnSpPr>
            <a:cxnSpLocks/>
          </p:cNvCxnSpPr>
          <p:nvPr/>
        </p:nvCxnSpPr>
        <p:spPr>
          <a:xfrm flipV="1">
            <a:off x="7658100" y="6055502"/>
            <a:ext cx="804247" cy="842503"/>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1654831-EC24-D390-6562-0FA10D631A7D}"/>
              </a:ext>
            </a:extLst>
          </p:cNvPr>
          <p:cNvCxnSpPr>
            <a:cxnSpLocks/>
          </p:cNvCxnSpPr>
          <p:nvPr/>
        </p:nvCxnSpPr>
        <p:spPr>
          <a:xfrm>
            <a:off x="9957596" y="6055502"/>
            <a:ext cx="2234404" cy="0"/>
          </a:xfrm>
          <a:prstGeom prst="line">
            <a:avLst/>
          </a:prstGeom>
          <a:ln w="19050">
            <a:solidFill>
              <a:srgbClr val="0D5946"/>
            </a:solidFill>
          </a:ln>
        </p:spPr>
        <p:style>
          <a:lnRef idx="1">
            <a:schemeClr val="accent1"/>
          </a:lnRef>
          <a:fillRef idx="0">
            <a:schemeClr val="accent1"/>
          </a:fillRef>
          <a:effectRef idx="0">
            <a:schemeClr val="accent1"/>
          </a:effectRef>
          <a:fontRef idx="minor">
            <a:schemeClr val="tx1"/>
          </a:fontRef>
        </p:style>
      </p:cxnSp>
      <p:sp>
        <p:nvSpPr>
          <p:cNvPr id="12" name="Right Triangle 11">
            <a:extLst>
              <a:ext uri="{FF2B5EF4-FFF2-40B4-BE49-F238E27FC236}">
                <a16:creationId xmlns:a16="http://schemas.microsoft.com/office/drawing/2014/main" id="{8165F6EB-C626-54BA-C18C-6E72FD3E959E}"/>
              </a:ext>
            </a:extLst>
          </p:cNvPr>
          <p:cNvSpPr/>
          <p:nvPr/>
        </p:nvSpPr>
        <p:spPr>
          <a:xfrm rot="16200000">
            <a:off x="7768462" y="6362468"/>
            <a:ext cx="516194" cy="489797"/>
          </a:xfrm>
          <a:prstGeom prst="rtTriangle">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2FC642B-8A98-DD4E-39DC-8A6DBB57D2F8}"/>
              </a:ext>
            </a:extLst>
          </p:cNvPr>
          <p:cNvSpPr/>
          <p:nvPr/>
        </p:nvSpPr>
        <p:spPr>
          <a:xfrm>
            <a:off x="8271455" y="6346894"/>
            <a:ext cx="3920545" cy="518570"/>
          </a:xfrm>
          <a:prstGeom prst="rect">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6">
            <a:extLst>
              <a:ext uri="{FF2B5EF4-FFF2-40B4-BE49-F238E27FC236}">
                <a16:creationId xmlns:a16="http://schemas.microsoft.com/office/drawing/2014/main" id="{28982041-4308-4F17-3AE4-9D4E8E97E4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804" y="352393"/>
            <a:ext cx="434409" cy="397090"/>
          </a:xfrm>
          <a:prstGeom prst="rect">
            <a:avLst/>
          </a:prstGeom>
          <a:noFill/>
          <a:extLst>
            <a:ext uri="{909E8E84-426E-40DD-AFC4-6F175D3DCCD1}">
              <a14:hiddenFill xmlns:a14="http://schemas.microsoft.com/office/drawing/2010/main">
                <a:solidFill>
                  <a:srgbClr val="FFFFFF"/>
                </a:solidFill>
              </a14:hiddenFill>
            </a:ext>
          </a:extLst>
        </p:spPr>
      </p:pic>
      <p:sp>
        <p:nvSpPr>
          <p:cNvPr id="14" name="Parallelogram 13">
            <a:extLst>
              <a:ext uri="{FF2B5EF4-FFF2-40B4-BE49-F238E27FC236}">
                <a16:creationId xmlns:a16="http://schemas.microsoft.com/office/drawing/2014/main" id="{8EB89D12-F0B2-FB53-36D2-EFD489FEA3CB}"/>
              </a:ext>
            </a:extLst>
          </p:cNvPr>
          <p:cNvSpPr/>
          <p:nvPr/>
        </p:nvSpPr>
        <p:spPr>
          <a:xfrm>
            <a:off x="7785710" y="6349269"/>
            <a:ext cx="522680" cy="516195"/>
          </a:xfrm>
          <a:prstGeom prst="parallelogram">
            <a:avLst>
              <a:gd name="adj" fmla="val 94827"/>
            </a:avLst>
          </a:prstGeom>
          <a:solidFill>
            <a:srgbClr val="FED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18A8CDE3-EE10-106D-A267-A1418C473B5A}"/>
              </a:ext>
            </a:extLst>
          </p:cNvPr>
          <p:cNvCxnSpPr>
            <a:cxnSpLocks/>
          </p:cNvCxnSpPr>
          <p:nvPr/>
        </p:nvCxnSpPr>
        <p:spPr>
          <a:xfrm>
            <a:off x="8274856" y="6357952"/>
            <a:ext cx="409581" cy="0"/>
          </a:xfrm>
          <a:prstGeom prst="line">
            <a:avLst/>
          </a:prstGeom>
          <a:ln w="28575">
            <a:solidFill>
              <a:srgbClr val="FED07C"/>
            </a:solidFill>
          </a:ln>
        </p:spPr>
        <p:style>
          <a:lnRef idx="1">
            <a:schemeClr val="accent1"/>
          </a:lnRef>
          <a:fillRef idx="0">
            <a:schemeClr val="accent1"/>
          </a:fillRef>
          <a:effectRef idx="0">
            <a:schemeClr val="accent1"/>
          </a:effectRef>
          <a:fontRef idx="minor">
            <a:schemeClr val="tx1"/>
          </a:fontRef>
        </p:style>
      </p:cxnSp>
      <p:sp>
        <p:nvSpPr>
          <p:cNvPr id="30" name="Parallelogram 29">
            <a:extLst>
              <a:ext uri="{FF2B5EF4-FFF2-40B4-BE49-F238E27FC236}">
                <a16:creationId xmlns:a16="http://schemas.microsoft.com/office/drawing/2014/main" id="{B35AF966-733A-072C-4499-16A2F93909DB}"/>
              </a:ext>
            </a:extLst>
          </p:cNvPr>
          <p:cNvSpPr/>
          <p:nvPr/>
        </p:nvSpPr>
        <p:spPr>
          <a:xfrm>
            <a:off x="8046757" y="634356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Parallelogram 30">
            <a:extLst>
              <a:ext uri="{FF2B5EF4-FFF2-40B4-BE49-F238E27FC236}">
                <a16:creationId xmlns:a16="http://schemas.microsoft.com/office/drawing/2014/main" id="{7C06F1E4-30FF-F38D-0417-1F70EE71B466}"/>
              </a:ext>
            </a:extLst>
          </p:cNvPr>
          <p:cNvSpPr/>
          <p:nvPr/>
        </p:nvSpPr>
        <p:spPr>
          <a:xfrm>
            <a:off x="8126586" y="6345343"/>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Parallelogram 32">
            <a:extLst>
              <a:ext uri="{FF2B5EF4-FFF2-40B4-BE49-F238E27FC236}">
                <a16:creationId xmlns:a16="http://schemas.microsoft.com/office/drawing/2014/main" id="{3A46F8B2-72CE-6AAC-6D61-E072ECEDED25}"/>
              </a:ext>
            </a:extLst>
          </p:cNvPr>
          <p:cNvSpPr/>
          <p:nvPr/>
        </p:nvSpPr>
        <p:spPr>
          <a:xfrm>
            <a:off x="8190600" y="6346894"/>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Parallelogram 24">
            <a:extLst>
              <a:ext uri="{FF2B5EF4-FFF2-40B4-BE49-F238E27FC236}">
                <a16:creationId xmlns:a16="http://schemas.microsoft.com/office/drawing/2014/main" id="{CE36FEDF-B37F-18E5-F2E3-CD3E91088C74}"/>
              </a:ext>
            </a:extLst>
          </p:cNvPr>
          <p:cNvSpPr/>
          <p:nvPr/>
        </p:nvSpPr>
        <p:spPr>
          <a:xfrm>
            <a:off x="7952465" y="6346579"/>
            <a:ext cx="522680" cy="516195"/>
          </a:xfrm>
          <a:prstGeom prst="parallelogram">
            <a:avLst>
              <a:gd name="adj" fmla="val 94827"/>
            </a:avLst>
          </a:prstGeom>
          <a:solidFill>
            <a:srgbClr val="0D59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TextBox 1030"/>
          <p:cNvSpPr txBox="1"/>
          <p:nvPr/>
        </p:nvSpPr>
        <p:spPr>
          <a:xfrm>
            <a:off x="502920" y="2395728"/>
            <a:ext cx="11155680" cy="1280160"/>
          </a:xfrm>
          <a:prstGeom prst="rect">
            <a:avLst/>
          </a:prstGeom>
          <a:noFill/>
        </p:spPr>
        <p:txBody>
          <a:bodyPr wrap="square" anchor="t" lIns="0" rIns="0" tIns="0" bIns="0">
            <a:spAutoFit/>
          </a:bodyPr>
          <a:lstStyle/>
          <a:p>
            <a:pPr algn="ctr">
              <a:spcBef>
                <a:spcPts val="0"/>
              </a:spcBef>
              <a:spcAft>
                <a:spcPts val="0"/>
              </a:spcAft>
            </a:pPr>
            <a:r>
              <a:rPr sz="3000">
                <a:solidFill>
                  <a:srgbClr val="000000"/>
                </a:solidFill>
                <a:latin typeface="Arial"/>
              </a:rPr>
              <a:t>Naming a Lumbar Level Without Counting From C2: CTSpinoPelvic1K and a One-Shot Detector for Transitional Anatomy</a:t>
            </a:r>
          </a:p>
        </p:txBody>
      </p:sp>
      <p:sp>
        <p:nvSpPr>
          <p:cNvPr id="1032" name="TextBox 1031"/>
          <p:cNvSpPr txBox="1"/>
          <p:nvPr/>
        </p:nvSpPr>
        <p:spPr>
          <a:xfrm>
            <a:off x="530352" y="3968496"/>
            <a:ext cx="10607040" cy="457200"/>
          </a:xfrm>
          <a:prstGeom prst="rect">
            <a:avLst/>
          </a:prstGeom>
          <a:noFill/>
        </p:spPr>
        <p:txBody>
          <a:bodyPr wrap="square" anchor="t" lIns="0" rIns="0" tIns="0" bIns="0">
            <a:spAutoFit/>
          </a:bodyPr>
          <a:lstStyle/>
          <a:p>
            <a:pPr algn="l">
              <a:spcBef>
                <a:spcPts val="0"/>
              </a:spcBef>
              <a:spcAft>
                <a:spcPts val="600"/>
              </a:spcAft>
            </a:pPr>
            <a:r>
              <a:rPr sz="1500">
                <a:solidFill>
                  <a:srgbClr val="000000"/>
                </a:solidFill>
                <a:latin typeface="Arial"/>
              </a:rPr>
              <a:t>Gregory J. Schwing, MD, PhD¹   ·   Ashley Schehr²   ·   the OpenSpineConsortium annotators²   ·   Miraziz Ismoilov, MD³   ·   Nizar Alnabahneh, MD³</a:t>
            </a:r>
          </a:p>
        </p:txBody>
      </p:sp>
      <p:sp>
        <p:nvSpPr>
          <p:cNvPr id="1033" name="TextBox 1032"/>
          <p:cNvSpPr txBox="1"/>
          <p:nvPr/>
        </p:nvSpPr>
        <p:spPr>
          <a:xfrm>
            <a:off x="530352" y="4626864"/>
            <a:ext cx="7955279" cy="685800"/>
          </a:xfrm>
          <a:prstGeom prst="rect">
            <a:avLst/>
          </a:prstGeom>
          <a:noFill/>
        </p:spPr>
        <p:txBody>
          <a:bodyPr wrap="square" anchor="t" lIns="0" rIns="0" tIns="0" bIns="0">
            <a:spAutoFit/>
          </a:bodyPr>
          <a:lstStyle/>
          <a:p>
            <a:pPr algn="l">
              <a:spcBef>
                <a:spcPts val="0"/>
              </a:spcBef>
              <a:spcAft>
                <a:spcPts val="200"/>
              </a:spcAft>
            </a:pPr>
            <a:r>
              <a:rPr sz="1150">
                <a:solidFill>
                  <a:srgbClr val="595959"/>
                </a:solidFill>
                <a:latin typeface="Arial"/>
              </a:rPr>
              <a:t>¹ Department of Surgery, Detroit Medical Center / Wayne State University, Detroit, MI</a:t>
            </a:r>
          </a:p>
          <a:p>
            <a:r>
              <a:rPr sz="1150">
                <a:solidFill>
                  <a:srgbClr val="595959"/>
                </a:solidFill>
                <a:latin typeface="Arial"/>
              </a:rPr>
              <a:t>² Wayne State University School of Medicine   ·   ³ Department of Radiology, Detroit Medical Center / Wayne State University</a:t>
            </a:r>
          </a:p>
        </p:txBody>
      </p:sp>
      <p:sp>
        <p:nvSpPr>
          <p:cNvPr id="1034" name="TextBox 1033"/>
          <p:cNvSpPr txBox="1"/>
          <p:nvPr/>
        </p:nvSpPr>
        <p:spPr>
          <a:xfrm>
            <a:off x="530352" y="5504688"/>
            <a:ext cx="6309360" cy="640080"/>
          </a:xfrm>
          <a:prstGeom prst="rect">
            <a:avLst/>
          </a:prstGeom>
          <a:noFill/>
        </p:spPr>
        <p:txBody>
          <a:bodyPr wrap="square" anchor="t" lIns="0" rIns="0" tIns="0" bIns="0">
            <a:spAutoFit/>
          </a:bodyPr>
          <a:lstStyle/>
          <a:p>
            <a:pPr algn="l">
              <a:spcBef>
                <a:spcPts val="0"/>
              </a:spcBef>
              <a:spcAft>
                <a:spcPts val="200"/>
              </a:spcAft>
            </a:pPr>
            <a:r>
              <a:rPr sz="1300">
                <a:solidFill>
                  <a:srgbClr val="095945"/>
                </a:solidFill>
                <a:latin typeface="Arial"/>
              </a:rPr>
              <a:t>Abstract [number pending]   ·   [session pending]</a:t>
            </a:r>
          </a:p>
          <a:p>
            <a:r>
              <a:rPr sz="1300">
                <a:solidFill>
                  <a:srgbClr val="095945"/>
                </a:solidFill>
                <a:latin typeface="Arial"/>
              </a:rPr>
              <a:t>CNS 2026, Washington, DC</a:t>
            </a:r>
          </a:p>
        </p:txBody>
      </p:sp>
      <p:sp>
        <p:nvSpPr>
          <p:cNvPr id="1035" name="TextBox 1034"/>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Disclosures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Disclosures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10881360" cy="3108960"/>
          </a:xfrm>
          <a:prstGeom prst="rect">
            <a:avLst/>
          </a:prstGeom>
          <a:noFill/>
        </p:spPr>
        <p:txBody>
          <a:bodyPr wrap="square" anchor="t" lIns="0" rIns="0" tIns="0" bIns="0">
            <a:spAutoFit/>
          </a:bodyPr>
          <a:lstStyle/>
          <a:p>
            <a:pPr algn="l">
              <a:spcBef>
                <a:spcPts val="0"/>
              </a:spcBef>
              <a:spcAft>
                <a:spcPts val="1400"/>
              </a:spcAft>
            </a:pPr>
            <a:r>
              <a:rPr sz="1800">
                <a:solidFill>
                  <a:srgbClr val="000000"/>
                </a:solidFill>
                <a:latin typeface="Arial"/>
              </a:rPr>
              <a:t>The authors have no relevant financial relationships to disclose.</a:t>
            </a:r>
          </a:p>
          <a:p>
            <a:r>
              <a:rPr sz="1800">
                <a:solidFill>
                  <a:srgbClr val="000000"/>
                </a:solidFill>
                <a:latin typeface="Arial"/>
              </a:rPr>
              <a:t>All imaging is public and de-identified (TCIA CT COLONOGRAPHY); the WSU IRB determined the work is not human-participant research (2 September 2026).</a:t>
            </a:r>
          </a:p>
          <a:p>
            <a:r>
              <a:rPr sz="1800">
                <a:solidFill>
                  <a:srgbClr val="000000"/>
                </a:solidFill>
                <a:latin typeface="Arial"/>
              </a:rPr>
              <a:t>Dataset, code and weights are released under open licences; nothing presented is a medical device.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b="0">
                <a:solidFill>
                  <a:srgbClr val="000000"/>
                </a:solidFill>
                <a:latin typeface="Arial"/>
              </a:rPr>
              <a:t>Overview</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b="0">
                <a:solidFill>
                  <a:srgbClr val="000000"/>
                </a:solidFill>
                <a:latin typeface="Arial"/>
              </a:rPr>
              <a:t>Where this is going</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5"/>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ectangle 24"/>
          <p:cNvSpPr/>
          <p:nvPr/>
        </p:nvSpPr>
        <p:spPr>
          <a:xfrm>
            <a:off x="274320" y="1481328"/>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1</a:t>
            </a:r>
          </a:p>
        </p:txBody>
      </p:sp>
      <p:sp>
        <p:nvSpPr>
          <p:cNvPr id="26" name="TextBox 25"/>
          <p:cNvSpPr txBox="1"/>
          <p:nvPr/>
        </p:nvSpPr>
        <p:spPr>
          <a:xfrm>
            <a:off x="932688" y="1453896"/>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The problem — a lumbar level is named by counting from C2, and the study a lumbar case is planned on has no C2</a:t>
            </a:r>
          </a:p>
        </p:txBody>
      </p:sp>
      <p:sp>
        <p:nvSpPr>
          <p:cNvPr id="27" name="Rectangle 26"/>
          <p:cNvSpPr/>
          <p:nvPr/>
        </p:nvSpPr>
        <p:spPr>
          <a:xfrm>
            <a:off x="274320" y="2340864"/>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2</a:t>
            </a:r>
          </a:p>
        </p:txBody>
      </p:sp>
      <p:sp>
        <p:nvSpPr>
          <p:cNvPr id="28" name="TextBox 27"/>
          <p:cNvSpPr txBox="1"/>
          <p:nvPr/>
        </p:nvSpPr>
        <p:spPr>
          <a:xfrm>
            <a:off x="932688" y="2313432"/>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The dataset — 802 CT records with spine, pelvis, ribs, femora and hardware in one frame, and a class for every anomaly</a:t>
            </a:r>
          </a:p>
        </p:txBody>
      </p:sp>
      <p:sp>
        <p:nvSpPr>
          <p:cNvPr id="29" name="Rectangle 28"/>
          <p:cNvSpPr/>
          <p:nvPr/>
        </p:nvSpPr>
        <p:spPr>
          <a:xfrm>
            <a:off x="274320" y="3200400"/>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3</a:t>
            </a:r>
          </a:p>
        </p:txBody>
      </p:sp>
      <p:sp>
        <p:nvSpPr>
          <p:cNvPr id="30" name="TextBox 29"/>
          <p:cNvSpPr txBox="1"/>
          <p:nvPr/>
        </p:nvSpPr>
        <p:spPr>
          <a:xfrm>
            <a:off x="932688" y="3172968"/>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The claim — identity is local: shape alone separates T12 from L1 at AUC 0.99 in the same patient</a:t>
            </a:r>
          </a:p>
        </p:txBody>
      </p:sp>
      <p:sp>
        <p:nvSpPr>
          <p:cNvPr id="31" name="Rectangle 30"/>
          <p:cNvSpPr/>
          <p:nvPr/>
        </p:nvSpPr>
        <p:spPr>
          <a:xfrm>
            <a:off x="274320" y="4059935"/>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4</a:t>
            </a:r>
          </a:p>
        </p:txBody>
      </p:sp>
      <p:sp>
        <p:nvSpPr>
          <p:cNvPr id="32" name="TextBox 31"/>
          <p:cNvSpPr txBox="1"/>
          <p:nvPr/>
        </p:nvSpPr>
        <p:spPr>
          <a:xfrm>
            <a:off x="932688" y="4032503"/>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The model — a one-shot network that never counts, plus a decoder that turns its probabilities into a posterior over the readings</a:t>
            </a:r>
          </a:p>
        </p:txBody>
      </p:sp>
      <p:sp>
        <p:nvSpPr>
          <p:cNvPr id="33" name="Rectangle 32"/>
          <p:cNvSpPr/>
          <p:nvPr/>
        </p:nvSpPr>
        <p:spPr>
          <a:xfrm>
            <a:off x="274320" y="4919472"/>
            <a:ext cx="475488" cy="475488"/>
          </a:xfrm>
          <a:prstGeom prst="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b="1">
                <a:solidFill>
                  <a:srgbClr val="FFFFFF"/>
                </a:solidFill>
                <a:latin typeface="Arial"/>
              </a:rPr>
              <a:t>5</a:t>
            </a:r>
          </a:p>
        </p:txBody>
      </p:sp>
      <p:sp>
        <p:nvSpPr>
          <p:cNvPr id="34" name="TextBox 33"/>
          <p:cNvSpPr txBox="1"/>
          <p:nvPr/>
        </p:nvSpPr>
        <p:spPr>
          <a:xfrm>
            <a:off x="932688" y="4892040"/>
            <a:ext cx="10332720" cy="777240"/>
          </a:xfrm>
          <a:prstGeom prst="rect">
            <a:avLst/>
          </a:prstGeom>
          <a:noFill/>
        </p:spPr>
        <p:txBody>
          <a:bodyPr wrap="square" anchor="t" lIns="0" rIns="0" tIns="0" bIns="0">
            <a:spAutoFit/>
          </a:bodyPr>
          <a:lstStyle/>
          <a:p>
            <a:pPr algn="l">
              <a:spcBef>
                <a:spcPts val="0"/>
              </a:spcBef>
              <a:spcAft>
                <a:spcPts val="0"/>
              </a:spcAft>
            </a:pPr>
            <a:r>
              <a:rPr sz="1800">
                <a:solidFill>
                  <a:srgbClr val="000000"/>
                </a:solidFill>
                <a:latin typeface="Arial"/>
              </a:rPr>
              <a:t>What it says about development, and about the operating room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count fails exactly where the anatomy is transitional</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6000000" cy="3840480"/>
          </a:xfrm>
          <a:prstGeom prst="rect">
            <a:avLst/>
          </a:prstGeom>
          <a:noFill/>
        </p:spPr>
        <p:txBody>
          <a:bodyPr wrap="square" anchor="t" lIns="0" rIns="0" tIns="0" bIns="0">
            <a:spAutoFit/>
          </a:bodyPr>
          <a:lstStyle/>
          <a:p>
            <a:pPr algn="l">
              <a:spcBef>
                <a:spcPts val="0"/>
              </a:spcBef>
              <a:spcAft>
                <a:spcPts val="1800"/>
              </a:spcAft>
            </a:pPr>
            <a:r>
              <a:rPr sz="1800">
                <a:solidFill>
                  <a:srgbClr val="000000"/>
                </a:solidFill>
                <a:latin typeface="Arial"/>
              </a:rPr>
              <a:t>Wrong-level spine surgery runs at about one in 3,100 spinal procedures, and the cause most often cited is transitional anatomy.¹</a:t>
            </a:r>
          </a:p>
          <a:p>
            <a:r>
              <a:rPr sz="1800">
                <a:solidFill>
                  <a:srgbClr val="000000"/>
                </a:solidFill>
                <a:latin typeface="Arial"/>
              </a:rPr>
              <a:t>A lumbosacral transitional vertebra is present in roughly one patient in ten; a thoracolumbar variant (a stump twelfth rib, a lumbar rib, a thirteenth thoracic vertebra) in more.</a:t>
            </a:r>
          </a:p>
          <a:p>
            <a:r>
              <a:rPr sz="1800">
                <a:solidFill>
                  <a:srgbClr val="000000"/>
                </a:solidFill>
                <a:latin typeface="Arial"/>
              </a:rPr>
              <a:t>The gold standard names a level by counting caudally from C2 on whole-spine imaging. A lumbar surgical case is planned on a lumbar study, T12 to S1. C2 is never in it.</a:t>
            </a:r>
          </a:p>
          <a:p>
            <a:r>
              <a:rPr sz="1800">
                <a:solidFill>
                  <a:srgbClr val="000000"/>
                </a:solidFill>
                <a:latin typeface="Arial"/>
              </a:rPr>
              <a:t>So the name rests on local morphology, and the question is whether morphology is enough.</a:t>
            </a:r>
          </a:p>
        </p:txBody>
      </p:sp>
      <p:sp>
        <p:nvSpPr>
          <p:cNvPr id="32" name="TextBox 31"/>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1. Epstein NE. Surg Neurol Int 2021;12:286.   Field of view of 802 abdominopelvic CTs: the thoracic column enters from above; C2 never.</a:t>
            </a:r>
          </a:p>
        </p:txBody>
      </p:sp>
      <p:pic>
        <p:nvPicPr>
          <p:cNvPr id="33" name="Picture 32" descr="fig_fov.png"/>
          <p:cNvPicPr>
            <a:picLocks noChangeAspect="1"/>
          </p:cNvPicPr>
          <p:nvPr/>
        </p:nvPicPr>
        <p:blipFill>
          <a:blip r:embed="rId5"/>
          <a:stretch>
            <a:fillRect/>
          </a:stretch>
        </p:blipFill>
        <p:spPr>
          <a:xfrm>
            <a:off x="6500000" y="1371600"/>
            <a:ext cx="5300000" cy="168775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Background</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same count, three anatomies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274320" y="1371600"/>
            <a:ext cx="5623560" cy="4572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095945"/>
                </a:solidFill>
                <a:latin typeface="Arial"/>
              </a:rPr>
              <a:t>Four rib-free bodies above the sacrum</a:t>
            </a:r>
          </a:p>
        </p:txBody>
      </p:sp>
      <p:sp>
        <p:nvSpPr>
          <p:cNvPr id="26" name="TextBox 25"/>
          <p:cNvSpPr txBox="1"/>
          <p:nvPr/>
        </p:nvSpPr>
        <p:spPr>
          <a:xfrm>
            <a:off x="27432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An L1 that carries a lumbar rib and is counted as thoracic,</a:t>
            </a:r>
          </a:p>
          <a:p>
            <a:r>
              <a:rPr sz="1700">
                <a:solidFill>
                  <a:srgbClr val="000000"/>
                </a:solidFill>
                <a:latin typeface="Arial"/>
              </a:rPr>
              <a:t>or an L5 assimilated to the sacrum (sacralization).</a:t>
            </a:r>
          </a:p>
          <a:p>
            <a:r>
              <a:rPr sz="1700">
                <a:solidFill>
                  <a:srgbClr val="000000"/>
                </a:solidFill>
                <a:latin typeface="Arial"/>
              </a:rPr>
              <a:t>Same count. Opposite surgical anatomy.</a:t>
            </a:r>
          </a:p>
        </p:txBody>
      </p:sp>
      <p:sp>
        <p:nvSpPr>
          <p:cNvPr id="27" name="Rounded Rectangle 26"/>
          <p:cNvSpPr/>
          <p:nvPr/>
        </p:nvSpPr>
        <p:spPr>
          <a:xfrm>
            <a:off x="6309360" y="1371600"/>
            <a:ext cx="5623560" cy="457200"/>
          </a:xfrm>
          <a:prstGeom prst="round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FFFFFF"/>
                </a:solidFill>
                <a:latin typeface="Arial"/>
              </a:rPr>
              <a:t>Six rib-free bodies above the sacrum</a:t>
            </a:r>
          </a:p>
        </p:txBody>
      </p:sp>
      <p:sp>
        <p:nvSpPr>
          <p:cNvPr id="28" name="TextBox 27"/>
          <p:cNvSpPr txBox="1"/>
          <p:nvPr/>
        </p:nvSpPr>
        <p:spPr>
          <a:xfrm>
            <a:off x="630936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A true sixth lumbar vertebra (A),</a:t>
            </a:r>
          </a:p>
          <a:p>
            <a:r>
              <a:rPr sz="1700">
                <a:solidFill>
                  <a:srgbClr val="000000"/>
                </a:solidFill>
                <a:latin typeface="Arial"/>
              </a:rPr>
              <a:t>a T12 whose ribs are aplastic, counted as lumbar (B),</a:t>
            </a:r>
          </a:p>
          <a:p>
            <a:r>
              <a:rPr sz="1700">
                <a:solidFill>
                  <a:srgbClr val="000000"/>
                </a:solidFill>
                <a:latin typeface="Arial"/>
              </a:rPr>
              <a:t>or a first sacral segment that separated (C, lumbarization).</a:t>
            </a:r>
          </a:p>
        </p:txBody>
      </p:sp>
      <p:sp>
        <p:nvSpPr>
          <p:cNvPr id="29" name="Rounded Rectangle 28"/>
          <p:cNvSpPr/>
          <p:nvPr/>
        </p:nvSpPr>
        <p:spPr>
          <a:xfrm>
            <a:off x="274320" y="4663440"/>
            <a:ext cx="11658600" cy="86868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900">
                <a:solidFill>
                  <a:srgbClr val="095945"/>
                </a:solidFill>
                <a:latin typeface="Arial"/>
              </a:rPr>
              <a:t>Can the vertebra's own shape, its ribs and its junction say which one it is, without the count?</a:t>
            </a:r>
          </a:p>
        </p:txBody>
      </p:sp>
      <p:sp>
        <p:nvSpPr>
          <p:cNvPr id="30" name="TextBox 29"/>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2. Konin GP, Walz DM. AJNR 2010;31:1778–1786.   3. Poolman TM, et al. J Anat 2023;243:311–318.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Methods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CTSpinoPelvic1K: two anchors on every record, and a class for every anomaly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5806440" y="1554480"/>
            <a:ext cx="6126480" cy="3931920"/>
          </a:xfrm>
          <a:prstGeom prst="rect">
            <a:avLst/>
          </a:prstGeom>
          <a:noFill/>
        </p:spPr>
        <p:txBody>
          <a:bodyPr wrap="square" anchor="t" lIns="0" rIns="0" tIns="0" bIns="0">
            <a:spAutoFit/>
          </a:bodyPr>
          <a:lstStyle/>
          <a:p>
            <a:pPr algn="l">
              <a:spcBef>
                <a:spcPts val="0"/>
              </a:spcBef>
              <a:spcAft>
                <a:spcPts val="1800"/>
              </a:spcAft>
            </a:pPr>
            <a:r>
              <a:rPr sz="1800">
                <a:solidFill>
                  <a:srgbClr val="000000"/>
                </a:solidFill>
                <a:latin typeface="Arial"/>
              </a:rPr>
              <a:t>802 abdominopelvic CT records from TCIA CT COLONOGRAPHY, joining CTSpine1K's vertebrae and CTPelvic1K's pelvis on one series, which neither source had done.</a:t>
            </a:r>
          </a:p>
          <a:p>
            <a:r>
              <a:rPr sz="1800">
                <a:solidFill>
                  <a:srgbClr val="000000"/>
                </a:solidFill>
                <a:latin typeface="Arial"/>
              </a:rPr>
              <a:t>Added on every record: per-level ribs (thirteen per side), femora, a separate S1, and surgical hardware as its own class.</a:t>
            </a:r>
          </a:p>
          <a:p>
            <a:r>
              <a:rPr sz="1800">
                <a:solidFill>
                  <a:srgbClr val="000000"/>
                </a:solidFill>
                <a:latin typeface="Arial"/>
              </a:rPr>
              <a:t>Lumbar levels are anchored on the lowest rib-bearing vertebra and on S1, not on a count. L6, T13, lumbar ribs and stump ribs are recorded as themselves.</a:t>
            </a:r>
          </a:p>
          <a:p>
            <a:r>
              <a:rPr sz="1800">
                <a:solidFill>
                  <a:srgbClr val="000000"/>
                </a:solidFill>
                <a:latin typeface="Arial"/>
              </a:rPr>
              <a:t>33 records carry a two-reader Castellvi grade. Sixteen carry a lumbar rib; 98 a stump twelfth rib; 18 a sixth lumbar body.</a:t>
            </a:r>
          </a:p>
          <a:p>
            <a:r>
              <a:rPr sz="1800">
                <a:solidFill>
                  <a:srgbClr val="000000"/>
                </a:solidFill>
                <a:latin typeface="Arial"/>
              </a:rPr>
              <a:t>v10 archived on Zenodo (10.5281/zenodo.22139642); build archive 10.5281/zenodo.22647933; submitted to Medical Physics.</a:t>
            </a:r>
          </a:p>
        </p:txBody>
      </p:sp>
      <p:pic>
        <p:nvPicPr>
          <p:cNvPr id="27" name="Picture 26" descr="fig_anchors.png"/>
          <p:cNvPicPr>
            <a:picLocks noChangeAspect="1"/>
          </p:cNvPicPr>
          <p:nvPr/>
        </p:nvPicPr>
        <p:blipFill>
          <a:blip r:embed="rId6"/>
          <a:stretch>
            <a:fillRect/>
          </a:stretch>
        </p:blipFill>
        <p:spPr>
          <a:xfrm>
            <a:off x="411480" y="1371600"/>
            <a:ext cx="5600000" cy="1480709"/>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Methods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Validated at three layers before any number was believed</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8549640" y="1600200"/>
            <a:ext cx="3401568" cy="3931920"/>
          </a:xfrm>
          <a:prstGeom prst="rect">
            <a:avLst/>
          </a:prstGeom>
          <a:noFill/>
        </p:spPr>
        <p:txBody>
          <a:bodyPr wrap="square" anchor="t" lIns="0" rIns="0" tIns="0" bIns="0">
            <a:spAutoFit/>
          </a:bodyPr>
          <a:lstStyle/>
          <a:p>
            <a:pPr algn="l">
              <a:spcBef>
                <a:spcPts val="0"/>
              </a:spcBef>
              <a:spcAft>
                <a:spcPts val="1400"/>
              </a:spcAft>
            </a:pPr>
            <a:r>
              <a:rPr sz="1600">
                <a:solidFill>
                  <a:srgbClr val="000000"/>
                </a:solidFill>
                <a:latin typeface="Arial"/>
              </a:rPr>
              <a:t>Geometry first: 802 of 802 records pass the invariants (one component per bone, sided structures on their side, labels on their CT grid).</a:t>
            </a:r>
          </a:p>
          <a:p>
            <a:r>
              <a:rPr sz="1600">
                <a:solidFill>
                  <a:srgbClr val="000000"/>
                </a:solidFill>
                <a:latin typeface="Arial"/>
              </a:rPr>
              <a:t>Rib–vertebra incidence across 5,749 evaluable ribs: 2 residual offsets, 0.035 percent.</a:t>
            </a:r>
          </a:p>
          <a:p>
            <a:r>
              <a:rPr sz="1600">
                <a:solidFill>
                  <a:srgbClr val="000000"/>
                </a:solidFill>
                <a:latin typeface="Arial"/>
              </a:rPr>
              <a:t>Derived spinopelvic measures match published reference values.</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Every measurement in this talk was written to a file by a script that can be re-run on the released data.</a:t>
            </a:r>
          </a:p>
        </p:txBody>
      </p:sp>
      <p:pic>
        <p:nvPicPr>
          <p:cNvPr id="28" name="Picture 27" descr="fig_validation.png"/>
          <p:cNvPicPr>
            <a:picLocks noChangeAspect="1"/>
          </p:cNvPicPr>
          <p:nvPr/>
        </p:nvPicPr>
        <p:blipFill>
          <a:blip r:embed="rId6"/>
          <a:stretch>
            <a:fillRect/>
          </a:stretch>
        </p:blipFill>
        <p:spPr>
          <a:xfrm>
            <a:off x="256032" y="1554480"/>
            <a:ext cx="7900000" cy="1636064"/>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Methods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A network that never counts, and a decoder that reasons about the sequence</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50292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One-shot segmenter</a:t>
            </a:r>
          </a:p>
        </p:txBody>
      </p:sp>
      <p:sp>
        <p:nvSpPr>
          <p:cNvPr id="26" name="TextBox 25"/>
          <p:cNvSpPr txBox="1"/>
          <p:nvPr/>
        </p:nvSpPr>
        <p:spPr>
          <a:xfrm>
            <a:off x="50292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nnU-Net ResEnc-L, 24 classes: T10–T13, L1–L6,</a:t>
            </a:r>
          </a:p>
          <a:p>
            <a:r>
              <a:rPr sz="1300">
                <a:solidFill>
                  <a:srgbClr val="595959"/>
                </a:solidFill>
                <a:latin typeface="Arial"/>
              </a:rPr>
              <a:t>sacrum, ribs 1–11, rib 12, rib 13, lumbar rib, hips, femur</a:t>
            </a:r>
          </a:p>
        </p:txBody>
      </p:sp>
      <p:sp>
        <p:nvSpPr>
          <p:cNvPr id="27" name="Isosceles Triangle 26"/>
          <p:cNvSpPr/>
          <p:nvPr/>
        </p:nvSpPr>
        <p:spPr>
          <a:xfrm rot="5400000">
            <a:off x="402335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43484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Instances + type probabilities</a:t>
            </a:r>
          </a:p>
        </p:txBody>
      </p:sp>
      <p:sp>
        <p:nvSpPr>
          <p:cNvPr id="29" name="TextBox 28"/>
          <p:cNvSpPr txBox="1"/>
          <p:nvPr/>
        </p:nvSpPr>
        <p:spPr>
          <a:xfrm>
            <a:off x="443484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per vertebra: P(thoracic), P(lumbar), P(sacral)</a:t>
            </a:r>
          </a:p>
          <a:p>
            <a:r>
              <a:rPr sz="1300">
                <a:solidFill>
                  <a:srgbClr val="595959"/>
                </a:solidFill>
                <a:latin typeface="Arial"/>
              </a:rPr>
              <a:t>from the softmax; rib contact per body</a:t>
            </a:r>
          </a:p>
        </p:txBody>
      </p:sp>
      <p:sp>
        <p:nvSpPr>
          <p:cNvPr id="30" name="Isosceles Triangle 29"/>
          <p:cNvSpPr/>
          <p:nvPr/>
        </p:nvSpPr>
        <p:spPr>
          <a:xfrm rot="5400000">
            <a:off x="7955279" y="1805940"/>
            <a:ext cx="182880" cy="182880"/>
          </a:xfrm>
          <a:prstGeom prst="triangle">
            <a:avLst/>
          </a:prstGeom>
          <a:solidFill>
            <a:srgbClr val="6E9E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8366760" y="1417320"/>
            <a:ext cx="3429000" cy="96012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Monotone decode</a:t>
            </a:r>
          </a:p>
        </p:txBody>
      </p:sp>
      <p:sp>
        <p:nvSpPr>
          <p:cNvPr id="32" name="TextBox 31"/>
          <p:cNvSpPr txBox="1"/>
          <p:nvPr/>
        </p:nvSpPr>
        <p:spPr>
          <a:xfrm>
            <a:off x="8366760" y="2505456"/>
            <a:ext cx="3429000" cy="822960"/>
          </a:xfrm>
          <a:prstGeom prst="rect">
            <a:avLst/>
          </a:prstGeom>
          <a:noFill/>
        </p:spPr>
        <p:txBody>
          <a:bodyPr wrap="square" anchor="t" lIns="0" rIns="0" tIns="0" bIns="0">
            <a:spAutoFit/>
          </a:bodyPr>
          <a:lstStyle/>
          <a:p>
            <a:pPr algn="ctr">
              <a:spcBef>
                <a:spcPts val="0"/>
              </a:spcBef>
              <a:spcAft>
                <a:spcPts val="100"/>
              </a:spcAft>
            </a:pPr>
            <a:r>
              <a:rPr sz="1300">
                <a:solidFill>
                  <a:srgbClr val="595959"/>
                </a:solidFill>
                <a:latin typeface="Arial"/>
              </a:rPr>
              <a:t>thoracic above lumbar above sacrum;</a:t>
            </a:r>
          </a:p>
          <a:p>
            <a:r>
              <a:rPr sz="1300">
                <a:solidFill>
                  <a:srgbClr val="595959"/>
                </a:solidFill>
                <a:latin typeface="Arial"/>
              </a:rPr>
              <a:t>posterior over the rib-free count and over A / B / C</a:t>
            </a:r>
          </a:p>
        </p:txBody>
      </p:sp>
      <p:sp>
        <p:nvSpPr>
          <p:cNvPr id="33" name="TextBox 32"/>
          <p:cNvSpPr txBox="1"/>
          <p:nvPr/>
        </p:nvSpPr>
        <p:spPr>
          <a:xfrm>
            <a:off x="256032" y="3703320"/>
            <a:ext cx="11521440" cy="201168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Every class is a local appearance. To call a voxel L1 rather than T12 the network has to read the body's own shape and facets; to call a rib lumbar rather than twelfth it has to read the vertebra beneath it. That is the morphology classifier and the segmenter trained as one model.</a:t>
            </a:r>
          </a:p>
          <a:p>
            <a:r>
              <a:rPr sz="1700">
                <a:solidFill>
                  <a:srgbClr val="000000"/>
                </a:solidFill>
                <a:latin typeface="Arial"/>
              </a:rPr>
              <a:t>What a semantic network cannot do is notice that its own sequence does not fit twelve, five and a sacrum. The decoder adds only that: instances, type probabilities, and the most likely monotone sequence, with the probability of each reading reported rather than a verdict forced.</a:t>
            </a:r>
          </a:p>
          <a:p>
            <a:r>
              <a:rPr sz="1700">
                <a:solidFill>
                  <a:srgbClr val="000000"/>
                </a:solidFill>
                <a:latin typeface="Arial"/>
              </a:rPr>
              <a:t>Rare-class exposure is enforced: records carrying a lumbar rib, a T13 or a lumbosacral variant fill half of every training queue. Five patient-grouped, LSTV-stratified folds; 500 epochs each on H200 GPUs.</a:t>
            </a:r>
          </a:p>
        </p:txBody>
      </p:sp>
      <p:sp>
        <p:nvSpPr>
          <p:cNvPr id="34" name="TextBox 33"/>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4. Isensee F, et al. Nat Methods 2021;18:203–211.   5. Wald T, et al. TMLR 2025 (ResEnc).</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Identity is local: T12 and L1 differ in shape inside the same patient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8549640" y="1600200"/>
            <a:ext cx="3401568" cy="3931920"/>
          </a:xfrm>
          <a:prstGeom prst="rect">
            <a:avLst/>
          </a:prstGeom>
          <a:noFill/>
        </p:spPr>
        <p:txBody>
          <a:bodyPr wrap="square" anchor="t" lIns="0" rIns="0" tIns="0" bIns="0">
            <a:spAutoFit/>
          </a:bodyPr>
          <a:lstStyle/>
          <a:p>
            <a:pPr algn="l">
              <a:spcBef>
                <a:spcPts val="0"/>
              </a:spcBef>
              <a:spcAft>
                <a:spcPts val="1400"/>
              </a:spcAft>
            </a:pPr>
            <a:r>
              <a:rPr sz="1600">
                <a:solidFill>
                  <a:srgbClr val="000000"/>
                </a:solidFill>
                <a:latin typeface="Arial"/>
              </a:rPr>
              <a:t>Eleven shape features per vertebra, each divided by the patient's own median across levels so size is removed and only shape remains.</a:t>
            </a:r>
          </a:p>
          <a:p>
            <a:r>
              <a:rPr sz="1600">
                <a:solidFill>
                  <a:srgbClr val="000000"/>
                </a:solidFill>
                <a:latin typeface="Arial"/>
              </a:rPr>
              <a:t>Logistic regression, cross-validated by patient: thoracic against lumbar AUC 0.998; T12 against L1 AUC 0.990, accuracy 97.3 percent over 1,485 vertebrae.</a:t>
            </a:r>
          </a:p>
          <a:p>
            <a:r>
              <a:rPr sz="1600">
                <a:solidFill>
                  <a:srgbClr val="000000"/>
                </a:solidFill>
                <a:latin typeface="Arial"/>
              </a:rPr>
              <a:t>Transverse-process span carries most of it. Costal facets and facet orientation are not in that feature set; the network sees them.</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Morphometry by level with its spread, 802 records: the reference the model is measured against.</a:t>
            </a:r>
          </a:p>
        </p:txBody>
      </p:sp>
      <p:pic>
        <p:nvPicPr>
          <p:cNvPr id="28" name="Picture 27" descr="fig_levelatlas.png"/>
          <p:cNvPicPr>
            <a:picLocks noChangeAspect="1"/>
          </p:cNvPicPr>
          <p:nvPr/>
        </p:nvPicPr>
        <p:blipFill>
          <a:blip r:embed="rId6"/>
          <a:stretch>
            <a:fillRect/>
          </a:stretch>
        </p:blipFill>
        <p:spPr>
          <a:xfrm>
            <a:off x="256032" y="1554480"/>
            <a:ext cx="7900000" cy="3556023"/>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Eighteen six-lumbar spines, read from the labels: where is the extra body?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8549640" y="1600200"/>
            <a:ext cx="3401568" cy="3931920"/>
          </a:xfrm>
          <a:prstGeom prst="rect">
            <a:avLst/>
          </a:prstGeom>
          <a:noFill/>
        </p:spPr>
        <p:txBody>
          <a:bodyPr wrap="square" anchor="t" lIns="0" rIns="0" tIns="0" bIns="0">
            <a:spAutoFit/>
          </a:bodyPr>
          <a:lstStyle/>
          <a:p>
            <a:pPr algn="l">
              <a:spcBef>
                <a:spcPts val="0"/>
              </a:spcBef>
              <a:spcAft>
                <a:spcPts val="1400"/>
              </a:spcAft>
            </a:pPr>
            <a:r>
              <a:rPr sz="1600">
                <a:solidFill>
                  <a:srgbClr val="000000"/>
                </a:solidFill>
                <a:latin typeface="Arial"/>
              </a:rPr>
              <a:t>Every feature as a z-score against 643 normal five-lumbar spines.</a:t>
            </a:r>
          </a:p>
          <a:p>
            <a:r>
              <a:rPr sz="1600">
                <a:solidFill>
                  <a:srgbClr val="000000"/>
                </a:solidFill>
                <a:latin typeface="Arial"/>
              </a:rPr>
              <a:t>Bottom body: a transverse process 2–5 SD taller than a normal L5's, sitting 2 SD closer to the ilium, or a sacrum a segment short, reads as a lumbarized S1.</a:t>
            </a:r>
          </a:p>
          <a:p>
            <a:r>
              <a:rPr sz="1600">
                <a:solidFill>
                  <a:srgbClr val="000000"/>
                </a:solidFill>
                <a:latin typeface="Arial"/>
              </a:rPr>
              <a:t>Top body: the whole column scored as labelled and with every name moved up one; a labelled L1 that fits T12 better reads as an aplastic-rib T12.</a:t>
            </a:r>
          </a:p>
          <a:p>
            <a:r>
              <a:rPr sz="1600">
                <a:solidFill>
                  <a:srgbClr val="000000"/>
                </a:solidFill>
                <a:latin typeface="Arial"/>
              </a:rPr>
              <a:t>11 true L6  ·  4 lumbarized S1  ·  1 aplastic-rib T12  ·  2 with evidence at both ends.</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The label convention hides an aplastic twelfth rib (the lowest rib-bearing body is defined as T12), which is why the column-wide test, not the rib length, finds reading B.</a:t>
            </a:r>
          </a:p>
        </p:txBody>
      </p:sp>
      <p:pic>
        <p:nvPicPr>
          <p:cNvPr id="28" name="Picture 27" descr="six_lumbar_readings.png"/>
          <p:cNvPicPr>
            <a:picLocks noChangeAspect="1"/>
          </p:cNvPicPr>
          <p:nvPr/>
        </p:nvPicPr>
        <p:blipFill>
          <a:blip r:embed="rId6"/>
          <a:stretch>
            <a:fillRect/>
          </a:stretch>
        </p:blipFill>
        <p:spPr>
          <a:xfrm>
            <a:off x="256032" y="1554480"/>
            <a:ext cx="7900000" cy="3197619"/>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What the evidence looks like on the CT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5806440" y="1554480"/>
            <a:ext cx="6126480" cy="3931920"/>
          </a:xfrm>
          <a:prstGeom prst="rect">
            <a:avLst/>
          </a:prstGeom>
          <a:noFill/>
        </p:spPr>
        <p:txBody>
          <a:bodyPr wrap="square" anchor="t" lIns="0" rIns="0" tIns="0" bIns="0">
            <a:spAutoFit/>
          </a:bodyPr>
          <a:lstStyle/>
          <a:p>
            <a:pPr algn="l">
              <a:spcBef>
                <a:spcPts val="0"/>
              </a:spcBef>
              <a:spcAft>
                <a:spcPts val="1800"/>
              </a:spcAft>
            </a:pPr>
            <a:r>
              <a:rPr sz="1800">
                <a:solidFill>
                  <a:srgbClr val="000000"/>
                </a:solidFill>
                <a:latin typeface="Arial"/>
              </a:rPr>
              <a:t>Record 0376, Castellvi IV. Top left: the labelled L1 at pedicle level. Top right: coronal MIP through it, no rib. Bottom left: the labelled sixth body sitting on both alae. Bottom right: the disc beneath it and the sacral height.</a:t>
            </a:r>
          </a:p>
          <a:p>
            <a:r>
              <a:rPr sz="1800">
                <a:solidFill>
                  <a:srgbClr val="000000"/>
                </a:solidFill>
                <a:latin typeface="Arial"/>
              </a:rPr>
              <a:t>The bottom test calls it sacral-type; the column-wide test calls the top thoracic-type. A double shift is a real anatomy (presacral count 25 with a rib-less T12), and the field of view cannot exclude it.</a:t>
            </a:r>
          </a:p>
          <a:p>
            <a:r>
              <a:rPr sz="1800">
                <a:solidFill>
                  <a:srgbClr val="000000"/>
                </a:solidFill>
                <a:latin typeface="Arial"/>
              </a:rPr>
              <a:t>That is the point: on this study a verdict is not available to a human either. A probability is, and it is what the decoder reports.</a:t>
            </a:r>
          </a:p>
        </p:txBody>
      </p:sp>
      <p:pic>
        <p:nvPicPr>
          <p:cNvPr id="27" name="Picture 26" descr="reading_sheet_0376.png"/>
          <p:cNvPicPr>
            <a:picLocks noChangeAspect="1"/>
          </p:cNvPicPr>
          <p:nvPr/>
        </p:nvPicPr>
        <p:blipFill>
          <a:blip r:embed="rId6"/>
          <a:stretch>
            <a:fillRect/>
          </a:stretch>
        </p:blipFill>
        <p:spPr>
          <a:xfrm>
            <a:off x="411480" y="1371600"/>
            <a:ext cx="4600000" cy="4600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Do the two borders shift together? First look at 802 records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274320" y="1371600"/>
            <a:ext cx="5623560" cy="4572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095945"/>
                </a:solidFill>
                <a:latin typeface="Arial"/>
              </a:rPr>
              <a:t>Thoracolumbar border</a:t>
            </a:r>
          </a:p>
        </p:txBody>
      </p:sp>
      <p:sp>
        <p:nvSpPr>
          <p:cNvPr id="26" name="TextBox 25"/>
          <p:cNvSpPr txBox="1"/>
          <p:nvPr/>
        </p:nvSpPr>
        <p:spPr>
          <a:xfrm>
            <a:off x="27432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Stump twelfth rib (12th:11th length below 0.33): 98 of 788, 12.4 percent.</a:t>
            </a:r>
          </a:p>
          <a:p>
            <a:r>
              <a:rPr sz="1700">
                <a:solidFill>
                  <a:srgbClr val="000000"/>
                </a:solidFill>
                <a:latin typeface="Arial"/>
              </a:rPr>
              <a:t>Lumbar rib: 16 of 802, 2.0 percent.</a:t>
            </a:r>
          </a:p>
          <a:p>
            <a:r>
              <a:rPr sz="1700">
                <a:solidFill>
                  <a:srgbClr val="000000"/>
                </a:solidFill>
                <a:latin typeface="Arial"/>
              </a:rPr>
              <a:t>No six-lumbar record carries an aplastic twelfth rib by rib length; one does by column shape.</a:t>
            </a:r>
          </a:p>
        </p:txBody>
      </p:sp>
      <p:sp>
        <p:nvSpPr>
          <p:cNvPr id="27" name="Rounded Rectangle 26"/>
          <p:cNvSpPr/>
          <p:nvPr/>
        </p:nvSpPr>
        <p:spPr>
          <a:xfrm>
            <a:off x="6309360" y="1371600"/>
            <a:ext cx="5623560" cy="457200"/>
          </a:xfrm>
          <a:prstGeom prst="round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FFFFFF"/>
                </a:solidFill>
                <a:latin typeface="Arial"/>
              </a:rPr>
              <a:t>Lumbosacral border</a:t>
            </a:r>
          </a:p>
        </p:txBody>
      </p:sp>
      <p:sp>
        <p:nvSpPr>
          <p:cNvPr id="28" name="TextBox 27"/>
          <p:cNvSpPr txBox="1"/>
          <p:nvPr/>
        </p:nvSpPr>
        <p:spPr>
          <a:xfrm>
            <a:off x="630936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Sacralization: stump ribs in 4 of 14 against 94 of 758 elsewhere, odds ratio 2.8, p = 0.09.</a:t>
            </a:r>
          </a:p>
          <a:p>
            <a:r>
              <a:rPr sz="1700">
                <a:solidFill>
                  <a:srgbClr val="000000"/>
                </a:solidFill>
                <a:latin typeface="Arial"/>
              </a:rPr>
              <a:t>Lumbarization: no lumbar rib among the 14.</a:t>
            </a:r>
          </a:p>
          <a:p>
            <a:r>
              <a:rPr sz="1700">
                <a:solidFill>
                  <a:srgbClr val="000000"/>
                </a:solidFill>
                <a:latin typeface="Arial"/>
              </a:rPr>
              <a:t>Direction agrees with Nagata 2025; power does not, at 33 graded records.</a:t>
            </a:r>
          </a:p>
        </p:txBody>
      </p:sp>
      <p:sp>
        <p:nvSpPr>
          <p:cNvPr id="29" name="Rounded Rectangle 28"/>
          <p:cNvSpPr/>
          <p:nvPr/>
        </p:nvSpPr>
        <p:spPr>
          <a:xfrm>
            <a:off x="274320" y="4663440"/>
            <a:ext cx="11658600" cy="86868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900">
                <a:solidFill>
                  <a:srgbClr val="095945"/>
                </a:solidFill>
                <a:latin typeface="Arial"/>
              </a:rPr>
              <a:t>A single homeotic shift, cranial or caudal, predicts these pairings. Reading the whole cohort, and VerSe, is what tests it at full power.</a:t>
            </a:r>
          </a:p>
        </p:txBody>
      </p:sp>
      <p:sp>
        <p:nvSpPr>
          <p:cNvPr id="30" name="TextBox 29"/>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6. Nagata K, et al. Skeletal Radiol 2025;54:2169–2177.   7. Du Plessis AM, et al. J Anat 2018;232:850–856.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one-shot network on held-out folds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6" name="TextBox 25"/>
          <p:cNvSpPr txBox="1"/>
          <p:nvPr/>
        </p:nvSpPr>
        <p:spPr>
          <a:xfrm>
            <a:off x="8549640" y="1600200"/>
            <a:ext cx="3401568" cy="3931920"/>
          </a:xfrm>
          <a:prstGeom prst="rect">
            <a:avLst/>
          </a:prstGeom>
          <a:noFill/>
        </p:spPr>
        <p:txBody>
          <a:bodyPr wrap="square" anchor="t" lIns="0" rIns="0" tIns="0" bIns="0">
            <a:spAutoFit/>
          </a:bodyPr>
          <a:lstStyle/>
          <a:p>
            <a:pPr algn="l">
              <a:spcBef>
                <a:spcPts val="0"/>
              </a:spcBef>
              <a:spcAft>
                <a:spcPts val="1400"/>
              </a:spcAft>
            </a:pPr>
            <a:r>
              <a:rPr sz="1600">
                <a:solidFill>
                  <a:srgbClr val="000000"/>
                </a:solidFill>
                <a:latin typeface="Arial"/>
              </a:rPr>
              <a:t>Three numbers decide whether the claim holds, and none of them is overall Dice:</a:t>
            </a:r>
          </a:p>
          <a:p>
            <a:r>
              <a:rPr sz="1600">
                <a:solidFill>
                  <a:srgbClr val="000000"/>
                </a:solidFill>
                <a:latin typeface="Arial"/>
              </a:rPr>
              <a:t>1. level identity accuracy on transitional records, reported apart from typical ones;</a:t>
            </a:r>
          </a:p>
          <a:p>
            <a:r>
              <a:rPr sz="1600">
                <a:solidFill>
                  <a:srgbClr val="000000"/>
                </a:solidFill>
                <a:latin typeface="Arial"/>
              </a:rPr>
              <a:t>2. whether the network ever says 'lumbar rib' or 'T13' (a model that never does still scores 94 percent on short ribs);</a:t>
            </a:r>
          </a:p>
          <a:p>
            <a:r>
              <a:rPr sz="1600">
                <a:solidFill>
                  <a:srgbClr val="000000"/>
                </a:solidFill>
                <a:latin typeface="Arial"/>
              </a:rPr>
              <a:t>3. the posterior on the eighteen six-lumbar spines against the label-based readings.</a:t>
            </a:r>
          </a:p>
        </p:txBody>
      </p:sp>
      <p:sp>
        <p:nvSpPr>
          <p:cNvPr id="27" name="TextBox 26"/>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Folds launched 7 September 2026 on four H200 nodes; expected complete about 12 September.</a:t>
            </a:r>
          </a:p>
        </p:txBody>
      </p:sp>
      <p:sp>
        <p:nvSpPr>
          <p:cNvPr id="28" name="TextBox 27"/>
          <p:cNvSpPr txBox="1"/>
          <p:nvPr/>
        </p:nvSpPr>
        <p:spPr>
          <a:xfrm>
            <a:off x="256032" y="1554480"/>
            <a:ext cx="7900000" cy="500000"/>
          </a:xfrm>
          <a:prstGeom prst="rect">
            <a:avLst/>
          </a:prstGeom>
          <a:noFill/>
        </p:spPr>
        <p:txBody>
          <a:bodyPr wrap="square">
            <a:spAutoFit/>
          </a:bodyPr>
          <a:lstStyle/>
          <a:p>
            <a:r>
              <a:rPr sz="1300" b="1">
                <a:solidFill>
                  <a:srgbClr val="B5533C"/>
                </a:solidFill>
              </a:rPr>
              <a:t>[PENDING] figure: per-class Dice, typical versus transitional records, five folds (tools/eval_oneshot.py)</a:t>
            </a:r>
          </a:p>
        </p:txBody>
      </p:sp>
      <p:sp>
        <p:nvSpPr>
          <p:cNvPr id="29" name="TextBox 28"/>
          <p:cNvSpPr txBox="1"/>
          <p:nvPr/>
        </p:nvSpPr>
        <p:spPr>
          <a:xfrm>
            <a:off x="256032" y="2200000"/>
            <a:ext cx="7900000" cy="500000"/>
          </a:xfrm>
          <a:prstGeom prst="rect">
            <a:avLst/>
          </a:prstGeom>
          <a:noFill/>
        </p:spPr>
        <p:txBody>
          <a:bodyPr wrap="square">
            <a:spAutoFit/>
          </a:bodyPr>
          <a:lstStyle/>
          <a:p>
            <a:r>
              <a:rPr sz="1300" b="1">
                <a:solidFill>
                  <a:srgbClr val="B5533C"/>
                </a:solidFill>
              </a:rPr>
              <a:t>[PENDING] figure: rib-free count accuracy by transitional status; posterior calibration (tools/decode_sequence.py)</a:t>
            </a:r>
          </a:p>
        </p:txBody>
      </p:sp>
      <p:sp>
        <p:nvSpPr>
          <p:cNvPr id="30" name="TextBox 29"/>
          <p:cNvSpPr txBox="1"/>
          <p:nvPr/>
        </p:nvSpPr>
        <p:spPr>
          <a:xfrm>
            <a:off x="256032" y="2850000"/>
            <a:ext cx="7900000" cy="500000"/>
          </a:xfrm>
          <a:prstGeom prst="rect">
            <a:avLst/>
          </a:prstGeom>
          <a:noFill/>
        </p:spPr>
        <p:txBody>
          <a:bodyPr wrap="square">
            <a:spAutoFit/>
          </a:bodyPr>
          <a:lstStyle/>
          <a:p>
            <a:r>
              <a:rPr sz="1300" b="1">
                <a:solidFill>
                  <a:srgbClr val="B5533C"/>
                </a:solidFill>
              </a:rPr>
              <a:t>[PENDING] table: where ground-truth twelfth-rib, thirteenth-rib and lumbar-rib voxels went; lumbar-rib recall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Results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The same idea on the image the surgeon looks at</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Rounded Rectangle 24"/>
          <p:cNvSpPr/>
          <p:nvPr/>
        </p:nvSpPr>
        <p:spPr>
          <a:xfrm>
            <a:off x="274320" y="1371600"/>
            <a:ext cx="5623560" cy="45720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095945"/>
                </a:solidFill>
                <a:latin typeface="Arial"/>
              </a:rPr>
              <a:t>A multi-source radiograph corpus</a:t>
            </a:r>
          </a:p>
        </p:txBody>
      </p:sp>
      <p:sp>
        <p:nvSpPr>
          <p:cNvPr id="26" name="TextBox 25"/>
          <p:cNvSpPr txBox="1"/>
          <p:nvPr/>
        </p:nvSpPr>
        <p:spPr>
          <a:xfrm>
            <a:off x="27432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33,943 vertebra instances on 5,401 films: BUU-LSPINE 19,991; AASCE full-spine 8,069; NHANES II 3,217; Mendeley 2,666.</a:t>
            </a:r>
          </a:p>
          <a:p>
            <a:r>
              <a:rPr sz="1700">
                <a:solidFill>
                  <a:srgbClr val="000000"/>
                </a:solidFill>
                <a:latin typeface="Arial"/>
              </a:rPr>
              <a:t>Plus 4,000 rendered radiographs from CTSpinoPelvic1K whose corners are exact by construction.</a:t>
            </a:r>
          </a:p>
          <a:p>
            <a:r>
              <a:rPr sz="1700">
                <a:solidFill>
                  <a:srgbClr val="000000"/>
                </a:solidFill>
                <a:latin typeface="Arial"/>
              </a:rPr>
              <a:t>Levels recorded as annotated or inferred from position, never invented.</a:t>
            </a:r>
          </a:p>
        </p:txBody>
      </p:sp>
      <p:sp>
        <p:nvSpPr>
          <p:cNvPr id="27" name="Rounded Rectangle 26"/>
          <p:cNvSpPr/>
          <p:nvPr/>
        </p:nvSpPr>
        <p:spPr>
          <a:xfrm>
            <a:off x="6309360" y="1371600"/>
            <a:ext cx="5623560" cy="457200"/>
          </a:xfrm>
          <a:prstGeom prst="roundRect">
            <a:avLst/>
          </a:prstGeom>
          <a:solidFill>
            <a:srgbClr val="09594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spcAft>
                <a:spcPts val="0"/>
              </a:spcAft>
            </a:pPr>
            <a:r>
              <a:rPr sz="1500">
                <a:solidFill>
                  <a:srgbClr val="FFFFFF"/>
                </a:solidFill>
                <a:latin typeface="Arial"/>
              </a:rPr>
              <a:t>A class-agnostic corner detector</a:t>
            </a:r>
          </a:p>
        </p:txBody>
      </p:sp>
      <p:sp>
        <p:nvSpPr>
          <p:cNvPr id="28" name="TextBox 27"/>
          <p:cNvSpPr txBox="1"/>
          <p:nvPr/>
        </p:nvSpPr>
        <p:spPr>
          <a:xfrm>
            <a:off x="6309360" y="2011680"/>
            <a:ext cx="5623560" cy="23774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Baseline on 6,073 instances: AP50 0.957, corners within 10 percent of body size 77 percent.</a:t>
            </a:r>
          </a:p>
          <a:p>
            <a:r>
              <a:rPr sz="1700">
                <a:solidFill>
                  <a:srgbClr val="000000"/>
                </a:solidFill>
                <a:latin typeface="Arial"/>
              </a:rPr>
              <a:t>Retraining on the full corpus now. [PENDING] v2 numbers.</a:t>
            </a:r>
          </a:p>
          <a:p>
            <a:r>
              <a:rPr sz="1700">
                <a:solidFill>
                  <a:srgbClr val="000000"/>
                </a:solidFill>
                <a:latin typeface="Arial"/>
              </a:rPr>
              <a:t>Fails today on outside films: post-operative, instrumented, thoracic levels present.</a:t>
            </a:r>
          </a:p>
        </p:txBody>
      </p:sp>
      <p:sp>
        <p:nvSpPr>
          <p:cNvPr id="29" name="Rounded Rectangle 28"/>
          <p:cNvSpPr/>
          <p:nvPr/>
        </p:nvSpPr>
        <p:spPr>
          <a:xfrm>
            <a:off x="274320" y="4663440"/>
            <a:ext cx="11658600" cy="86868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900">
                <a:solidFill>
                  <a:srgbClr val="095945"/>
                </a:solidFill>
                <a:latin typeface="Arial"/>
              </a:rPr>
              <a:t>Aim: the level named on the intraoperative film, from local shape, before the incision, with a probability attached.</a:t>
            </a:r>
          </a:p>
        </p:txBody>
      </p:sp>
      <p:sp>
        <p:nvSpPr>
          <p:cNvPr id="30" name="TextBox 29"/>
          <p:cNvSpPr txBox="1"/>
          <p:nvPr/>
        </p:nvSpPr>
        <p:spPr>
          <a:xfrm>
            <a:off x="1325880" y="5989320"/>
            <a:ext cx="10424160" cy="365760"/>
          </a:xfrm>
          <a:prstGeom prst="rect">
            <a:avLst/>
          </a:prstGeom>
          <a:noFill/>
        </p:spPr>
        <p:txBody>
          <a:bodyPr wrap="square" anchor="t" lIns="0" rIns="0" tIns="0" bIns="0">
            <a:spAutoFit/>
          </a:bodyPr>
          <a:lstStyle/>
          <a:p>
            <a:pPr algn="l">
              <a:spcBef>
                <a:spcPts val="0"/>
              </a:spcBef>
              <a:spcAft>
                <a:spcPts val="100"/>
              </a:spcAft>
            </a:pPr>
            <a:r>
              <a:rPr sz="900">
                <a:solidFill>
                  <a:srgbClr val="595959"/>
                </a:solidFill>
                <a:latin typeface="Arial"/>
              </a:rPr>
              <a:t>8. Klinwichit P, et al. BUU-LSPINE, 2023.   9. Wu H, et al. AASCE MICCAI 2019.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Conclusions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Conclusions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11658600" cy="3657600"/>
          </a:xfrm>
          <a:prstGeom prst="rect">
            <a:avLst/>
          </a:prstGeom>
          <a:noFill/>
        </p:spPr>
        <p:txBody>
          <a:bodyPr wrap="square" anchor="t" lIns="0" rIns="0" tIns="0" bIns="0">
            <a:spAutoFit/>
          </a:bodyPr>
          <a:lstStyle/>
          <a:p>
            <a:pPr algn="l">
              <a:spcBef>
                <a:spcPts val="0"/>
              </a:spcBef>
              <a:spcAft>
                <a:spcPts val="1600"/>
              </a:spcAft>
            </a:pPr>
            <a:r>
              <a:rPr sz="1800">
                <a:solidFill>
                  <a:srgbClr val="000000"/>
                </a:solidFill>
                <a:latin typeface="Arial"/>
              </a:rPr>
              <a:t>A lumbar level can be named without counting from C2, because a T12 and an L1 are different shapes in the same patient, and a lumbarized S1 keeps sacral features. CTSpinoPelvic1K makes that measurable on 802 records, with the anomalies recorded as themselves rather than forced into an ordinary level.</a:t>
            </a:r>
          </a:p>
          <a:p>
            <a:r>
              <a:rPr sz="1800">
                <a:solidFill>
                  <a:srgbClr val="000000"/>
                </a:solidFill>
                <a:latin typeface="Arial"/>
              </a:rPr>
              <a:t>Six rib-free bodies are, in this cohort, a true L6 or a caudally shifted sacral segment; the thoracolumbar border is not the usual culprit. Where the evidence sits at both ends, the honest output is a probability, and that is what the decoder gives.</a:t>
            </a:r>
          </a:p>
          <a:p>
            <a:r>
              <a:rPr sz="1800">
                <a:solidFill>
                  <a:srgbClr val="000000"/>
                </a:solidFill>
                <a:latin typeface="Arial"/>
              </a:rPr>
              <a:t>For the surgeon the origin of the border vertebra decides where the mobile junction is, what the pedicle will take, which root exits beneath it, and which endplate the pelvic parameters were measured on.</a:t>
            </a:r>
          </a:p>
        </p:txBody>
      </p:sp>
      <p:sp>
        <p:nvSpPr>
          <p:cNvPr id="26" name="Rounded Rectangle 25"/>
          <p:cNvSpPr/>
          <p:nvPr/>
        </p:nvSpPr>
        <p:spPr>
          <a:xfrm>
            <a:off x="256032" y="4892040"/>
            <a:ext cx="11658600" cy="777240"/>
          </a:xfrm>
          <a:prstGeom prst="roundRect">
            <a:avLst/>
          </a:prstGeom>
          <a:solidFill>
            <a:srgbClr val="E8F0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700">
                <a:solidFill>
                  <a:srgbClr val="095945"/>
                </a:solidFill>
                <a:latin typeface="Arial"/>
              </a:rPr>
              <a:t>Identity by local shape, with a posterior over the readings, is the deliverable a wrong-level detector needs and a count can never give.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Limitations</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Limitations and next steps</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5349240" cy="4297680"/>
          </a:xfrm>
          <a:prstGeom prst="rect">
            <a:avLst/>
          </a:prstGeom>
          <a:noFill/>
        </p:spPr>
        <p:txBody>
          <a:bodyPr wrap="square" anchor="t" lIns="0" rIns="0" tIns="0" bIns="0">
            <a:spAutoFit/>
          </a:bodyPr>
          <a:lstStyle/>
          <a:p>
            <a:pPr algn="l">
              <a:spcBef>
                <a:spcPts val="0"/>
              </a:spcBef>
              <a:spcAft>
                <a:spcPts val="1400"/>
              </a:spcAft>
            </a:pPr>
            <a:r>
              <a:rPr sz="1800">
                <a:solidFill>
                  <a:srgbClr val="095945"/>
                </a:solidFill>
                <a:latin typeface="Arial"/>
              </a:rPr>
              <a:t>Limitations</a:t>
            </a:r>
          </a:p>
          <a:p>
            <a:r>
              <a:rPr sz="1800">
                <a:solidFill>
                  <a:srgbClr val="095945"/>
                </a:solidFill>
                <a:latin typeface="Arial"/>
              </a:rPr>
              <a:t>Thoracic ground truth is field-of-view limited; no scan contains C2, so the readings are morphological consistency, not developmental truth.</a:t>
            </a:r>
          </a:p>
          <a:p>
            <a:r>
              <a:rPr sz="1800">
                <a:solidFill>
                  <a:srgbClr val="095945"/>
                </a:solidFill>
                <a:latin typeface="Arial"/>
              </a:rPr>
              <a:t>33 Castellvi grades, two residents' consensus; the label-based readings rest on 18 six-lumbar records.</a:t>
            </a:r>
          </a:p>
          <a:p>
            <a:r>
              <a:rPr sz="1800">
                <a:solidFill>
                  <a:srgbClr val="095945"/>
                </a:solidFill>
                <a:latin typeface="Arial"/>
              </a:rPr>
              <a:t>Supine screening cohort over 50; ribs are triaged-review pseudolabels; no held-out test set beyond the folds.</a:t>
            </a:r>
          </a:p>
        </p:txBody>
      </p:sp>
      <p:sp>
        <p:nvSpPr>
          <p:cNvPr id="26" name="TextBox 25"/>
          <p:cNvSpPr txBox="1"/>
          <p:nvPr/>
        </p:nvSpPr>
        <p:spPr>
          <a:xfrm>
            <a:off x="6172200" y="1371600"/>
            <a:ext cx="5349240" cy="4297680"/>
          </a:xfrm>
          <a:prstGeom prst="rect">
            <a:avLst/>
          </a:prstGeom>
          <a:noFill/>
        </p:spPr>
        <p:txBody>
          <a:bodyPr wrap="square" anchor="t" lIns="0" rIns="0" tIns="0" bIns="0">
            <a:spAutoFit/>
          </a:bodyPr>
          <a:lstStyle/>
          <a:p>
            <a:pPr algn="l">
              <a:spcBef>
                <a:spcPts val="0"/>
              </a:spcBef>
              <a:spcAft>
                <a:spcPts val="1400"/>
              </a:spcAft>
            </a:pPr>
            <a:r>
              <a:rPr sz="1800">
                <a:solidFill>
                  <a:srgbClr val="095945"/>
                </a:solidFill>
                <a:latin typeface="Arial"/>
              </a:rPr>
              <a:t>Next steps</a:t>
            </a:r>
          </a:p>
          <a:p>
            <a:r>
              <a:rPr sz="1800">
                <a:solidFill>
                  <a:srgbClr val="095945"/>
                </a:solidFill>
                <a:latin typeface="Arial"/>
              </a:rPr>
              <a:t>Run the released weights over the 374 VerSe scans to add S1 and the anomaly classes, and read Castellvi on the whole cohort.</a:t>
            </a:r>
          </a:p>
          <a:p>
            <a:r>
              <a:rPr sz="1800">
                <a:solidFill>
                  <a:srgbClr val="095945"/>
                </a:solidFill>
                <a:latin typeface="Arial"/>
              </a:rPr>
              <a:t>Replace the S1 carve with one that follows anatomy.</a:t>
            </a:r>
          </a:p>
          <a:p>
            <a:r>
              <a:rPr sz="1800">
                <a:solidFill>
                  <a:srgbClr val="095945"/>
                </a:solidFill>
                <a:latin typeface="Arial"/>
              </a:rPr>
              <a:t>Train the corner detector on the enlarged radiograph corpus and on real intraoperative films with the operated level labelled.</a:t>
            </a:r>
          </a:p>
          <a:p>
            <a:r>
              <a:rPr sz="1800">
                <a:solidFill>
                  <a:srgbClr val="095945"/>
                </a:solidFill>
                <a:latin typeface="Arial"/>
              </a:rPr>
              <a:t>Students: one command onboards a new annotator (openspineconsortium.com/onboarding).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 name="Rectangle 9">
            <a:extLst>
              <a:ext uri="{FF2B5EF4-FFF2-40B4-BE49-F238E27FC236}">
                <a16:creationId xmlns:a16="http://schemas.microsoft.com/office/drawing/2014/main" id="{E3405B6D-E4EF-6240-51F0-006123075BBB}"/>
              </a:ext>
            </a:extLst>
          </p:cNvPr>
          <p:cNvSpPr/>
          <p:nvPr/>
        </p:nvSpPr>
        <p:spPr>
          <a:xfrm>
            <a:off x="0" y="6341806"/>
            <a:ext cx="12192000"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2">
            <a:extLst>
              <a:ext uri="{FF2B5EF4-FFF2-40B4-BE49-F238E27FC236}">
                <a16:creationId xmlns:a16="http://schemas.microsoft.com/office/drawing/2014/main" id="{15659D12-73EA-E240-908C-93CE0F73D77E}"/>
              </a:ext>
            </a:extLst>
          </p:cNvPr>
          <p:cNvSpPr txBox="1">
            <a:spLocks/>
          </p:cNvSpPr>
          <p:nvPr/>
        </p:nvSpPr>
        <p:spPr>
          <a:xfrm>
            <a:off x="6096000" y="278282"/>
            <a:ext cx="5842227" cy="252412"/>
          </a:xfrm>
          <a:prstGeom prst="rect">
            <a:avLst/>
          </a:prstGeom>
        </p:spPr>
        <p:txBody>
          <a:bodyPr anchor="ctr">
            <a:noAutofit/>
          </a:bodyPr>
          <a:lstStyle>
            <a:lvl1pPr marL="0" indent="0" algn="r"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None/>
              <a:defRPr sz="1400" b="0" kern="1200" spc="0" baseline="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1800"/>
              </a:spcAft>
              <a:buClr>
                <a:sysClr val="windowText" lastClr="000000">
                  <a:lumMod val="50000"/>
                  <a:lumOff val="50000"/>
                </a:sysClr>
              </a:buClr>
              <a:buSzPct val="100000"/>
              <a:buFont typeface="Wingdings" charset="2"/>
              <a:buNone/>
              <a:tabLst/>
              <a:defRPr/>
            </a:pPr>
            <a:r>
              <a:rPr sz="1600">
                <a:solidFill>
                  <a:srgbClr val="000000"/>
                </a:solidFill>
                <a:latin typeface="Arial"/>
              </a:rPr>
              <a:t>Thank you</a:t>
            </a:r>
          </a:p>
        </p:txBody>
      </p:sp>
      <p:sp>
        <p:nvSpPr>
          <p:cNvPr id="23" name="Rectangle 22">
            <a:extLst>
              <a:ext uri="{FF2B5EF4-FFF2-40B4-BE49-F238E27FC236}">
                <a16:creationId xmlns:a16="http://schemas.microsoft.com/office/drawing/2014/main" id="{36B0416E-46C2-FAE1-A331-71C21E8DAF89}"/>
              </a:ext>
            </a:extLst>
          </p:cNvPr>
          <p:cNvSpPr/>
          <p:nvPr/>
        </p:nvSpPr>
        <p:spPr>
          <a:xfrm>
            <a:off x="163563" y="591781"/>
            <a:ext cx="45719" cy="516194"/>
          </a:xfrm>
          <a:prstGeom prst="rect">
            <a:avLst/>
          </a:prstGeom>
          <a:solidFill>
            <a:srgbClr val="0959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A78E6464-B36E-2FA0-5FBC-802CDDCF5248}"/>
              </a:ext>
            </a:extLst>
          </p:cNvPr>
          <p:cNvGrpSpPr/>
          <p:nvPr/>
        </p:nvGrpSpPr>
        <p:grpSpPr>
          <a:xfrm>
            <a:off x="590329" y="5739310"/>
            <a:ext cx="585149" cy="1118690"/>
            <a:chOff x="590329" y="5739310"/>
            <a:chExt cx="585149" cy="1118690"/>
          </a:xfrm>
          <a:effectLst>
            <a:outerShdw blurRad="50800" dist="38100" dir="2700000" algn="tl" rotWithShape="0">
              <a:prstClr val="black">
                <a:alpha val="40000"/>
              </a:prstClr>
            </a:outerShdw>
          </a:effectLst>
        </p:grpSpPr>
        <p:sp>
          <p:nvSpPr>
            <p:cNvPr id="8" name="Rectangle 7">
              <a:extLst>
                <a:ext uri="{FF2B5EF4-FFF2-40B4-BE49-F238E27FC236}">
                  <a16:creationId xmlns:a16="http://schemas.microsoft.com/office/drawing/2014/main" id="{AA843CE5-7294-818A-BAF9-171B31491D2E}"/>
                </a:ext>
              </a:extLst>
            </p:cNvPr>
            <p:cNvSpPr/>
            <p:nvPr/>
          </p:nvSpPr>
          <p:spPr>
            <a:xfrm>
              <a:off x="590329" y="5739310"/>
              <a:ext cx="585149" cy="1118690"/>
            </a:xfrm>
            <a:prstGeom prst="rect">
              <a:avLst/>
            </a:prstGeom>
            <a:solidFill>
              <a:srgbClr val="0F5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a:extLst>
                <a:ext uri="{FF2B5EF4-FFF2-40B4-BE49-F238E27FC236}">
                  <a16:creationId xmlns:a16="http://schemas.microsoft.com/office/drawing/2014/main" id="{471BAED9-6F26-1624-1103-748BF6ADB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7223" y="5892658"/>
              <a:ext cx="491360" cy="449148"/>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itle 11">
            <a:extLst>
              <a:ext uri="{FF2B5EF4-FFF2-40B4-BE49-F238E27FC236}">
                <a16:creationId xmlns:a16="http://schemas.microsoft.com/office/drawing/2014/main" id="{EDCE07A5-9601-BCB1-6C1F-9466FCE9194A}"/>
              </a:ext>
            </a:extLst>
          </p:cNvPr>
          <p:cNvSpPr txBox="1">
            <a:spLocks/>
          </p:cNvSpPr>
          <p:nvPr/>
        </p:nvSpPr>
        <p:spPr>
          <a:xfrm>
            <a:off x="253773" y="502920"/>
            <a:ext cx="11151215" cy="731520"/>
          </a:xfrm>
          <a:prstGeom prst="rect">
            <a:avLst/>
          </a:prstGeom>
        </p:spPr>
        <p:txBody>
          <a:bodyPr anchor="ctr">
            <a:noAutofit/>
          </a:bodyPr>
          <a:lstStyle>
            <a:lvl1pPr algn="l" defTabSz="457200" rtl="0" eaLnBrk="1" latinLnBrk="0" hangingPunct="1">
              <a:lnSpc>
                <a:spcPct val="90000"/>
              </a:lnSpc>
              <a:spcBef>
                <a:spcPct val="0"/>
              </a:spcBef>
              <a:buNone/>
              <a:defRPr sz="4000" b="1" i="0" kern="100" spc="0" baseline="0">
                <a:solidFill>
                  <a:schemeClr val="tx1"/>
                </a:solidFill>
                <a:latin typeface="Arial"/>
                <a:ea typeface="+mj-ea"/>
                <a:cs typeface="Arial"/>
              </a:defRPr>
            </a:lvl1pPr>
          </a:lstStyle>
          <a:p>
            <a:pPr lvl="0">
              <a:defRPr/>
            </a:pPr>
            <a:r>
              <a:rPr sz="2800">
                <a:solidFill>
                  <a:srgbClr val="000000"/>
                </a:solidFill>
                <a:latin typeface="Arial"/>
              </a:rPr>
              <a:t>Acknowledgments and data availability</a:t>
            </a:r>
            <a:endParaRPr lang="en-US" sz="3000" b="0" dirty="0">
              <a:solidFill>
                <a:sysClr val="windowText" lastClr="000000"/>
              </a:solidFill>
            </a:endParaRPr>
          </a:p>
        </p:txBody>
      </p:sp>
      <p:pic>
        <p:nvPicPr>
          <p:cNvPr id="5" name="Picture 4" descr="A green clock with a arrow pointing to the center&#10;&#10;Description automatically generated">
            <a:extLst>
              <a:ext uri="{FF2B5EF4-FFF2-40B4-BE49-F238E27FC236}">
                <a16:creationId xmlns:a16="http://schemas.microsoft.com/office/drawing/2014/main" id="{2C605A39-77DB-8443-0907-DA4F7707B09A}"/>
              </a:ext>
            </a:extLst>
          </p:cNvPr>
          <p:cNvPicPr>
            <a:picLocks noChangeAspect="1"/>
          </p:cNvPicPr>
          <p:nvPr/>
        </p:nvPicPr>
        <p:blipFill>
          <a:blip r:embed="rId3"/>
          <a:stretch>
            <a:fillRect/>
          </a:stretch>
        </p:blipFill>
        <p:spPr>
          <a:xfrm>
            <a:off x="9834277" y="95297"/>
            <a:ext cx="663964" cy="618383"/>
          </a:xfrm>
          <a:prstGeom prst="rect">
            <a:avLst/>
          </a:prstGeom>
        </p:spPr>
      </p:pic>
      <p:sp>
        <p:nvSpPr>
          <p:cNvPr id="24" name="TextBox 23"/>
          <p:cNvSpPr txBox="1"/>
          <p:nvPr/>
        </p:nvSpPr>
        <p:spPr>
          <a:xfrm>
            <a:off x="3657600" y="6446520"/>
            <a:ext cx="4873752" cy="274320"/>
          </a:xfrm>
          <a:prstGeom prst="rect">
            <a:avLst/>
          </a:prstGeom>
          <a:noFill/>
        </p:spPr>
        <p:txBody>
          <a:bodyPr wrap="square" anchor="t" lIns="0" rIns="0" tIns="0" bIns="0">
            <a:spAutoFit/>
          </a:bodyPr>
          <a:lstStyle/>
          <a:p>
            <a:pPr algn="ctr">
              <a:spcBef>
                <a:spcPts val="0"/>
              </a:spcBef>
              <a:spcAft>
                <a:spcPts val="0"/>
              </a:spcAft>
            </a:pPr>
            <a:r>
              <a:rPr sz="1000">
                <a:solidFill>
                  <a:srgbClr val="FFFFFF"/>
                </a:solidFill>
                <a:latin typeface="Arial"/>
              </a:rPr>
              <a:t>CNS 2026  ·  Washington, DC  ·  Abstract [number pending]</a:t>
            </a:r>
          </a:p>
        </p:txBody>
      </p:sp>
      <p:sp>
        <p:nvSpPr>
          <p:cNvPr id="25" name="TextBox 24"/>
          <p:cNvSpPr txBox="1"/>
          <p:nvPr/>
        </p:nvSpPr>
        <p:spPr>
          <a:xfrm>
            <a:off x="256032" y="1371600"/>
            <a:ext cx="6675120" cy="4206240"/>
          </a:xfrm>
          <a:prstGeom prst="rect">
            <a:avLst/>
          </a:prstGeom>
          <a:noFill/>
        </p:spPr>
        <p:txBody>
          <a:bodyPr wrap="square" anchor="t" lIns="0" rIns="0" tIns="0" bIns="0">
            <a:spAutoFit/>
          </a:bodyPr>
          <a:lstStyle/>
          <a:p>
            <a:pPr algn="l">
              <a:spcBef>
                <a:spcPts val="0"/>
              </a:spcBef>
              <a:spcAft>
                <a:spcPts val="1600"/>
              </a:spcAft>
            </a:pPr>
            <a:r>
              <a:rPr sz="1700">
                <a:solidFill>
                  <a:srgbClr val="000000"/>
                </a:solidFill>
                <a:latin typeface="Arial"/>
              </a:rPr>
              <a:t>Annotators and coauthors: Ashley Schehr, Annika Tekumulla, Margret Khoushi, Ryan Christian, Dane Hubers, Faris Mahjoub, Hassan Saad, Mia Sooch, Sathyagopal Siddapureddy, Michael McLellan, Jerick Kim (WSU School of Medicine); Miraziz Ismoilov and Nizar Alnabahneh (Radiology, DMC/WSU).</a:t>
            </a:r>
          </a:p>
          <a:p>
            <a:r>
              <a:rPr sz="1700">
                <a:solidFill>
                  <a:srgbClr val="000000"/>
                </a:solidFill>
                <a:latin typeface="Arial"/>
              </a:rPr>
              <a:t>Data: CTSpinoPelvic1K v10, doi.org/10.5281/zenodo.22139642 (CC BY-NC-SA 4.0); build archive doi.org/10.5281/zenodo.22647933.</a:t>
            </a:r>
          </a:p>
          <a:p>
            <a:r>
              <a:rPr sz="1700">
                <a:solidFill>
                  <a:srgbClr val="000000"/>
                </a:solidFill>
                <a:latin typeface="Arial"/>
              </a:rPr>
              <a:t>Code and weights: github.com/OpenSpineConsortium/CTSpinoPelvic1K; huggingface.co/OpenSpineConsortium.</a:t>
            </a:r>
          </a:p>
          <a:p>
            <a:r>
              <a:rPr sz="1700">
                <a:solidFill>
                  <a:srgbClr val="000000"/>
                </a:solidFill>
                <a:latin typeface="Arial"/>
              </a:rPr>
              <a:t>Imaging: TCIA CT COLONOGRAPHY; annotations derive from CTSpine1K and CTPelvic1K.</a:t>
            </a:r>
          </a:p>
        </p:txBody>
      </p:sp>
      <p:sp>
        <p:nvSpPr>
          <p:cNvPr id="26" name="Rounded Rectangle 25"/>
          <p:cNvSpPr/>
          <p:nvPr/>
        </p:nvSpPr>
        <p:spPr>
          <a:xfrm>
            <a:off x="7406640" y="2103120"/>
            <a:ext cx="4206240" cy="1371600"/>
          </a:xfrm>
          <a:prstGeom prst="roundRect">
            <a:avLst/>
          </a:prstGeom>
          <a:solidFill>
            <a:srgbClr val="E8F0EE"/>
          </a:solidFill>
          <a:ln w="15875">
            <a:solidFill>
              <a:srgbClr val="095945"/>
            </a:solid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ctr">
              <a:spcAft>
                <a:spcPts val="0"/>
              </a:spcAft>
            </a:pPr>
            <a:r>
              <a:rPr sz="1600">
                <a:solidFill>
                  <a:srgbClr val="095945"/>
                </a:solidFill>
                <a:latin typeface="Arial"/>
              </a:rPr>
              <a:t>Questions</a:t>
            </a:r>
          </a:p>
          <a:p>
            <a:r>
              <a:rPr sz="1600">
                <a:solidFill>
                  <a:srgbClr val="095945"/>
                </a:solidFill>
                <a:latin typeface="Arial"/>
              </a:rPr>
              <a:t>gregory.schwing@med.wayne.edu</a:t>
            </a:r>
          </a:p>
          <a:p>
            <a:r>
              <a:rPr sz="1600">
                <a:solidFill>
                  <a:srgbClr val="095945"/>
                </a:solidFill>
                <a:latin typeface="Arial"/>
              </a:rPr>
              <a:t>openspineconsortium.com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59283</TotalTime>
  <Words>1678</Words>
  <Application>Microsoft Office PowerPoint</Application>
  <PresentationFormat>Widescreen</PresentationFormat>
  <Paragraphs>193</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Gill Sans MT</vt:lpstr>
      <vt:lpstr>GuardianSans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SLEHS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SLEHS</dc:creator>
  <cp:lastModifiedBy>Gregory Schwing</cp:lastModifiedBy>
  <cp:revision>501</cp:revision>
  <dcterms:created xsi:type="dcterms:W3CDTF">2016-06-08T12:30:36Z</dcterms:created>
  <dcterms:modified xsi:type="dcterms:W3CDTF">2026-08-15T16:45:35Z</dcterms:modified>
</cp:coreProperties>
</file>