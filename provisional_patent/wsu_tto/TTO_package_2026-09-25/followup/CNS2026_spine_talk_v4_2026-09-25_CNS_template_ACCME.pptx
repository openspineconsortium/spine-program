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4"/>
    <p:sldId id="257" r:id="rId3"/>
    <p:sldId id="258" r:id="rId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</p:sldIdLst>
  <p:sldSz cx="12192000" cy="6858000"/>
  <p:notesSz cx="6858000" cy="9144000"/>
  <p:embeddedFontLst>
    <p:embeddedFont>
      <p:font typeface="New Hero" panose="02000500000000000000" pitchFamily="50" charset="0"/>
      <p:regular r:id="rId5"/>
      <p:italic r:id="rId6"/>
    </p:embeddedFont>
    <p:embeddedFont>
      <p:font typeface="New Hero Medium" panose="02000600000000000000" pitchFamily="50" charset="0"/>
      <p:regular r:id="rId7"/>
      <p: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5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C5D9C-5792-771F-694B-77CA43049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5558" y="2192976"/>
            <a:ext cx="5482442" cy="907473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Dr. Faculty Name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7A35E-BEBE-B4D0-7E84-2C228CF60F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85558" y="3249879"/>
            <a:ext cx="5482442" cy="907473"/>
          </a:xfrm>
        </p:spPr>
        <p:txBody>
          <a:bodyPr/>
          <a:lstStyle>
            <a:lvl1pPr marL="0" indent="0" algn="l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Course Name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41D854B-C2B2-DDD8-28EF-A21EAB95E16D}"/>
              </a:ext>
            </a:extLst>
          </p:cNvPr>
          <p:cNvGrpSpPr/>
          <p:nvPr userDrawn="1"/>
        </p:nvGrpSpPr>
        <p:grpSpPr>
          <a:xfrm>
            <a:off x="847126" y="1001444"/>
            <a:ext cx="3392365" cy="5404342"/>
            <a:chOff x="1036632" y="919574"/>
            <a:chExt cx="3753081" cy="57237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1C177E0-77CF-B03F-06FA-088C1D0603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1827" y="2219010"/>
              <a:ext cx="3747886" cy="442432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F9E73F2-0D3C-7F75-3484-F28045CEC6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7022" y="919574"/>
              <a:ext cx="3742691" cy="69766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F29650-3D6A-FED0-9A7A-6C768EE2C654}"/>
                </a:ext>
              </a:extLst>
            </p:cNvPr>
            <p:cNvSpPr txBox="1"/>
            <p:nvPr userDrawn="1"/>
          </p:nvSpPr>
          <p:spPr>
            <a:xfrm>
              <a:off x="1036632" y="1733458"/>
              <a:ext cx="3753081" cy="39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</a:rPr>
                <a:t>Change is the only constant.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41E578DB-AFC7-16E4-ECF9-65CEB98447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068" y="214666"/>
            <a:ext cx="4049865" cy="700055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F253582-705B-B89C-A200-9E17D2D2C5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4775" y="4306782"/>
            <a:ext cx="5483225" cy="907473"/>
          </a:xfrm>
        </p:spPr>
        <p:txBody>
          <a:bodyPr>
            <a:normAutofit/>
          </a:bodyPr>
          <a:lstStyle>
            <a:lvl1pPr>
              <a:buNone/>
              <a:defRPr sz="1800" i="1"/>
            </a:lvl1pPr>
          </a:lstStyle>
          <a:p>
            <a:pPr lvl="0"/>
            <a:r>
              <a:rPr lang="en-US" dirty="0"/>
              <a:t>Month Day, 2026</a:t>
            </a:r>
          </a:p>
        </p:txBody>
      </p:sp>
    </p:spTree>
    <p:extLst>
      <p:ext uri="{BB962C8B-B14F-4D97-AF65-F5344CB8AC3E}">
        <p14:creationId xmlns:p14="http://schemas.microsoft.com/office/powerpoint/2010/main" val="7110986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6045-3FB1-8F2E-A028-FB95665FB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C1D1-BE5D-4237-1020-D5CE775F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35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2D3F5-1202-6847-63BD-4AC6A5ECB2C0}"/>
              </a:ext>
            </a:extLst>
          </p:cNvPr>
          <p:cNvSpPr/>
          <p:nvPr userDrawn="1"/>
        </p:nvSpPr>
        <p:spPr>
          <a:xfrm>
            <a:off x="0" y="5910242"/>
            <a:ext cx="12192000" cy="947758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E8012F-5BD4-739D-BDB0-CC13C8D4C5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440" y="5968249"/>
            <a:ext cx="4168239" cy="7769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2AA35E-FC7F-3AD6-8375-B0AF94E67B9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323" y="6024721"/>
            <a:ext cx="4168238" cy="72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62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6045-3FB1-8F2E-A028-FB95665FB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9286" y="365125"/>
            <a:ext cx="889956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C1D1-BE5D-4237-1020-D5CE775F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9286" y="1825625"/>
            <a:ext cx="8899566" cy="4349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2D3F5-1202-6847-63BD-4AC6A5ECB2C0}"/>
              </a:ext>
            </a:extLst>
          </p:cNvPr>
          <p:cNvSpPr/>
          <p:nvPr userDrawn="1"/>
        </p:nvSpPr>
        <p:spPr>
          <a:xfrm>
            <a:off x="0" y="0"/>
            <a:ext cx="1520042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8FB3A93-668A-1CF3-B918-CD631EB4E2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50" r="25049" b="5581"/>
          <a:stretch>
            <a:fillRect/>
          </a:stretch>
        </p:blipFill>
        <p:spPr>
          <a:xfrm>
            <a:off x="0" y="3462836"/>
            <a:ext cx="1520042" cy="33951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9D4793-B10F-8496-76F9-FE0FE36081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4" y="2524382"/>
            <a:ext cx="1353312" cy="252268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6D4AEB14-71E3-97E9-160E-A0BBA1A71054}"/>
              </a:ext>
            </a:extLst>
          </p:cNvPr>
          <p:cNvGrpSpPr/>
          <p:nvPr userDrawn="1"/>
        </p:nvGrpSpPr>
        <p:grpSpPr>
          <a:xfrm>
            <a:off x="82887" y="766440"/>
            <a:ext cx="1354267" cy="964978"/>
            <a:chOff x="10782960" y="633046"/>
            <a:chExt cx="1354267" cy="96497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FCFB381-6494-A153-C972-3B18E1B8A5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1498"/>
            <a:stretch>
              <a:fillRect/>
            </a:stretch>
          </p:blipFill>
          <p:spPr>
            <a:xfrm>
              <a:off x="10784059" y="633046"/>
              <a:ext cx="1352069" cy="422367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B64C24C-DAD1-0F23-28F8-6F5C083DA3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64"/>
            <a:stretch>
              <a:fillRect/>
            </a:stretch>
          </p:blipFill>
          <p:spPr>
            <a:xfrm>
              <a:off x="10782960" y="1281349"/>
              <a:ext cx="1354267" cy="3166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253C4AD-7231-2FE0-A5D7-FAF0BDD46E7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783437" y="1157717"/>
              <a:ext cx="13533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02226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A36C3F-FC84-C2F8-4A3E-63120A1D4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108BF-53B4-57C0-F90D-24E0BD570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665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85558" y="1350000"/>
            <a:ext cx="6500000" cy="1800000"/>
          </a:xfrm>
        </p:spPr>
        <p:txBody>
          <a:bodyPr wrap="square"/>
          <a:lstStyle/>
          <a:p>
            <a:r>
              <a:rPr sz="2800" b="1">
                <a:solidFill>
                  <a:srgbClr val="FFFFFF"/>
                </a:solidFill>
              </a:rPr>
              <a:t>SchwingNet: Naming a Vertebral Level From One C-arm Exposure, Without Counting From C2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85558" y="3250000"/>
            <a:ext cx="6500000" cy="1200000"/>
          </a:xfrm>
        </p:spPr>
        <p:txBody>
          <a:bodyPr wrap="square"/>
          <a:lstStyle/>
          <a:p>
            <a:r>
              <a:rPr sz="1600">
                <a:solidFill>
                  <a:srgbClr val="FFFFFF"/>
                </a:solidFill>
              </a:rPr>
              <a:t>Gregory J. Schwing, MD, PhD; Patrick Schwing; Miraziz Ismoilov, MD; Nizar Alnabahneh, MD; Loren Schwiebert, PhD; and the OpenSpineConsortium annotators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5185558" y="4550000"/>
            <a:ext cx="6500000" cy="1600000"/>
          </a:xfrm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Department of General Surgery, Detroit Medical Center and Wayne State University, Detroit, MI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Radiology and Computer Science, Wayne State University; LSU Health Sciences Center New Orleans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CNS 2026 Annual Meeting  ·  Washington, DC  ·  [session and date pending]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Where this is going</a:t>
            </a:r>
          </a:p>
        </p:txBody>
      </p:sp>
      <p:pic>
        <p:nvPicPr>
          <p:cNvPr id="3" name="Picture 2" descr="sn_fig4_b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000" y="1420000"/>
            <a:ext cx="3900000" cy="34788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00000" y="4958873"/>
            <a:ext cx="39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real lateral C-arm exposure; each body named from its shape, with its posterior.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0000" y="142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0000" y="1400000"/>
            <a:ext cx="535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91D63"/>
                </a:solidFill>
              </a:rPr>
              <a:t>A level is counted, not marked, and the count fails on transitional anatomy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0000" y="236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0" y="2340000"/>
            <a:ext cx="535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91D63"/>
                </a:solidFill>
              </a:rPr>
              <a:t>Registered labels inherit the planning read, and the planning read fails there too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0000" y="330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0000" y="3280000"/>
            <a:ext cx="535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91D63"/>
                </a:solidFill>
              </a:rPr>
              <a:t>Hypothesis: a transitional vertebra has a shape a network can learn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0000" y="424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0" y="4220000"/>
            <a:ext cx="535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91D63"/>
                </a:solidFill>
              </a:rPr>
              <a:t>SchwingNet on a C-arm it never saw: name, count, coupled call, stop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0000" y="518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0" y="5160000"/>
            <a:ext cx="535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91D63"/>
                </a:solidFill>
              </a:rPr>
              <a:t>What a transitional test needs, and where the persons will come from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A level is counted, not marked, and the count is wrong often</a:t>
            </a:r>
          </a:p>
        </p:txBody>
      </p:sp>
      <p:pic>
        <p:nvPicPr>
          <p:cNvPr id="3" name="Picture 2" descr="cited_strong2022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3763356" cy="33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00000"/>
            <a:ext cx="3763356" cy="1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Strong et al. 2022, Figure 3: intraoperative fluoroscopy, needle at the T10 pedicle, counted from the sacrum. J Neurosurg Spine 36:792 (PMC10193475); permission pending.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3356" y="1420000"/>
            <a:ext cx="6086644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Half of spine surgeons report a wrong-level operation in their career (Mody 2008; Groff 2013)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Registry of 34,544 operations: 0.12 %, thoracic 0.42 % (Furuya 2026)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The first exposed level is wrong in 4–15 % before the check film (Ammerman 2006; Dablouk 2019)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No neurophysiological check between T1 and L2; verification protocols miss a third (Longo 2012)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3356" y="5200000"/>
            <a:ext cx="6086644" cy="11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C70B7"/>
                </a:solidFill>
              </a:rPr>
              <a:t>The remedy on offer is another 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1. Mody MG, et al. Spine 2008;33:194.   2. Groff MW, et al. World Neurosurg 2013;79:585.   3. Furuya M, et al. Bone Joint J 2026;108-B:673.   4. Dablouk MO, et al. Br J Neurosurg 2019.   5. Ammerman JM, et al. Surg Neurol 2006.   6. Kirshblum SC, et al. J Spinal Cord Med 2011.   7. Longo UG, et al. J Bone Joint Surg Br 2012;94-B:1546.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Transitional anatomy changes the count</a:t>
            </a:r>
          </a:p>
        </p:txBody>
      </p:sp>
      <p:pic>
        <p:nvPicPr>
          <p:cNvPr id="3" name="Picture 2" descr="big_fig1_ct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676" y="1420000"/>
            <a:ext cx="6956647" cy="2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380000"/>
            <a:ext cx="101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Labelled CT, public de-identified records (CTSpinoPelvic1K). Bar, 20 mm.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770000"/>
            <a:ext cx="10150000" cy="15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191D63"/>
                </a:solidFill>
              </a:rPr>
              <a:t>8.8 % of 3,147 full-length radiographs lack 24 presacral segments (Sabri 2025)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191D63"/>
                </a:solidFill>
              </a:rPr>
              <a:t>The count was wrong in 38 of 71 patients with a transitional vertebra (Nakagawa 2017)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191D63"/>
                </a:solidFill>
              </a:rPr>
              <a:t>The truth is on CT. No public radiograph or C-arm frame carries a human-read T13 or Castellvi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8. Sabri SA, et al. Neurosurg Focus 2025;58(6):E13.   9. Nakagawa T, et al. 2017.   10. Castellvi AE, et al. Spine 1984;9:493.   Figure: SchwingNet manuscript (in preparation), Figure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a wrong level costs, and what avoiding it costs</a:t>
            </a:r>
          </a:p>
        </p:txBody>
      </p:sp>
      <p:pic>
        <p:nvPicPr>
          <p:cNvPr id="3" name="Picture 2" descr="cited_cost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5900000" cy="22621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3762112"/>
            <a:ext cx="5900000" cy="2537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Left: Bettis et al. 2026, Figure 1, National Practitioner Data Bank never-event payments 1991–2025 (open access). Right: AJNR 2023;44:618, Figure 1, fiducial placed at T4 (PMC10171395). Permission pending.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0000" y="1420000"/>
            <a:ext cx="39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17 % of events lead to legal action; one in five Spine Section surgeons has been sued (Mody 2008; Groff 2013)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81 % of litigated cases paid; median never-event payment $75,220 (Goodkin 2004; Bettis 2026)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Avoiding it: a gold fiducial, 52 min and 183 mGy per patient, 179 patients at one centre (AJNR 2023)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0000" y="5200000"/>
            <a:ext cx="3950000" cy="11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C70B7"/>
                </a:solidFill>
              </a:rPr>
              <a:t>Derived, unpublished: roughly 420–1,900 US wrong-level operations a year; indemnity alone about $8–37 million.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11. Goodkin R, Laska LL. Surg Neurol 2004;61:323.   12. Bettis T, et al. Patient Saf Surg 2026.   13. Machin JT, et al. Eur Spine J 2018;27:2693.   14. AJNR Am J Neuroradiol 2023;44:618.   15. Childers CP, Maggard-Gibbons M. JAMA Surg 2018;153:e176233.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label on the film is only as right as the planning read</a:t>
            </a:r>
          </a:p>
        </p:txBody>
      </p:sp>
      <p:pic>
        <p:nvPicPr>
          <p:cNvPr id="3" name="Picture 2" descr="cited_levelcheck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3760683" cy="33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00000"/>
            <a:ext cx="3760683" cy="1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Top: De Silva et al. 2016, Figure 1 (Spine; PMC5045321). Bottom: Manbachi et al. 2018, Figure 6, labels on a 13th rib and a lumbarised S1 (Ann Biomed Eng; PMC9107073). Permission pending.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683" y="1420000"/>
            <a:ext cx="6089317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LevelCheck registers preoperative CT labels onto the film: 100 % placement, 97.6 % surgeon reads (De Silva 2016; Manbachi 2018)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Scored against the imported labels. On a transitional spine the label is only as right as the planning read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Registration-free naming on real C-arm images: 73 % (Zhang 2023); cadaver long-length images 88 % (Huang 2022)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683" y="5200000"/>
            <a:ext cx="6089317" cy="11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C70B7"/>
                </a:solidFill>
              </a:rPr>
              <a:t>Nothing published names a level from one exposure alone, and nothing is tested on a transitional spine.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16. Otake Y, et al. Phys Med Biol 2012;57:5485.   17. Lo SFL, et al. Spine 2015.   18. De Silva T, et al. Spine 2016.   19. Manbachi A, et al. Ann Biomed Eng 2018;46:1548.   20. Peh WCG, et al. 1999.   21. Zhang R, et al. J Xray Sci Technol 2023.   22. Huang Y, et al. Comput Methods Programs Biomed 2022.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planning read fails where the count fails</a:t>
            </a:r>
          </a:p>
        </p:txBody>
      </p:sp>
      <p:pic>
        <p:nvPicPr>
          <p:cNvPr id="3" name="Picture 2" descr="nas_gt_vs_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5600000" cy="33815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81538"/>
            <a:ext cx="5600000" cy="14184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lumbarization case with a true L6. Left, ground truth; right, the segmenter's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50000" y="1420000"/>
            <a:ext cx="42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An open-source whole-body segmenter, unmodified, on 1,152 public CTs (Wasserthal 2023)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Normal anatomy: L5 Dice 0.94. Lumbarization: every label slides one level, L5 Dice 0.29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L6 emitted: 0 of 1,152. Confident, well formed, one level off, no error signal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Not All Spines Are Created Equal, NeurIPS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23. Wasserthal J, et al. Radiol Artif Intell 2023;5:e230024.   24. Schwing GJ, et al. Not All Spines Are Created Equal. NeurIPS 2026 Datasets and Benchmarks (accepted; retrospective).   25. CTSpinoPelvic1K, doi.org/10.5281/zenodo.22139642.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Hypothesis and purpose</a:t>
            </a:r>
          </a:p>
        </p:txBody>
      </p:sp>
      <p:pic>
        <p:nvPicPr>
          <p:cNvPr id="3" name="Picture 2" descr="fig_pheno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037" y="1420000"/>
            <a:ext cx="8109925" cy="23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3780000"/>
            <a:ext cx="101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Four phenotypes at the lumbar borders, aligned on the sacrum (CTSpinoPelvic1K, public, de-identified).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170000"/>
            <a:ext cx="10150000" cy="2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191D63"/>
                </a:solidFill>
              </a:rPr>
              <a:t>Hypothesis: each transitional vertebra has local morphology a network reading a few bodies can learn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191D63"/>
                </a:solidFill>
              </a:rPr>
              <a:t>Purpose: build it, see what it learns, test it on an unseen C-arm, count the transitional persons a test needs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191D63"/>
                </a:solidFill>
              </a:rPr>
              <a:t>Pre-stated targets: 90 % transitional naming, 85 % variant sensitivity, 97 %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5800000"/>
            <a:ext cx="10150000" cy="45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C70B7"/>
                </a:solidFill>
              </a:rPr>
              <a:t>Investigational. Decision support beside the surgeon's count, never a replacement for the check film.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exists to learn from</a:t>
            </a:r>
          </a:p>
        </p:txBody>
      </p:sp>
      <p:pic>
        <p:nvPicPr>
          <p:cNvPr id="3" name="Picture 2" descr="chart_corp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6015367" cy="4179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79999"/>
            <a:ext cx="6015367" cy="620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(a) Images by source type; (b) transitional persons by phenotype.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65367" y="1420000"/>
            <a:ext cx="3834633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Public and de-identified: 4,093 CT renders, 9,108 films with levels, 4,276 real exposures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194 transitional persons. No released film or C-arm frame carries a human-read T13 or Castellvi grade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The intraoperative C-arm set (148 cases, cone-beam CT truth, 2023) is in no training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Retrospective study of public collections, analysed April–September 2026; sources, licences and download locations per release in the manuscript. VinDr-SpineXR under a PhysioNet data use agreement.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SchwingNet does: inputs and outputs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0000" y="1420000"/>
            <a:ext cx="2900000" cy="76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 · 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0000" y="2260000"/>
            <a:ext cx="29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bodies and sacrum boxed;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no level name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50000" y="1420000"/>
            <a:ext cx="2900000" cy="76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 ·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0000" y="2260000"/>
            <a:ext cx="29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each body named from its shape,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posterior beside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50000" y="1420000"/>
            <a:ext cx="2900000" cy="76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 ·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50000" y="2260000"/>
            <a:ext cx="29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against the count from the sacrum: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agree, a name; disagree, a stop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90000" y="1640000"/>
            <a:ext cx="320000" cy="320000"/>
          </a:xfrm>
          <a:prstGeom prst="rightArrow">
            <a:avLst/>
          </a:prstGeom>
          <a:solidFill>
            <a:srgbClr val="FFC42F"/>
          </a:solidFill>
          <a:ln>
            <a:solidFill>
              <a:srgbClr val="FFC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8290000" y="1640000"/>
            <a:ext cx="320000" cy="320000"/>
          </a:xfrm>
          <a:prstGeom prst="rightArrow">
            <a:avLst/>
          </a:prstGeom>
          <a:solidFill>
            <a:srgbClr val="FFC42F"/>
          </a:solidFill>
          <a:ln>
            <a:solidFill>
              <a:srgbClr val="FFC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ig_fig4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3170000"/>
            <a:ext cx="4215517" cy="250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5517" y="3170000"/>
            <a:ext cx="5634483" cy="2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91D63"/>
                </a:solidFill>
              </a:rPr>
              <a:t>In: one exposure. Out: a name with its posterior for every body, the count from the sacrum, a flag when they disagree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91D63"/>
                </a:solidFill>
              </a:rPr>
              <a:t>No end of the spine needed; no label imported from another study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91D63"/>
                </a:solidFill>
              </a:rPr>
              <a:t>Method withheld pending university invention review; weights and code with the paper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How it was tested</a:t>
            </a:r>
          </a:p>
        </p:txBody>
      </p:sp>
      <p:pic>
        <p:nvPicPr>
          <p:cNvPr id="3" name="Picture 2" descr="chart_test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6400000" cy="21271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3627167"/>
            <a:ext cx="6400000" cy="26228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C-ArmLSpine, public intraoperative exposures, acquired November–December 2023; the dark ring is what was scored.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0000" y="1420000"/>
            <a:ext cx="3450000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Retrospective, public collections, analysed April–September 2026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Truth: two automatic labellers agreeing on cone-beam CT, 148 cases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Three readings: zero-shot; case-grouped folds; acquisition-day folds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Exact level per detected body; intervals clustered by case; Holm-adjusted paired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0000" y="5150000"/>
            <a:ext cx="3450000" cy="11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C70B7"/>
                </a:solidFill>
              </a:rPr>
              <a:t>Every number is read by the build from a result file; a patient-keyed gate swept 563 quoted numbers against checkpoint lineages.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A sixth lumbar vertebra has a shape of its own</a:t>
            </a:r>
          </a:p>
        </p:txBody>
      </p:sp>
      <p:pic>
        <p:nvPicPr>
          <p:cNvPr id="3" name="Picture 2" descr="big_fig2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2788306" cy="41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30000"/>
            <a:ext cx="2788306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The lumbosacral window of the embedding; SchwingNet manuscript, Figure 2b.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38306" y="1420000"/>
            <a:ext cx="7061694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13,009 validation crops, 1,612 people: the nearest crop of another person is the same level in 74.9 %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L6 separates from L5 (silhouette 0.35) as far as L1 from T12 (0.32)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75 of 98 L6 crops named L6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Preliminary: ten L6 persons, on the split that chose the checkpoint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One lateral exposure of a C-arm the network never saw</a:t>
            </a:r>
          </a:p>
        </p:txBody>
      </p:sp>
      <p:pic>
        <p:nvPicPr>
          <p:cNvPr id="3" name="Picture 2" descr="big_fig4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6400000" cy="37955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295501"/>
            <a:ext cx="6400000" cy="954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C-ArmLSpine, public intraoperative exposures, 2023; SchwingNet manuscript, Figure 4a–b.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0000" y="1420000"/>
            <a:ext cx="3450000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Zero-shot, lateral: 595 of 617 bodies exact (96.4 %; 92.3, 98.4)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Anteroposterior zero-shot 43.7 %; fine-tuned on other cases 96.4 %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Three bodies in view 93.1 %; one body 74.8 %: a name where there is nothing to count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Two readings of one frame, and a stop where they disagree</a:t>
            </a:r>
          </a:p>
        </p:txBody>
      </p:sp>
      <p:pic>
        <p:nvPicPr>
          <p:cNvPr id="3" name="Picture 2" descr="chart_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5319596" cy="4129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29999"/>
            <a:ext cx="5319596" cy="620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C-ArmLSpine, case-grouped folds.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9596" y="1420000"/>
            <a:ext cx="4530404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Count from the sacrum 97.0 %, shape alone 97.7 %, together 98.2 % (1,009 bodies)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Stopped on 23 of 233 frames: five of the six errors and all four L6 calls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A disagreement is reported, not hidden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9596" y="5150000"/>
            <a:ext cx="4530404" cy="11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C70B7"/>
                </a:solidFill>
              </a:rPr>
              <a:t>How the readings are combined and when the read stops are withheld pending the invention review.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Where the frames sat mattered more than how many</a:t>
            </a:r>
          </a:p>
        </p:txBody>
      </p:sp>
      <p:pic>
        <p:nvPicPr>
          <p:cNvPr id="3" name="Picture 2" descr="big_fig5_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6424444" cy="41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30000"/>
            <a:ext cx="6424444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SchwingNet manuscript, Figure 5c–d; render sweep on 40 unseen subjects.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4444" y="1420000"/>
            <a:ext cx="3425556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Unseen device: 80.5 % of bodies found; 93.9 % on truth boxes inside the field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Its own frames: a plateau from 24 (c). One view buys that view only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Renders at two poses find 53 % between them; the same count spread over the arc, 77 % (d)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How many people it takes, and which view they were shot in</a:t>
            </a:r>
          </a:p>
        </p:txBody>
      </p:sp>
      <p:pic>
        <p:nvPicPr>
          <p:cNvPr id="3" name="Picture 2" descr="big_fig5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249462" cy="41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30000"/>
            <a:ext cx="4249462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Exact level against training persons; SchwingNet manuscript, Figure 5b.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99462" y="1420000"/>
            <a:ext cx="5600538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Film naming rose with training persons: NHANES II 78 → 93 %, BUU-LSPINE 65 → 97 %, CSXA 94 → 99.8 %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C-arm lateral: 93.7 % with no C-arm person. Anteroposterior: 33.8 % with none, 90.8 % with five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Training both views cost neither (98.1 and 97.0 %)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9462" y="4500000"/>
            <a:ext cx="5600538" cy="175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F77B4"/>
                </a:solidFill>
              </a:rPr>
              <a:t>●  NHANES II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E8710A"/>
                </a:solidFill>
              </a:rPr>
              <a:t>●  BUU-LSPINE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CA089"/>
                </a:solidFill>
              </a:rPr>
              <a:t>▲  CSXA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2020"/>
                </a:solidFill>
              </a:rPr>
              <a:t>●  C-arm, lateral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7F7F7F"/>
                </a:solidFill>
              </a:rPr>
              <a:t>■  C-arm, anteroposterior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2020"/>
                </a:solidFill>
              </a:rPr>
              <a:t>○  lateral-trained, read on anteroposterior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2020"/>
                </a:solidFill>
              </a:rPr>
              <a:t>✕  both views, all persons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Transitional naming on real exposures: shown and not shown</a:t>
            </a:r>
          </a:p>
        </p:txBody>
      </p:sp>
      <p:pic>
        <p:nvPicPr>
          <p:cNvPr id="3" name="Picture 2" descr="chart_cens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6300000" cy="20965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3596531"/>
            <a:ext cx="6300000" cy="2703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Expected counts from published prevalence (Sun 2025; Hanhivaara 2020; Nardo 2012).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50000" y="1420000"/>
            <a:ext cx="35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Scored: three L6 patients, in cross-validation only. A description, not a test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Needed: 35 error-free at-risk persons for 90 %. Seven candidates exist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Census: 22 public CT collections, 18,873 CTs, about 320 L6 expected; 21 found so 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50000" y="5200000"/>
            <a:ext cx="3550000" cy="11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C70B7"/>
                </a:solidFill>
              </a:rPr>
              <a:t>Evidence base absent: transitional naming on real exposures is unverified.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Two-labeller screening of public CT for transitional anatomy: American Association of Clinical Anatomists, June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0000" y="1420000"/>
            <a:ext cx="4925000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191D63"/>
                </a:solidFill>
              </a:rPr>
              <a:t>Limitations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191D63"/>
                </a:solidFill>
              </a:rPr>
              <a:t>One device; its truth is two automatic labellers agreeing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191D63"/>
                </a:solidFill>
              </a:rPr>
              <a:t>148 cases may not be 148 people; intervals may be too narrow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191D63"/>
                </a:solidFill>
              </a:rPr>
              <a:t>Posterior uncalibrated; the embedding is of the selection split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191D63"/>
                </a:solidFill>
              </a:rPr>
              <a:t>Retrospective, public data; nothing prospective; not a cleared device</a:t>
            </a:r>
          </a:p>
        </p:txBody>
      </p:sp>
      <p:pic>
        <p:nvPicPr>
          <p:cNvPr id="4" name="Picture 3" descr="chart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000" y="1420000"/>
            <a:ext cx="4389600" cy="24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75000" y="4020000"/>
            <a:ext cx="4925000" cy="22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191D63"/>
                </a:solidFill>
              </a:rPr>
              <a:t>Next steps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191D63"/>
                </a:solidFill>
              </a:rPr>
              <a:t>Verify the transitional candidates; run the 35-person, zero-error test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191D63"/>
                </a:solidFill>
              </a:rPr>
              <a:t>A second C-arm, with obliques, held out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191D63"/>
                </a:solidFill>
              </a:rPr>
              <a:t>Phantom, cadaver, then human series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Conclusions</a:t>
            </a:r>
          </a:p>
        </p:txBody>
      </p:sp>
      <p:pic>
        <p:nvPicPr>
          <p:cNvPr id="3" name="Picture 2" descr="chart_head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7840" y="1420000"/>
            <a:ext cx="2792160" cy="33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07840" y="4760000"/>
            <a:ext cx="279216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Exact level on the unseen C-arm.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1420000"/>
            <a:ext cx="7057840" cy="3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191D63"/>
                </a:solidFill>
              </a:rPr>
              <a:t>The count fails on transitional anatomy; registered labels and CT segmenters inherit the miscount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191D63"/>
                </a:solidFill>
              </a:rPr>
              <a:t>SchwingNet: 96.4 % zero-shot on the lateral view, 98.2 % coupled, and a stop on 23 of 233 frames holding five of six errors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191D63"/>
                </a:solidFill>
              </a:rPr>
              <a:t>Transitional naming on real exposures: unverified. 35 persons needed; the census is under 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50000" y="4970000"/>
            <a:ext cx="10150000" cy="85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A name from shape, checked against the count, with a stop where they disagree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5920000"/>
            <a:ext cx="1015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C70B7"/>
                </a:solidFill>
              </a:rPr>
              <a:t>Evidence status: investigational; retrospective, public de-identified data; no prospective evaluation; not a cleared device.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Acknowledgments and data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0000" y="1420000"/>
            <a:ext cx="6300000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Coauthors and annotators: Patrick Schwing; Miraziz Ismoilov, Nizar Alnabahneh, Loren Schwiebert; Ashley Schehr, Annika Tekumulla, Margret Khoushi, Ryan Christian, Dane Hubers, Faris Mahjoub, Hassan Saad, Mia Sooch, Sathyagopal Siddapureddy, Michael McLellan, Jerick Kim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Data: CTSpinoPelvic1K (doi.org/10.5281/zenodo.22139642) and the public C-arm, radiograph and CT collections under their own licences; all de-identified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Code and weights: github.com/OpenSpineConsortium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Funding: NIH NIGMS F30GM147909. No commercial support.</a:t>
            </a:r>
          </a:p>
        </p:txBody>
      </p:sp>
      <p:pic>
        <p:nvPicPr>
          <p:cNvPr id="4" name="Picture 3" descr="fig_anch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0000" y="1420000"/>
            <a:ext cx="3500000" cy="88899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00000" y="2608996"/>
            <a:ext cx="3500000" cy="13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Questions</a:t>
            </a:r>
          </a:p>
          <a:p>
            <a:pPr algn="ctr"/>
            <a:r>
              <a:rPr sz="1400" b="0">
                <a:solidFill>
                  <a:srgbClr val="FFFFFF"/>
                </a:solidFill>
              </a:rPr>
              <a:t>gregory.schwing@med.wayne.edu</a:t>
            </a:r>
          </a:p>
          <a:p>
            <a:pPr algn="ctr"/>
            <a:r>
              <a:rPr sz="1400" b="0">
                <a:solidFill>
                  <a:srgbClr val="FFFFFF"/>
                </a:solidFill>
              </a:rPr>
              <a:t>openspineconsortium.com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NS AM 2026">
      <a:dk1>
        <a:srgbClr val="191D63"/>
      </a:dk1>
      <a:lt1>
        <a:sysClr val="window" lastClr="FFFFFF"/>
      </a:lt1>
      <a:dk2>
        <a:srgbClr val="191D63"/>
      </a:dk2>
      <a:lt2>
        <a:srgbClr val="E6E6E5"/>
      </a:lt2>
      <a:accent1>
        <a:srgbClr val="FFC42F"/>
      </a:accent1>
      <a:accent2>
        <a:srgbClr val="EF4627"/>
      </a:accent2>
      <a:accent3>
        <a:srgbClr val="61BB46"/>
      </a:accent3>
      <a:accent4>
        <a:srgbClr val="4C70B7"/>
      </a:accent4>
      <a:accent5>
        <a:srgbClr val="D7A2CA"/>
      </a:accent5>
      <a:accent6>
        <a:srgbClr val="F16881"/>
      </a:accent6>
      <a:hlink>
        <a:srgbClr val="4C70B7"/>
      </a:hlink>
      <a:folHlink>
        <a:srgbClr val="EE9BC2"/>
      </a:folHlink>
    </a:clrScheme>
    <a:fontScheme name="CNS Fonts">
      <a:majorFont>
        <a:latin typeface="New Hero Medium"/>
        <a:ea typeface=""/>
        <a:cs typeface=""/>
      </a:majorFont>
      <a:minorFont>
        <a:latin typeface="New He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New Hero Medium</vt:lpstr>
      <vt:lpstr>Arial</vt:lpstr>
      <vt:lpstr>New Hero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Gbur</dc:creator>
  <cp:lastModifiedBy>Nick Gbur</cp:lastModifiedBy>
  <cp:revision>8</cp:revision>
  <dcterms:created xsi:type="dcterms:W3CDTF">2026-04-16T17:17:21Z</dcterms:created>
  <dcterms:modified xsi:type="dcterms:W3CDTF">2026-04-21T16:28:45Z</dcterms:modified>
</cp:coreProperties>
</file>