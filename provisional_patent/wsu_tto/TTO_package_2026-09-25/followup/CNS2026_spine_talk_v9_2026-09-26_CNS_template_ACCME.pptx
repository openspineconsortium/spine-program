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4"/>
    <p:sldId id="257" r:id="rId3"/>
    <p:sldId id="258" r:id="rId2"/>
    <p:sldId id="259" r:id="rId13"/>
    <p:sldId id="260" r:id="rId14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</p:sldIdLst>
  <p:sldSz cx="12192000" cy="6858000"/>
  <p:notesSz cx="6858000" cy="9144000"/>
  <p:embeddedFontLst>
    <p:embeddedFont>
      <p:font typeface="New Hero" panose="02000500000000000000" pitchFamily="50" charset="0"/>
      <p:regular r:id="rId5"/>
      <p:italic r:id="rId6"/>
    </p:embeddedFont>
    <p:embeddedFont>
      <p:font typeface="New Hero Medium" panose="02000600000000000000" pitchFamily="50" charset="0"/>
      <p:regular r:id="rId7"/>
      <p:italic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652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.xml"/><Relationship Id="rId3" Type="http://schemas.openxmlformats.org/officeDocument/2006/relationships/slide" Target="slides/slide2.xml"/><Relationship Id="rId4" Type="http://schemas.openxmlformats.org/officeDocument/2006/relationships/slide" Target="slides/slide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number is from a verified primary source except the four marked derived: the wrong-site share of the NPDB total (one quarter of paid never-event claims are wrong site), the yearly cost of the fiducial series (179 patients over 38.4 months at $34–37 per operating-room minute, 2014 dollars), and the US wrong-level operation and indemnity estimates (the two published per-procedure rates applied to 1.3–1.6 million spine operations a year, with the published litigation and payment fractions).</a:t>
            </a:r>
          </a:p>
          <a:p/>
          <a:p>
            <a:r>
              <a:t>The $1.3 billion is all surgical never events (retained objects, wrong site, wrong procedure, wrong patient) over 1990–2010; no published wrong-site-only total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Top: the level model's embedding of 13,009 crops from 1,612 people, coloured by level (a, C1 to sacrum; b, the lumbosacral window: triangles the validation L6, stars the contested L6 of never-seen patients, diamonds the last free vertebra above a fused L5, rings those patients' other vertebrae). Manuscript Figure 2a–b, rendered from the same map file.</a:t>
            </a:r>
          </a:p>
          <a:p/>
          <a:p>
            <a:r>
              <a:t>The nearest crop from another person is the same level in 74.9 % and within one level in 93.8 %. L6 separates from L5 (silhouette 0.35) as far as L1 from T12 (0.32); 75 of 98 L6 crops were named L6. Preliminary: ten L6 persons, on the split that chose the checkpoint.</a:t>
            </a:r>
          </a:p>
          <a:p/>
          <a:p>
            <a:r>
              <a:t>Bottom: the training data by modality. CT rendered as radiographs: 802 + 1,935 + 374 scans from three collections, 191 transitional persons. Plain films with levels: 4,963 + 3,600 + 364 persons, none human-read transitional. Mobile C-arm fluoroscopy: 148 intraoperative cases (cone-beam CT truth), 6 cadaver pelves, 1 phantom, 778 frames, 3 transitional cases. Radiotherapy kV imager: 145 patients, 3,498 frames, planning CT truth, 91 screen calls unread.</a:t>
            </a:r>
          </a:p>
          <a:p/>
          <a:p>
            <a:r>
              <a:t>All public and de-identified. The transitional truth is on CT; no released film or C-arm frame carries a human-read T13 or Castellvi grade. The intraoperative set (148 cases, 2023) is in no training set. Retrospective, analysed April–September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exposure in. Out, for every body in the field: a level name with its probability; when the sacrum is in the field, the count from it; and a flag when the two disagree. Neither end of the spine is needed, and no label is imported from another study.</a:t>
            </a:r>
          </a:p>
          <a:p/>
          <a:p>
            <a:r>
              <a:t>Left: the detectors' body boxes (blue) and sacrum box (dashed) on a real lateral frame, no names yet. Middle: occlusion maps for T12, L4, L5, L6 and the sacrum; red, the parts of the crop whose removal changes the name most (manuscript Figure 2d); per unit area the attribution is densest on the target body. Right: the same frame as the left panel with the shape name and its probability, the count from the sacrum and the call on each box; body 1 red, where they disagree and the read stops.</a:t>
            </a:r>
          </a:p>
          <a:p/>
          <a:p>
            <a:r>
              <a:t>Trained on renders of labelled CT and on annotated radiographs; the intraoperative C-arm is in no training set. The architecture, how the two readings are combined and when the read stops are withheld pending the university invention review. C-ArmLSpine case 42, public, 2023.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148 intraoperative cases, public, acquired November–December 2023; truth from each patient's cone-beam CT, read by two automatic labellers; 814 of 910 vertebrae agreed and kept. The set is lumbar: the truth withholds T11 and most of T12.</a:t>
            </a:r>
          </a:p>
          <a:p/>
          <a:p>
            <a:r>
              <a:t>Three readings of the same frames: never trained on this C-arm; fine-tuned by case-grouped folds; fine-tuned by acquisition-day folds. Limited fields of view were cut from the same frames: five, three or one body, with no sacrum in them.</a:t>
            </a:r>
          </a:p>
          <a:p/>
          <a:p>
            <a:r>
              <a:t>Scored per detected body as exact level; intervals clustered by case; paired differences with exact sign tests, Holm-adjusted over the comparisons named before scoring. Every number in the paper is read by the build from a result file; a patient-keyed gate swept 563 quoted numbers against checkpoint lineages. Retrospective study of public collections, analysed April–September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Case-grouped folds: five bodies in the field 647 of 667 (97.0 %); three bodies 1,079 of 1,159 (93.1 %; 95 % CI 89.2, 96.2); one body 451 of 603 (74.8 %). Never trained on this C-arm: three bodies 970 of 1,159 (83.7 %), one body 385 of 603 (63.8 %). Whole frame, lateral: 601 of 617 fine-tuned (97.4 %), 595 of 617 zero-shot (96.4 %; 92.3, 98.4). Anteroposterior whole frame: 608 of 631 fine-tuned (96.4 %), 276 of 631 zero-shot (43.7 %); three bodies 1,015 of 1,176 (86.3 %).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Navy, per-level exact accuracy, mean of three seeds: C1–C7 95–99 %; T1–T4 75–81 %; T5–T9 60–70 %; T10–T12 76–80 %; L1–L5 86–88 %; L6 63 % (150 crops); sacrum 100 %. Source: results/alpha_0.3_seed*/mixed_allspine_v9 head runs, per_level of the random-band row. A development number, not a held-out test; the film sources have no thoracic annotation, so thoracic accuracy is on renders.</a:t>
            </a:r>
          </a:p>
          <a:p/>
          <a:p>
            <a:r>
              <a:t>Gold, solid: the sweep on the earlier checkpoint of the encoder (model_r18_ce_v3.pt), 683 TotalSegmentator renders it never saw: 522 swept from the sacrum at overlap 2 and 203 from C2 at overlap 1 (fixed step; 41 spines are in both), every vertebra in the sweep scored exact. Per level (n vertebrae): C1 95 % (39); C2 98 % (248); C3 98 % (253); C4 97 % (264); C5 97 % (268); C6 96 % (298); C7 92 % (411); T1 91 % (483); T2 92 % (478); T3 92 % (468); T4 91 % (457); T5 90 % (426); T6 91 % (390); T7 91 % (383); T8 91 % (410); T9 91 % (462); T10 91 % (505); T11 90 % (526); T12 90 % (544); L1 94 % (545); L2 95 % (547); L3 95 % (572); L4 96 % (567); L5 97 % (559); sacrum 93 % (563). Levels with fewer than 15 swept vertebrae are not drawn. Source: ~/model_night/sweep_v3/ts/ts_ii9_o2_gt_fixed and ts_c2_ii9_o1_gt. Gold, dashed: the same protocol on the encoder and the three heads the navy curve uses (v9, model_rung_1_aug2.pt), on every render spine that encoder never saw (41: 40 TotalSegmentator and 1 CTSpinoPelvic1K; the eval gate found the other 1,100 TS, 801 CTSP and 387 VerSe renders in its training or selection keys), swept from the sacrum at overlap 2 with the end rule (skip, open); every chain complete, every swept vertebra exact on all three seeds; the frame alone on the same spines 69 %. Per level (n vertebrae per seed): T10 100 % (20); T11 100 % (22); T12 100 % (23); L1 100 % (24); L2 100 % (25); L3 100 % (41); L4 100 % (41); L5 100 % (41); sacrum 100 % (41); above T10 fewer than 15 per seed, not drawn. Source: ~/model_night/sweep_v3/cns/sac_o2_s0..2 (job 40454032, 2026-09-25).</a:t>
            </a:r>
          </a:p>
          <a:p/>
          <a:p>
            <a:r>
              <a:t>The sweep is simulated from CT renders: it has never been run on real C-arm sweeps. The C-ArmLSpine truth removes the thoracolumbar junction, so no real-C-arm thoracic accuracy exists; a thoracic C-arm set, and a real sweep, are the next data need. How the reconstruction is done is withheld pending the university invention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published accuracies are scored against different truths: LevelCheck against the labels it imported from the planning CT; the surgeon reading with the overlay against the same; the registration-free methods against their own test sets. No study is on a transitional spine.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Scored so far: three L6 patients, in cross-validation only; a description, not a test. Today there are 7 candidates on real exposures, none verified.</a:t>
            </a:r>
          </a:p>
          <a:p/>
          <a:p>
            <a:r>
              <a:t>n: the transitional persons a screen of every collection in the census should find, from published prevalence (Sun 2025; Hanhivaara 2020; Nardo 2012); a case counts only where a film exists. Each cell: the lowest accuracy the data would still support at 95 % confidence at that share of errors. 157 error-free persons are the fewest that clear 97.6 %.</a:t>
            </a:r>
          </a:p>
          <a:p/>
          <a:p>
            <a:r>
              <a:t>With 870 L6 persons the network may miss 12 and still sit above the overlay's 97.6 %; with all 2,069 transitional persons, 36; the 322 L6 of the screen running now allow 2. Beating it outright needs the paired comparison on the same persons, a separate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Limitations. One intraoperative device, lumbar; its truth is two automatic labellers agreeing, which removes the thoracolumbar junction and cannot settle a transitional count. Whether 148 cases are 148 people cannot be established; every intraoperative interval is too narrow if they are not. Real frames sit at two poses; one patient's rotational acquisition is the only real arc. The posterior is uncalibrated; the per-level chart is a development split. Retrospective, public data; nothing prospective; not a cleared device.</a:t>
            </a:r>
          </a:p>
          <a:p/>
          <a:p>
            <a:r>
              <a:t>Next steps. Verify the transitional candidates by two human readers and run the pre-stated test: 35 persons, zero errors. A thoracic C-arm set. A second C-arm, with obliques, held out; the paired comparison with registration on verified at-risk persons. Phantom, cadaver, then human series, in that order, before any operating-room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C5D9C-5792-771F-694B-77CA430491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85558" y="2192976"/>
            <a:ext cx="5482442" cy="907473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 dirty="0"/>
              <a:t>Dr. Faculty Name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D7A35E-BEBE-B4D0-7E84-2C228CF60F5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85558" y="3249879"/>
            <a:ext cx="5482442" cy="907473"/>
          </a:xfrm>
        </p:spPr>
        <p:txBody>
          <a:bodyPr/>
          <a:lstStyle>
            <a:lvl1pPr marL="0" indent="0" algn="l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Course Name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41D854B-C2B2-DDD8-28EF-A21EAB95E16D}"/>
              </a:ext>
            </a:extLst>
          </p:cNvPr>
          <p:cNvGrpSpPr/>
          <p:nvPr userDrawn="1"/>
        </p:nvGrpSpPr>
        <p:grpSpPr>
          <a:xfrm>
            <a:off x="847126" y="1001444"/>
            <a:ext cx="3392365" cy="5404342"/>
            <a:chOff x="1036632" y="919574"/>
            <a:chExt cx="3753081" cy="572376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1C177E0-77CF-B03F-06FA-088C1D06034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1827" y="2219010"/>
              <a:ext cx="3747886" cy="442432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F9E73F2-0D3C-7F75-3484-F28045CEC69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7022" y="919574"/>
              <a:ext cx="3742691" cy="697664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9F29650-3D6A-FED0-9A7A-6C768EE2C654}"/>
                </a:ext>
              </a:extLst>
            </p:cNvPr>
            <p:cNvSpPr txBox="1"/>
            <p:nvPr userDrawn="1"/>
          </p:nvSpPr>
          <p:spPr>
            <a:xfrm>
              <a:off x="1036632" y="1733458"/>
              <a:ext cx="3753081" cy="3911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</a:rPr>
                <a:t>Change is the only constant.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41E578DB-AFC7-16E4-ECF9-65CEB98447D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1068" y="214666"/>
            <a:ext cx="4049865" cy="700055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F253582-705B-B89C-A200-9E17D2D2C5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4775" y="4306782"/>
            <a:ext cx="5483225" cy="907473"/>
          </a:xfrm>
        </p:spPr>
        <p:txBody>
          <a:bodyPr>
            <a:normAutofit/>
          </a:bodyPr>
          <a:lstStyle>
            <a:lvl1pPr>
              <a:buNone/>
              <a:defRPr sz="1800" i="1"/>
            </a:lvl1pPr>
          </a:lstStyle>
          <a:p>
            <a:pPr lvl="0"/>
            <a:r>
              <a:rPr lang="en-US" dirty="0"/>
              <a:t>Month Day, 2026</a:t>
            </a:r>
          </a:p>
        </p:txBody>
      </p:sp>
    </p:spTree>
    <p:extLst>
      <p:ext uri="{BB962C8B-B14F-4D97-AF65-F5344CB8AC3E}">
        <p14:creationId xmlns:p14="http://schemas.microsoft.com/office/powerpoint/2010/main" val="7110986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06045-3FB1-8F2E-A028-FB95665FB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8C1D1-BE5D-4237-1020-D5CE775F4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35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C2D3F5-1202-6847-63BD-4AC6A5ECB2C0}"/>
              </a:ext>
            </a:extLst>
          </p:cNvPr>
          <p:cNvSpPr/>
          <p:nvPr userDrawn="1"/>
        </p:nvSpPr>
        <p:spPr>
          <a:xfrm>
            <a:off x="0" y="5910242"/>
            <a:ext cx="12192000" cy="947758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0E8012F-5BD4-739D-BDB0-CC13C8D4C5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1440" y="5968249"/>
            <a:ext cx="4168239" cy="7769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12AA35E-FC7F-3AD6-8375-B0AF94E67B9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323" y="6024721"/>
            <a:ext cx="4168238" cy="720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620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06045-3FB1-8F2E-A028-FB95665FB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9286" y="365125"/>
            <a:ext cx="8899566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8C1D1-BE5D-4237-1020-D5CE775F4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9286" y="1825625"/>
            <a:ext cx="8899566" cy="4349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C2D3F5-1202-6847-63BD-4AC6A5ECB2C0}"/>
              </a:ext>
            </a:extLst>
          </p:cNvPr>
          <p:cNvSpPr/>
          <p:nvPr userDrawn="1"/>
        </p:nvSpPr>
        <p:spPr>
          <a:xfrm>
            <a:off x="0" y="0"/>
            <a:ext cx="1520042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8FB3A93-668A-1CF3-B918-CD631EB4E2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50" r="25049" b="5581"/>
          <a:stretch>
            <a:fillRect/>
          </a:stretch>
        </p:blipFill>
        <p:spPr>
          <a:xfrm>
            <a:off x="0" y="3462836"/>
            <a:ext cx="1520042" cy="339516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49D4793-B10F-8496-76F9-FE0FE36081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4" y="2524382"/>
            <a:ext cx="1353312" cy="252268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6D4AEB14-71E3-97E9-160E-A0BBA1A71054}"/>
              </a:ext>
            </a:extLst>
          </p:cNvPr>
          <p:cNvGrpSpPr/>
          <p:nvPr userDrawn="1"/>
        </p:nvGrpSpPr>
        <p:grpSpPr>
          <a:xfrm>
            <a:off x="82887" y="766440"/>
            <a:ext cx="1354267" cy="964978"/>
            <a:chOff x="10782960" y="633046"/>
            <a:chExt cx="1354267" cy="964978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FCFB381-6494-A153-C972-3B18E1B8A5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1498"/>
            <a:stretch>
              <a:fillRect/>
            </a:stretch>
          </p:blipFill>
          <p:spPr>
            <a:xfrm>
              <a:off x="10784059" y="633046"/>
              <a:ext cx="1352069" cy="422367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B64C24C-DAD1-0F23-28F8-6F5C083DA34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564"/>
            <a:stretch>
              <a:fillRect/>
            </a:stretch>
          </p:blipFill>
          <p:spPr>
            <a:xfrm>
              <a:off x="10782960" y="1281349"/>
              <a:ext cx="1354267" cy="316675"/>
            </a:xfrm>
            <a:prstGeom prst="rect">
              <a:avLst/>
            </a:prstGeom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253C4AD-7231-2FE0-A5D7-FAF0BDD46E7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783437" y="1157717"/>
              <a:ext cx="13533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102226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A36C3F-FC84-C2F8-4A3E-63120A1D4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108BF-53B4-57C0-F90D-24E0BD570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6659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notesSlide" Target="../notesSlides/notesSlide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4.png"/><Relationship Id="rId3" Type="http://schemas.openxmlformats.org/officeDocument/2006/relationships/hyperlink" Target="https://openspineconsortium.com/" TargetMode="External"/><Relationship Id="rId4" Type="http://schemas.openxmlformats.org/officeDocument/2006/relationships/hyperlink" Target="https://github.com/OpenSpineConsortium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85558" y="1050000"/>
            <a:ext cx="6600000" cy="2200000"/>
          </a:xfrm>
        </p:spPr>
        <p:txBody>
          <a:bodyPr wrap="square"/>
          <a:lstStyle/>
          <a:p>
            <a:r>
              <a:rPr sz="2400" b="1">
                <a:solidFill>
                  <a:srgbClr val="FFFFFF"/>
                </a:solidFill>
              </a:rPr>
              <a:t>Not All Spines Are Created Equal: A Single-Shot CT Segmentation Model For Preoperative Detection Of Lumbar And Thoracic End Anomalies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85558" y="3350000"/>
            <a:ext cx="6600000" cy="900000"/>
          </a:xfrm>
        </p:spPr>
        <p:txBody>
          <a:bodyPr wrap="square"/>
          <a:lstStyle/>
          <a:p>
            <a:r>
              <a:rPr sz="2000">
                <a:solidFill>
                  <a:srgbClr val="FFFFFF"/>
                </a:solidFill>
              </a:rPr>
              <a:t>Gregory J. Schwing, MD, PhD</a:t>
            </a:r>
          </a:p>
          <a:p>
            <a:r>
              <a:rPr sz="1300">
                <a:solidFill>
                  <a:srgbClr val="FFFFFF"/>
                </a:solidFill>
              </a:rPr>
              <a:t>Department of General Surgery, Detroit Medical Center and Wayne State University, Detroit, MI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>
          <a:xfrm>
            <a:off x="5185558" y="4400000"/>
            <a:ext cx="6600000" cy="1800000"/>
          </a:xfrm>
        </p:spPr>
        <p:txBody>
          <a:bodyPr wrap="square"/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</a:rPr>
              <a:t>CNS 2026 Annual Meeting, Washington, DC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</a:rPr>
              <a:t>Mini Podium 4, Spine Session 1 (MP4SP1)  ·  Monday 2 November 2026, 5:21–6:00 PM  ·  Podium 4, Ballroom ABC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</a:rPr>
              <a:t>The paper of the same title is accepted at NeurIPS 2026, Datasets and Benchmarks 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Where this is going</a:t>
            </a:r>
          </a:p>
        </p:txBody>
      </p:sp>
      <p:pic>
        <p:nvPicPr>
          <p:cNvPr id="3" name="Picture 2" descr="sn_fig4_b_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0000" y="1420000"/>
            <a:ext cx="3300000" cy="29436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00000" y="4423661"/>
            <a:ext cx="330000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A real lateral C-arm exposure; each body named from its shape, with its probability.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1750000" y="1420000"/>
            <a:ext cx="460000" cy="46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50000" y="1400000"/>
            <a:ext cx="5950000" cy="8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1D63"/>
                </a:solidFill>
              </a:rPr>
              <a:t>Surgeons count vertebrae on the C-arm. On a transitional spine the count is wrong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750000" y="2240000"/>
            <a:ext cx="460000" cy="46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0000" y="2220000"/>
            <a:ext cx="5950000" cy="10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1D63"/>
                </a:solidFill>
              </a:rPr>
              <a:t>Today's tools map a position on the spine to the preoperative CT to help the surgeon count. Humans still make mistakes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750000" y="3240000"/>
            <a:ext cx="460000" cy="46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0000" y="3220000"/>
            <a:ext cx="5950000" cy="1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1D63"/>
                </a:solidFill>
              </a:rPr>
              <a:t>SchwingNet reads the level from the shape of the bones in a limited field of view; with the sacrum in view it also counts, and checks the two against each other; from a sweep of overlapping exposures it reconstructs the spine. Nothing is mapped to the 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0000" y="4690000"/>
            <a:ext cx="460000" cy="46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0000" y="4670000"/>
            <a:ext cx="5950000" cy="8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1D63"/>
                </a:solidFill>
              </a:rPr>
              <a:t>Tested on real intraoperative C-arm exposures: how often it is right, and when it stops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50000" y="5540000"/>
            <a:ext cx="460000" cy="46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0000" y="5520000"/>
            <a:ext cx="5950000" cy="7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1D63"/>
                </a:solidFill>
              </a:rPr>
              <a:t>What is missing: enough transitional patients' scans to feed the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The level is counted, and the count is often wrong</a:t>
            </a:r>
          </a:p>
        </p:txBody>
      </p:sp>
      <p:pic>
        <p:nvPicPr>
          <p:cNvPr id="3" name="Picture 2" descr="cited_strong2022_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3820376" cy="335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4850000"/>
            <a:ext cx="3820376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Strong et al. 2022, Figure 3: intraoperative fluoroscopy, needle at the T10 pedicle, counted from the sacrum. J Neurosurg Spine 36:792 (PMC10193475); permission pending.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70376" y="1420000"/>
            <a:ext cx="6029624" cy="2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91D63"/>
                </a:solidFill>
              </a:rPr>
              <a:t>Half of spine surgeons report a wrong-level operation in their career (Mody 2008; Groff 2013)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91D63"/>
                </a:solidFill>
              </a:rPr>
              <a:t>Registry of 34,544 operations: 0.12 %, thoracic 0.42 % (Furuya 2026)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91D63"/>
                </a:solidFill>
              </a:rPr>
              <a:t>The first exposed level is wrong in 4–15 % before the check film; verification protocols miss a third (Ammerman 2006; Dablouk 2019; Longo 2012)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91D63"/>
                </a:solidFill>
              </a:rPr>
              <a:t>The remedy on offer is another count</a:t>
            </a:r>
          </a:p>
        </p:txBody>
      </p:sp>
      <p:pic>
        <p:nvPicPr>
          <p:cNvPr id="6" name="Picture 5" descr="cartoon_sw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376" y="4020000"/>
            <a:ext cx="6029624" cy="10762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70376" y="5146293"/>
            <a:ext cx="6029624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7A7A7A"/>
                </a:solidFill>
              </a:rPr>
              <a:t>A sweep: the C-arm steps up the prone spine, each exposure overlapping the last, and the surgeon counts from the sacrum.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7A7A7A"/>
                </a:solidFill>
              </a:rPr>
              <a:t>SchwingNet reads the same sweep: a proprietary algorithm reconstructs the spine from the overlapping exposures, so the count is checked at every level in it. Cartoon from the SchwingNet manuscript.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1. Mody MG, et al. Spine 2008;33:194.   2. Groff MW, et al. World Neurosurg 2013;79:585.   3. Furuya M, et al. Bone Joint J 2026;108-B:673.   4. Dablouk MO, et al. Br J Neurosurg 2019.   5. Ammerman JM, et al. Surg Neurol 2006.   6. Longo UG, et al. J Bone Joint Surg Br 2012;94-B:1546.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Transitional anatomy changes the count</a:t>
            </a:r>
          </a:p>
        </p:txBody>
      </p:sp>
      <p:pic>
        <p:nvPicPr>
          <p:cNvPr id="3" name="Picture 2" descr="big_fig1_ct_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052" y="1420000"/>
            <a:ext cx="8515895" cy="3549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029999"/>
            <a:ext cx="1015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Labelled CT, public de-identified records (CTSpinoPelvic1K). Bar, 20 mm.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5419999"/>
            <a:ext cx="10150000" cy="8800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191D63"/>
                </a:solidFill>
              </a:rPr>
              <a:t>8.8 % of 3,147 full-length radiographs lack 24 presacral segments (Sabri 2025); in 550 lumbar operations the count was wrong in 38 of 71 patients with a transitional vertebra (Nakagawa 2017)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191D63"/>
                </a:solidFill>
              </a:rPr>
              <a:t>The truth is on CT. No public radiograph or C-arm frame carries a human-read T13 or Castellvi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7. Sabri SA, et al. Neurosurg Focus 2025;58(6):E13.   8. Nakagawa T, et al. 2017.   9. Castellvi AE, et al. Spine 1984;9:493.   Figure: SchwingNet manuscript (in preparation), Figure 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What a wrong site costs, and what avoiding it costs</a:t>
            </a:r>
          </a:p>
        </p:txBody>
      </p:sp>
      <p:pic>
        <p:nvPicPr>
          <p:cNvPr id="3" name="Picture 2" descr="board_wrongsite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10150000" cy="4785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Mehtsun WT, et al. Surgery 2013;153:465.   Tan et al. Jt Comm J Qual Patient Saf 2023;49:265.   Bettis T, et al. Patient Saf Surg 2026.   Goodkin R, Laska LL. Surg Neurol 2004;61:323.   Mody MG, et al. Spine 2008;33:194.   Groff MW, et al. World Neurosurg 2013;79:585.   Machin JT, et al. Eur Spine J 2018;27:2693.   Harrison WD, et al. Ann R Coll Surg Engl 2015.   AJNR Am J Neuroradiol 2023;44:618.   Childers CP, Maggard-Gibbons M. JAMA Surg 2018;153:e176233.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The label on the film is only as right as the planning read</a:t>
            </a:r>
          </a:p>
        </p:txBody>
      </p:sp>
      <p:pic>
        <p:nvPicPr>
          <p:cNvPr id="3" name="Picture 2" descr="cited_levelcheck_compo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4820512" cy="423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710000"/>
            <a:ext cx="4820512" cy="6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Top: De Silva et al. 2016, Figure 1 (Spine; PMC5045321). Bottom: Manbachi et al. 2018, Figure 6, labels on a 13th rib and a lumbarised S1 (Ann Biomed Eng; PMC9107073). Permission pending.</a:t>
            </a:r>
          </a:p>
        </p:txBody>
      </p:sp>
      <p:pic>
        <p:nvPicPr>
          <p:cNvPr id="5" name="Picture 4" descr="table_level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0512" y="1420000"/>
            <a:ext cx="5029488" cy="32424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70512" y="4812442"/>
            <a:ext cx="5029488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C70B7"/>
                </a:solidFill>
              </a:rPr>
              <a:t>Registration scores against the labels it imported. On a transitional spine the label is only as right as the planning read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C70B7"/>
                </a:solidFill>
              </a:rPr>
              <a:t>Nothing published names a level from one exposure alone, and nothing is tested on a transitional spine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15. Otake Y, et al. Phys Med Biol 2012;57:5485.   16. De Silva T, et al. Spine 2016.   17. Manbachi A, et al. Ann Biomed Eng 2018;46:1548.   18. Peh WCG, et al. 1999.   19. Zhang R, et al. J Xray Sci Technol 2023.   20. Huang Y, et al. Comput Methods Programs Biomed 2022.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The planning read fails where the count fails</a:t>
            </a:r>
          </a:p>
        </p:txBody>
      </p:sp>
      <p:pic>
        <p:nvPicPr>
          <p:cNvPr id="3" name="Picture 2" descr="nas_gt_vs_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5600000" cy="33815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4881538"/>
            <a:ext cx="5600000" cy="14184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A lumbarization case with a true L6. Left, ground truth; right, the segmenter's output.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50000" y="1420000"/>
            <a:ext cx="4250000" cy="48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An open-source whole-body segmenter, unmodified, on 1,152 public CTs (Wasserthal 2023)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Normal anatomy: L5 Dice 0.94. Lumbarization: every label slides one level, L5 Dice 0.29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L6 emitted: 0 of 1,152. Confident, well formed, one level off, no error signal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Published under this talk's title: Not All Spines Are Created Equal, NeurIPS 2026 Datasets and Benchmarks (accepted)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21. Wasserthal J, et al. Radiol Artif Intell 2023;5:e230024.   22. Schwing GJ, et al. Not All Spines Are Created Equal. NeurIPS 2026 Datasets and Benchmarks (accepted; retrospective).   23. CTSpinoPelvic1K, doi.org/10.5281/zenodo.22139642.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Hypothesis and purpose</a:t>
            </a:r>
          </a:p>
        </p:txBody>
      </p:sp>
      <p:pic>
        <p:nvPicPr>
          <p:cNvPr id="3" name="Picture 2" descr="big_fig1_ct_vs_fi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647" y="1420000"/>
            <a:ext cx="7386705" cy="325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4730000"/>
            <a:ext cx="1015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A sixth lumbar and a four-lumbar spine on labelled CT and on another patient's real film (SchwingNet manuscript, Figure 1; public, de-identified).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5120000"/>
            <a:ext cx="10150000" cy="1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91D63"/>
                </a:solidFill>
              </a:rPr>
              <a:t>Hypothesis: each transitional vertebra has a local shape a network can learn from labelled CT and find on a film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91D63"/>
                </a:solidFill>
              </a:rPr>
              <a:t>Purpose: name the level from one exposure, and outperform surgeons using registration at level identification. Targets set before scoring: 90 % naming, 85 % variant sensitivity, 97 %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Investigational. Decision support beside the surgeon's count, never a replacement for the check film.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What it learned from public data: one shape per level</a:t>
            </a:r>
          </a:p>
        </p:txBody>
      </p:sp>
      <p:pic>
        <p:nvPicPr>
          <p:cNvPr id="3" name="Picture 2" descr="fig2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10150000" cy="3241813"/>
          </a:xfrm>
          <a:prstGeom prst="rect">
            <a:avLst/>
          </a:prstGeom>
        </p:spPr>
      </p:pic>
      <p:pic>
        <p:nvPicPr>
          <p:cNvPr id="4" name="Picture 3" descr="table_modalit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283" y="4781813"/>
            <a:ext cx="8951434" cy="140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What SchwingNet does: find, name, check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50000" y="1420000"/>
            <a:ext cx="2511242" cy="48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 · Find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50000" y="1980000"/>
            <a:ext cx="2511242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1D63"/>
                </a:solidFill>
              </a:rPr>
              <a:t>bodies and sacrum boxed, no name yet</a:t>
            </a:r>
          </a:p>
        </p:txBody>
      </p:sp>
      <p:pic>
        <p:nvPicPr>
          <p:cNvPr id="5" name="Picture 4" descr="render_case42_fi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2570000"/>
            <a:ext cx="2511242" cy="355181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621242" y="1420000"/>
            <a:ext cx="3081372" cy="48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 ·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21242" y="1980000"/>
            <a:ext cx="3081372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1D63"/>
                </a:solidFill>
              </a:rPr>
              <a:t>named from its shape; red, what the name draws on</a:t>
            </a:r>
          </a:p>
        </p:txBody>
      </p:sp>
      <p:pic>
        <p:nvPicPr>
          <p:cNvPr id="8" name="Picture 7" descr="occlusion_2x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1242" y="2570000"/>
            <a:ext cx="3081372" cy="355181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62614" y="1420000"/>
            <a:ext cx="3837384" cy="48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3 ·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62614" y="1980000"/>
            <a:ext cx="3837384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1D63"/>
                </a:solidFill>
              </a:rPr>
              <a:t>shape against the count: where they disagree, the read stops</a:t>
            </a:r>
          </a:p>
        </p:txBody>
      </p:sp>
      <p:pic>
        <p:nvPicPr>
          <p:cNvPr id="11" name="Picture 10" descr="render_case42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2614" y="2570000"/>
            <a:ext cx="3837384" cy="3551811"/>
          </a:xfrm>
          <a:prstGeom prst="rect">
            <a:avLst/>
          </a:prstGeom>
        </p:spPr>
      </p:pic>
      <p:sp>
        <p:nvSpPr>
          <p:cNvPr id="12" name="Right Arrow 11"/>
          <p:cNvSpPr/>
          <p:nvPr/>
        </p:nvSpPr>
        <p:spPr>
          <a:xfrm>
            <a:off x="4281242" y="1500000"/>
            <a:ext cx="320000" cy="320000"/>
          </a:xfrm>
          <a:prstGeom prst="rightArrow">
            <a:avLst/>
          </a:prstGeom>
          <a:solidFill>
            <a:srgbClr val="FFC42F"/>
          </a:solidFill>
          <a:ln>
            <a:solidFill>
              <a:srgbClr val="FFC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7722614" y="1500000"/>
            <a:ext cx="320000" cy="320000"/>
          </a:xfrm>
          <a:prstGeom prst="rightArrow">
            <a:avLst/>
          </a:prstGeom>
          <a:solidFill>
            <a:srgbClr val="FFC42F"/>
          </a:solidFill>
          <a:ln>
            <a:solidFill>
              <a:srgbClr val="FFC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How it was tested: real exposures, cone-beam CT truth</a:t>
            </a:r>
          </a:p>
        </p:txBody>
      </p:sp>
      <p:pic>
        <p:nvPicPr>
          <p:cNvPr id="3" name="Picture 2" descr="big_gallery_t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10150000" cy="39110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391056"/>
            <a:ext cx="1015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Real lateral frames, calls by the cross-validated model; green right, red wrong, orange unscored (the two truth labellers disagree). Needle tip on the named L4. C-ArmLSpine, public, 2023.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Result 1: with no sacrum in view, the shape alone names the level</a:t>
            </a:r>
          </a:p>
        </p:txBody>
      </p:sp>
      <p:pic>
        <p:nvPicPr>
          <p:cNvPr id="3" name="Picture 2" descr="table_fo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7400000" cy="35254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005471"/>
            <a:ext cx="74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Exact level per body, C-ArmLSpine, cone-beam CT truth; fields cut from the real frames with the sacrum outside them (manuscript Table 3).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50000" y="1420000"/>
            <a:ext cx="2450000" cy="4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Three lumbar bodies and nothing else in the field: 93 of 100 named exactly; one body alone, 75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No count is possible in those fields; the name comes from shape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A lateral view holds the shape; the anteroposterior view needs the C-arm's own cases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Which levels it names: cervical to sacrum, thoracic included</a:t>
            </a:r>
          </a:p>
        </p:txBody>
      </p:sp>
      <p:pic>
        <p:nvPicPr>
          <p:cNvPr id="3" name="Picture 2" descr="chart_level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10150000" cy="37256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205682"/>
            <a:ext cx="1015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7A7A7A"/>
                </a:solidFill>
              </a:rPr>
              <a:t>Navy: one exposure, exact level by level on the level model's development validation split (rendered CT and films, 15,898 crops, bands of two to nine bodies; the split that chose the checkpoint, not held out).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7A7A7A"/>
                </a:solidFill>
              </a:rPr>
              <a:t>Gold, solid: the same levels read through a sweep of overlapping exposures, simulated from 683 CT renders the encoder never saw (TotalSegmentator bench, an earlier checkpoint): a proprietary algorithm reconstructs the spine from the overlap. Dashed: the model behind the navy curve on the 41 render spines it never saw, T10 to the sacrum. Real C-arm testing is lumbar; thoracic naming on a real C-arm is not yet tested.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Result 2: against surgeons using registration</a:t>
            </a:r>
          </a:p>
        </p:txBody>
      </p:sp>
      <p:pic>
        <p:nvPicPr>
          <p:cNvPr id="3" name="Picture 2" descr="table_resul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322" y="1420000"/>
            <a:ext cx="7793355" cy="445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930000"/>
            <a:ext cx="1015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SchwingNet on 148 real intraoperative cases of a C-arm it never saw, lateral view, scored against cone-beam CT; the published methods on their own test sets. Parity with the overlay is suggested, not proven: the paired comparison is a separate study.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Result 3: when shape and count disagree, it stops</a:t>
            </a:r>
          </a:p>
        </p:txBody>
      </p:sp>
      <p:pic>
        <p:nvPicPr>
          <p:cNvPr id="3" name="Picture 2" descr="render_case42_L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5486250" cy="418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680000"/>
            <a:ext cx="548625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C-ArmLSpine case 42, public; manuscript Figure 4d with the probabilities the system printed on each box; cross-validation fold.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36250" y="1420000"/>
            <a:ext cx="4363750" cy="48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A patient one CT labeller reads six-lumbar, the other five. Shape names bodies 5 to 2 as L2–L5 (0.89–1.00); the count says L1–L4. Body 1: shape none (0.02), count L5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The call is L6 for the column; body 1 is left unnamed and the read stops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Over all anchored frames: count 97.0 %, shape 97.7 %, together 98.2 % (1,009 bodies). Stopped on 23 of 233 frames, holding five of the six errors and all four L6 calls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A disagreement is reported, not hidden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How the two readings are combined and when the read stops are withheld pending the invention review. No accuracy on this slide is a wrong-level surgery rate.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Where the frames sat mattered more than how many</a:t>
            </a:r>
          </a:p>
        </p:txBody>
      </p:sp>
      <p:pic>
        <p:nvPicPr>
          <p:cNvPr id="3" name="Picture 2" descr="big_fig5_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6424444" cy="413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630000"/>
            <a:ext cx="6424444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SchwingNet manuscript, Figure 5c–d; render sweep on 40 unseen subjects.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74444" y="1420000"/>
            <a:ext cx="3425556" cy="4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Unseen device: 80.5 % of bodies found; 93.9 % on truth boxes inside the field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Its own frames: a plateau from 24 (c). One view buys that view only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Renders at two poses find 53 % between them; the same count spread over the arc, 77 % (d)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How many people it takes, and which view they were shot in</a:t>
            </a:r>
          </a:p>
        </p:txBody>
      </p:sp>
      <p:pic>
        <p:nvPicPr>
          <p:cNvPr id="3" name="Picture 2" descr="big_fig5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4249462" cy="413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630000"/>
            <a:ext cx="4249462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Exact level against training persons; SchwingNet manuscript, Figure 5b.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99462" y="1420000"/>
            <a:ext cx="5600538" cy="4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Film naming rose with training persons: NHANES II 78 → 93 %, BUU-LSPINE 65 → 97 %, CSXA 94 → 99.8 %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C-arm lateral: 93.7 % with no C-arm person. Anteroposterior: 33.8 % with none, 90.8 % with five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Training both views cost neither (98.1 and 97.0 %)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99462" y="4500000"/>
            <a:ext cx="5600538" cy="175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1F77B4"/>
                </a:solidFill>
              </a:rPr>
              <a:t>●  NHANES II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E8710A"/>
                </a:solidFill>
              </a:rPr>
              <a:t>●  BUU-LSPINE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CA089"/>
                </a:solidFill>
              </a:rPr>
              <a:t>▲  CSXA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02020"/>
                </a:solidFill>
              </a:rPr>
              <a:t>●  C-arm, lateral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7F7F7F"/>
                </a:solidFill>
              </a:rPr>
              <a:t>■  C-arm, anteroposterior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02020"/>
                </a:solidFill>
              </a:rPr>
              <a:t>○  lateral-trained, read on anteroposterior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02020"/>
                </a:solidFill>
              </a:rPr>
              <a:t>✕  both views, all persons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Result 4: transitional naming is not yet tested; what the census supplies</a:t>
            </a:r>
          </a:p>
        </p:txBody>
      </p:sp>
      <p:pic>
        <p:nvPicPr>
          <p:cNvPr id="3" name="Picture 2" descr="table_clai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10150000" cy="33473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4827340"/>
            <a:ext cx="1015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Wilson 95 % lower bound at the class sums of the whole CT census; green, above the surgeon-assisted overlay's 97.6 %; blue, above the pre-stated 90 %.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Limitations and next steps</a:t>
            </a:r>
          </a:p>
        </p:txBody>
      </p:sp>
      <p:pic>
        <p:nvPicPr>
          <p:cNvPr id="3" name="Picture 2" descr="big_figS5_a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4309481" cy="438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860000"/>
            <a:ext cx="4309481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The only real rotational acquisition: one patient, 301 frames from lateral to anteroposterior (supplement Figure S5a; bar, 50 mm). Every other real frame sits at one of two poses.</a:t>
            </a:r>
          </a:p>
        </p:txBody>
      </p:sp>
      <p:pic>
        <p:nvPicPr>
          <p:cNvPr id="5" name="Picture 4" descr="gallery_case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506" y="1420000"/>
            <a:ext cx="4324469" cy="438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59481" y="5860000"/>
            <a:ext cx="5540519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A frame whose truth the two automatic labellers disagree on (orange): unscored. The test's truth is their agreement, not a human read.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Conclusions: three goals, where each stands</a:t>
            </a:r>
          </a:p>
        </p:txBody>
      </p:sp>
      <p:pic>
        <p:nvPicPr>
          <p:cNvPr id="3" name="Picture 2" descr="chart_head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7840" y="1420000"/>
            <a:ext cx="2792160" cy="33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07840" y="4760000"/>
            <a:ext cx="279216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Exact level on the unseen C-arm.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1420000"/>
            <a:ext cx="7057840" cy="3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Name the level with nothing to count from: </a:t>
            </a:r>
            <a:r>
              <a:rPr sz="1600" b="0">
                <a:solidFill>
                  <a:srgbClr val="2CA089"/>
                </a:solidFill>
              </a:rPr>
              <a:t>met on ordinary lumbar anatomy</a:t>
            </a:r>
            <a:r>
              <a:rPr sz="1600" b="0">
                <a:solidFill>
                  <a:srgbClr val="191D63"/>
                </a:solidFill>
              </a:rPr>
              <a:t> — 93 % with three bodies in view, 96.4 % zero-shot on the whole frame; thoracic levels named on renders, untested on a real C-arm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Name it on a transitional spine: </a:t>
            </a:r>
            <a:r>
              <a:rPr sz="1600" b="0">
                <a:solidFill>
                  <a:srgbClr val="EF4627"/>
                </a:solidFill>
              </a:rPr>
              <a:t>not yet shown</a:t>
            </a:r>
            <a:r>
              <a:rPr sz="1600" b="0">
                <a:solidFill>
                  <a:srgbClr val="191D63"/>
                </a:solidFill>
              </a:rPr>
              <a:t> — three cross-validation patients; 35 error-free persons needed; the census should supply about 870 L6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Outperform surgeons using registration: </a:t>
            </a:r>
            <a:r>
              <a:rPr sz="1600" b="0">
                <a:solidFill>
                  <a:srgbClr val="EF4627"/>
                </a:solidFill>
              </a:rPr>
              <a:t>needs the paired study</a:t>
            </a:r>
            <a:r>
              <a:rPr sz="1600" b="0">
                <a:solidFill>
                  <a:srgbClr val="191D63"/>
                </a:solidFill>
              </a:rPr>
              <a:t> — 98.2 % coupled beside 97.6 % for surgeons with the overlay, on different test sets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50000" y="4970000"/>
            <a:ext cx="10150000" cy="85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A name from shape, checked against the count, with a stop where they disagree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0000" y="5920000"/>
            <a:ext cx="1015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C70B7"/>
                </a:solidFill>
              </a:rPr>
              <a:t>Evidence status: investigational; retrospective, public de-identified data; no prospective evaluation; not a cleared device.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Acknowledgments and data availability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50000" y="1420000"/>
            <a:ext cx="6300000" cy="4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91D63"/>
                </a:solidFill>
              </a:rPr>
              <a:t>With thanks to Patrick Schwing (LSU Health Sciences Center New Orleans); Miraziz Ismoilov and Nizar Alnabahneh (Radiology) and Loren Schwiebert (Computer Science), Wayne State University; and the annotators Ashley Schehr, Annika Tekumulla, Margret Khoushi, Ryan Christian, Dane Hubers, Faris Mahjoub, Hassan Saad, Mia Sooch, Sathyagopal Siddapureddy, Michael McLellan and Jerick Kim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91D63"/>
                </a:solidFill>
              </a:rPr>
              <a:t>Data: CTSpinoPelvic1K (doi.org/10.5281/zenodo.22139642) and the public C-arm, radiograph and CT collections under their own licences; all de-identified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91D63"/>
                </a:solidFill>
              </a:rPr>
              <a:t>Papers: Not All Spines Are Created Equal, NeurIPS 2026 Datasets and Benchmarks (accepted); the CTSpinoPelvic1K dataset article (Medical Physics, submitted); SchwingNet (in preparation)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91D63"/>
                </a:solidFill>
              </a:rPr>
              <a:t>Funding: NIH NIGMS F30GM147909. No commercial support.</a:t>
            </a:r>
          </a:p>
        </p:txBody>
      </p:sp>
      <p:pic>
        <p:nvPicPr>
          <p:cNvPr id="4" name="Picture 3" descr="osc_logo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0000" y="1520000"/>
            <a:ext cx="3600000" cy="10145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00000" y="2684545"/>
            <a:ext cx="360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91D63"/>
                </a:solidFill>
              </a:rPr>
              <a:t>Data, code, weights and the annotator onboarding: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91D63"/>
                </a:solidFill>
                <a:hlinkClick r:id="rId3"/>
              </a:rPr>
              <a:t>openspineconsortium.com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91D63"/>
                </a:solidFill>
                <a:hlinkClick r:id="rId4"/>
              </a:rPr>
              <a:t>github.com/OpenSpineConsortium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00000" y="3734545"/>
            <a:ext cx="3600000" cy="110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Questions</a:t>
            </a:r>
          </a:p>
          <a:p>
            <a:pPr algn="ctr"/>
            <a:r>
              <a:rPr sz="1400" b="0">
                <a:solidFill>
                  <a:srgbClr val="FFFFFF"/>
                </a:solidFill>
              </a:rPr>
              <a:t>gregory.schwing@med.wayne.edu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NS AM 2026">
      <a:dk1>
        <a:srgbClr val="191D63"/>
      </a:dk1>
      <a:lt1>
        <a:sysClr val="window" lastClr="FFFFFF"/>
      </a:lt1>
      <a:dk2>
        <a:srgbClr val="191D63"/>
      </a:dk2>
      <a:lt2>
        <a:srgbClr val="E6E6E5"/>
      </a:lt2>
      <a:accent1>
        <a:srgbClr val="FFC42F"/>
      </a:accent1>
      <a:accent2>
        <a:srgbClr val="EF4627"/>
      </a:accent2>
      <a:accent3>
        <a:srgbClr val="61BB46"/>
      </a:accent3>
      <a:accent4>
        <a:srgbClr val="4C70B7"/>
      </a:accent4>
      <a:accent5>
        <a:srgbClr val="D7A2CA"/>
      </a:accent5>
      <a:accent6>
        <a:srgbClr val="F16881"/>
      </a:accent6>
      <a:hlink>
        <a:srgbClr val="4C70B7"/>
      </a:hlink>
      <a:folHlink>
        <a:srgbClr val="EE9BC2"/>
      </a:folHlink>
    </a:clrScheme>
    <a:fontScheme name="CNS Fonts">
      <a:majorFont>
        <a:latin typeface="New Hero Medium"/>
        <a:ea typeface=""/>
        <a:cs typeface=""/>
      </a:majorFont>
      <a:minorFont>
        <a:latin typeface="New He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New Hero Medium</vt:lpstr>
      <vt:lpstr>Arial</vt:lpstr>
      <vt:lpstr>New Hero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 Gbur</dc:creator>
  <cp:lastModifiedBy>Nick Gbur</cp:lastModifiedBy>
  <cp:revision>8</cp:revision>
  <dcterms:created xsi:type="dcterms:W3CDTF">2026-04-16T17:17:21Z</dcterms:created>
  <dcterms:modified xsi:type="dcterms:W3CDTF">2026-04-21T16:28:45Z</dcterms:modified>
</cp:coreProperties>
</file>