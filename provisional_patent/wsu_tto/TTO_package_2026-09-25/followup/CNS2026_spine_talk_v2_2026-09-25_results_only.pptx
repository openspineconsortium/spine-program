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7"/>
  </p:notesMasterIdLst>
  <p:sldIdLst>
    <p:sldId id="542" r:id="rId33"/>
    <p:sldId id="543" r:id="rId34"/>
    <p:sldId id="544" r:id="rId35"/>
    <p:sldId id="559" r:id="rId25"/>
    <p:sldId id="560" r:id="rId26"/>
    <p:sldId id="561" r:id="rId24"/>
    <p:sldId id="562" r:id="rId23"/>
    <p:sldId id="563" r:id="rId22"/>
    <p:sldId id="564" r:id="rId21"/>
    <p:sldId id="565" r:id="rId20"/>
    <p:sldId id="566" r:id="rId19"/>
    <p:sldId id="567" r:id="rId18"/>
    <p:sldId id="568" r:id="rId17"/>
    <p:sldId id="569" r:id="rId16"/>
    <p:sldId id="570" r:id="rId15"/>
    <p:sldId id="571" r:id="rId14"/>
    <p:sldId id="572" r:id="rId13"/>
    <p:sldId id="573" r:id="rId12"/>
    <p:sldId id="574" r:id="rId11"/>
    <p:sldId id="575" r:id="rId10"/>
    <p:sldId id="57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ian Niebuhr" initials="BN" lastIdx="1" clrIdx="0">
    <p:extLst>
      <p:ext uri="{19B8F6BF-5375-455C-9EA6-DF929625EA0E}">
        <p15:presenceInfo xmlns:p15="http://schemas.microsoft.com/office/powerpoint/2012/main" userId="917d2e0bc700af2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D198"/>
    <a:srgbClr val="095945"/>
    <a:srgbClr val="4B1774"/>
    <a:srgbClr val="C17945"/>
    <a:srgbClr val="700806"/>
    <a:srgbClr val="FED07C"/>
    <a:srgbClr val="1E4576"/>
    <a:srgbClr val="71AD47"/>
    <a:srgbClr val="0D5946"/>
    <a:srgbClr val="0F5E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74" autoAdjust="0"/>
    <p:restoredTop sz="73382" autoAdjust="0"/>
  </p:normalViewPr>
  <p:slideViewPr>
    <p:cSldViewPr snapToGrid="0" snapToObjects="1">
      <p:cViewPr varScale="1">
        <p:scale>
          <a:sx n="66" d="100"/>
          <a:sy n="66" d="100"/>
        </p:scale>
        <p:origin x="1702" y="19"/>
      </p:cViewPr>
      <p:guideLst>
        <p:guide orient="horz" pos="2160"/>
        <p:guide pos="3840"/>
      </p:guideLst>
    </p:cSldViewPr>
  </p:slideViewPr>
  <p:outlineViewPr>
    <p:cViewPr>
      <p:scale>
        <a:sx n="50" d="100"/>
        <a:sy n="50" d="100"/>
      </p:scale>
      <p:origin x="0" y="0"/>
    </p:cViewPr>
  </p:outlineViewPr>
  <p:notesTextViewPr>
    <p:cViewPr>
      <p:scale>
        <a:sx n="229" d="100"/>
        <a:sy n="229"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35.xml"/><Relationship Id="rId10" Type="http://schemas.openxmlformats.org/officeDocument/2006/relationships/slide" Target="slides/slide34.xml"/><Relationship Id="rId11" Type="http://schemas.openxmlformats.org/officeDocument/2006/relationships/slide" Target="slides/slide33.xml"/><Relationship Id="rId12" Type="http://schemas.openxmlformats.org/officeDocument/2006/relationships/slide" Target="slides/slide32.xml"/><Relationship Id="rId13" Type="http://schemas.openxmlformats.org/officeDocument/2006/relationships/slide" Target="slides/slide31.xml"/><Relationship Id="rId14" Type="http://schemas.openxmlformats.org/officeDocument/2006/relationships/slide" Target="slides/slide30.xml"/><Relationship Id="rId15" Type="http://schemas.openxmlformats.org/officeDocument/2006/relationships/slide" Target="slides/slide29.xml"/><Relationship Id="rId16" Type="http://schemas.openxmlformats.org/officeDocument/2006/relationships/slide" Target="slides/slide28.xml"/><Relationship Id="rId17" Type="http://schemas.openxmlformats.org/officeDocument/2006/relationships/slide" Target="slides/slide27.xml"/><Relationship Id="rId18" Type="http://schemas.openxmlformats.org/officeDocument/2006/relationships/slide" Target="slides/slide26.xml"/><Relationship Id="rId19" Type="http://schemas.openxmlformats.org/officeDocument/2006/relationships/slide" Target="slides/slide25.xml"/><Relationship Id="rId20" Type="http://schemas.openxmlformats.org/officeDocument/2006/relationships/slide" Target="slides/slide24.xml"/><Relationship Id="rId21" Type="http://schemas.openxmlformats.org/officeDocument/2006/relationships/slide" Target="slides/slide23.xml"/><Relationship Id="rId22" Type="http://schemas.openxmlformats.org/officeDocument/2006/relationships/slide" Target="slides/slide22.xml"/><Relationship Id="rId23" Type="http://schemas.openxmlformats.org/officeDocument/2006/relationships/slide" Target="slides/slide21.xml"/><Relationship Id="rId24" Type="http://schemas.openxmlformats.org/officeDocument/2006/relationships/slide" Target="slides/slide20.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notesMaster" Target="notesMasters/notesMaster1.xml"/><Relationship Id="rId28" Type="http://schemas.openxmlformats.org/officeDocument/2006/relationships/commentAuthors" Target="commentAuthors.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1.xml"/><Relationship Id="rId34" Type="http://schemas.openxmlformats.org/officeDocument/2006/relationships/slide" Target="slides/slide2.xml"/><Relationship Id="rId35"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1081B4-569A-4AA1-A563-F003F93DAA35}" type="datetimeFigureOut">
              <a:rPr lang="en-US" smtClean="0"/>
              <a:t>8/14/2026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1C4F4F-5A6B-4D80-995B-29AA582F85C3}" type="slidenum">
              <a:rPr lang="en-US" smtClean="0"/>
              <a:t>‹#›</a:t>
            </a:fld>
            <a:endParaRPr lang="en-US"/>
          </a:p>
        </p:txBody>
      </p:sp>
    </p:spTree>
    <p:extLst>
      <p:ext uri="{BB962C8B-B14F-4D97-AF65-F5344CB8AC3E}">
        <p14:creationId xmlns:p14="http://schemas.microsoft.com/office/powerpoint/2010/main" val="183269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0:00-0:12  Title. Name, institutions, and that this is a rat model of MRI-guided LITT. Do not read the title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0:12-0:22  Disclosures. Read Dr Lee's Medtronic and Monteris agreements out loud - Monteris makes the LITT system, so the room will want to hear it named.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0:22-0:40  Roadmap. Five beats, ten seconds. Do not linger.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62DCA-494B-4843-88A4-6F1841A634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AFC6A1-64EF-4BEF-B69C-03B5B0F0C9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16AB28-1609-4157-B6A5-C3CF7F834B5C}"/>
              </a:ext>
            </a:extLst>
          </p:cNvPr>
          <p:cNvSpPr>
            <a:spLocks noGrp="1"/>
          </p:cNvSpPr>
          <p:nvPr>
            <p:ph type="dt" sz="half" idx="10"/>
          </p:nvPr>
        </p:nvSpPr>
        <p:spPr/>
        <p:txBody>
          <a:bodyPr/>
          <a:lstStyle/>
          <a:p>
            <a:fld id="{83284890-85D2-4D7B-8EF5-15A9C1DB8F42}" type="datetimeFigureOut">
              <a:rPr lang="en-US" smtClean="0"/>
              <a:t>8/14/2026</a:t>
            </a:fld>
            <a:endParaRPr lang="en-US" dirty="0"/>
          </a:p>
        </p:txBody>
      </p:sp>
      <p:sp>
        <p:nvSpPr>
          <p:cNvPr id="5" name="Footer Placeholder 4">
            <a:extLst>
              <a:ext uri="{FF2B5EF4-FFF2-40B4-BE49-F238E27FC236}">
                <a16:creationId xmlns:a16="http://schemas.microsoft.com/office/drawing/2014/main" id="{62273D0A-6D71-488A-949F-1FDC8E58BF10}"/>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FB5CA8AA-270B-4D7E-8402-D9FB0DFDC5A5}"/>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1936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F92E7-E0AB-487D-97F4-3E2F83AF7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66A00F-6B93-4590-AC16-E6A88A97736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C35487-6274-4BB8-9EA0-EB8A65B04BEB}"/>
              </a:ext>
            </a:extLst>
          </p:cNvPr>
          <p:cNvSpPr>
            <a:spLocks noGrp="1"/>
          </p:cNvSpPr>
          <p:nvPr>
            <p:ph type="dt" sz="half" idx="10"/>
          </p:nvPr>
        </p:nvSpPr>
        <p:spPr/>
        <p:txBody>
          <a:bodyPr/>
          <a:lstStyle/>
          <a:p>
            <a:fld id="{82F5661D-6934-4B32-B92C-470368BF1EC6}" type="datetimeFigureOut">
              <a:rPr lang="en-US" smtClean="0"/>
              <a:t>8/14/2026</a:t>
            </a:fld>
            <a:endParaRPr lang="en-US" dirty="0"/>
          </a:p>
        </p:txBody>
      </p:sp>
      <p:sp>
        <p:nvSpPr>
          <p:cNvPr id="5" name="Footer Placeholder 4">
            <a:extLst>
              <a:ext uri="{FF2B5EF4-FFF2-40B4-BE49-F238E27FC236}">
                <a16:creationId xmlns:a16="http://schemas.microsoft.com/office/drawing/2014/main" id="{63785C0A-92D0-42D5-B6AF-276D985D0394}"/>
              </a:ext>
            </a:extLst>
          </p:cNvPr>
          <p:cNvSpPr>
            <a:spLocks noGrp="1"/>
          </p:cNvSpPr>
          <p:nvPr>
            <p:ph type="ftr" sz="quarter" idx="11"/>
          </p:nvPr>
        </p:nvSpPr>
        <p:spPr/>
        <p:txBody>
          <a:bodyPr/>
          <a:lstStyle/>
          <a:p>
            <a:r>
              <a:rPr lang="en-US"/>
              <a:t>Click to add reference(s)</a:t>
            </a:r>
            <a:endParaRPr lang="en-US" dirty="0"/>
          </a:p>
        </p:txBody>
      </p:sp>
      <p:sp>
        <p:nvSpPr>
          <p:cNvPr id="6" name="Slide Number Placeholder 5">
            <a:extLst>
              <a:ext uri="{FF2B5EF4-FFF2-40B4-BE49-F238E27FC236}">
                <a16:creationId xmlns:a16="http://schemas.microsoft.com/office/drawing/2014/main" id="{59807826-0403-4F2B-B388-BE3FC7C7CDA1}"/>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89826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DBFAC-CC1C-4B67-BF96-80502E3AE4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ABC17F-70E1-4D95-A248-873AAF8DED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57E7D28-9361-456E-BF7A-E3FE302BAF2E}"/>
              </a:ext>
            </a:extLst>
          </p:cNvPr>
          <p:cNvSpPr>
            <a:spLocks noGrp="1"/>
          </p:cNvSpPr>
          <p:nvPr>
            <p:ph type="dt" sz="half" idx="10"/>
          </p:nvPr>
        </p:nvSpPr>
        <p:spPr/>
        <p:txBody>
          <a:bodyPr/>
          <a:lstStyle/>
          <a:p>
            <a:fld id="{C6F822A4-8DA6-4447-9B1F-C5DB58435268}" type="datetimeFigureOut">
              <a:rPr lang="en-US" smtClean="0"/>
              <a:t>8/14/2026</a:t>
            </a:fld>
            <a:endParaRPr lang="en-US" dirty="0"/>
          </a:p>
        </p:txBody>
      </p:sp>
      <p:sp>
        <p:nvSpPr>
          <p:cNvPr id="5" name="Footer Placeholder 4">
            <a:extLst>
              <a:ext uri="{FF2B5EF4-FFF2-40B4-BE49-F238E27FC236}">
                <a16:creationId xmlns:a16="http://schemas.microsoft.com/office/drawing/2014/main" id="{B2A23F8A-484E-475B-A6A6-3121262BD16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A75A0A2-C033-47F6-AF47-AAD188285B17}"/>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69687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7885-AC70-4CD8-BE7C-323AD79D9C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117AC9-50CA-481B-BF0B-3711C9847E3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F72A54-CC47-4F05-B76D-8B52291885B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FECECF-1C9E-46F2-A291-E32E1AF93199}"/>
              </a:ext>
            </a:extLst>
          </p:cNvPr>
          <p:cNvSpPr>
            <a:spLocks noGrp="1"/>
          </p:cNvSpPr>
          <p:nvPr>
            <p:ph type="dt" sz="half" idx="10"/>
          </p:nvPr>
        </p:nvSpPr>
        <p:spPr/>
        <p:txBody>
          <a:bodyPr/>
          <a:lstStyle/>
          <a:p>
            <a:fld id="{E548D31E-DCDA-41A7-9C67-C4B11B94D21D}" type="datetimeFigureOut">
              <a:rPr lang="en-US" smtClean="0"/>
              <a:t>8/14/2026</a:t>
            </a:fld>
            <a:endParaRPr lang="en-US" dirty="0"/>
          </a:p>
        </p:txBody>
      </p:sp>
      <p:sp>
        <p:nvSpPr>
          <p:cNvPr id="6" name="Footer Placeholder 5">
            <a:extLst>
              <a:ext uri="{FF2B5EF4-FFF2-40B4-BE49-F238E27FC236}">
                <a16:creationId xmlns:a16="http://schemas.microsoft.com/office/drawing/2014/main" id="{2050B02E-BB8D-4B85-9D79-8E59152B8D97}"/>
              </a:ext>
            </a:extLst>
          </p:cNvPr>
          <p:cNvSpPr>
            <a:spLocks noGrp="1"/>
          </p:cNvSpPr>
          <p:nvPr>
            <p:ph type="ftr" sz="quarter" idx="11"/>
          </p:nvPr>
        </p:nvSpPr>
        <p:spPr/>
        <p:txBody>
          <a:bodyPr/>
          <a:lstStyle/>
          <a:p>
            <a:r>
              <a:rPr lang="en-US"/>
              <a:t>Click to add reference(s)</a:t>
            </a:r>
            <a:endParaRPr lang="en-US" dirty="0"/>
          </a:p>
        </p:txBody>
      </p:sp>
      <p:sp>
        <p:nvSpPr>
          <p:cNvPr id="7" name="Slide Number Placeholder 6">
            <a:extLst>
              <a:ext uri="{FF2B5EF4-FFF2-40B4-BE49-F238E27FC236}">
                <a16:creationId xmlns:a16="http://schemas.microsoft.com/office/drawing/2014/main" id="{33367BC7-EC39-4BE2-8B8F-50A27FC798C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50697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FD09-7386-4291-9369-5BC88FE77F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26FD6D-F8CE-49EF-9B23-A0F9D1BF85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38CF869-F722-4F28-8B39-DF75D812A7C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FF81EB-E2AE-4146-B8F9-E57B22B4F8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E92264-B567-4AC7-8641-6896FB0C715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6B8ED5-FB44-4999-B150-3DA59F232D5C}"/>
              </a:ext>
            </a:extLst>
          </p:cNvPr>
          <p:cNvSpPr>
            <a:spLocks noGrp="1"/>
          </p:cNvSpPr>
          <p:nvPr>
            <p:ph type="dt" sz="half" idx="10"/>
          </p:nvPr>
        </p:nvSpPr>
        <p:spPr/>
        <p:txBody>
          <a:bodyPr/>
          <a:lstStyle/>
          <a:p>
            <a:fld id="{9B3762C0-B258-48F1-ADE6-176B4174CCDD}" type="datetimeFigureOut">
              <a:rPr lang="en-US" smtClean="0"/>
              <a:t>8/14/2026</a:t>
            </a:fld>
            <a:endParaRPr lang="en-US" dirty="0"/>
          </a:p>
        </p:txBody>
      </p:sp>
      <p:sp>
        <p:nvSpPr>
          <p:cNvPr id="8" name="Footer Placeholder 7">
            <a:extLst>
              <a:ext uri="{FF2B5EF4-FFF2-40B4-BE49-F238E27FC236}">
                <a16:creationId xmlns:a16="http://schemas.microsoft.com/office/drawing/2014/main" id="{D2DF199A-20D9-4A3B-AB7D-8626A95D40F0}"/>
              </a:ext>
            </a:extLst>
          </p:cNvPr>
          <p:cNvSpPr>
            <a:spLocks noGrp="1"/>
          </p:cNvSpPr>
          <p:nvPr>
            <p:ph type="ftr" sz="quarter" idx="11"/>
          </p:nvPr>
        </p:nvSpPr>
        <p:spPr/>
        <p:txBody>
          <a:bodyPr/>
          <a:lstStyle/>
          <a:p>
            <a:r>
              <a:rPr lang="en-US"/>
              <a:t>Click to add reference(s)</a:t>
            </a:r>
            <a:endParaRPr lang="en-US" dirty="0"/>
          </a:p>
        </p:txBody>
      </p:sp>
      <p:sp>
        <p:nvSpPr>
          <p:cNvPr id="9" name="Slide Number Placeholder 8">
            <a:extLst>
              <a:ext uri="{FF2B5EF4-FFF2-40B4-BE49-F238E27FC236}">
                <a16:creationId xmlns:a16="http://schemas.microsoft.com/office/drawing/2014/main" id="{A7DD7A8D-3AC4-4ADE-8685-F9F093FB885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93052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762C-C9D4-47A5-9E80-D40BD88299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EF8910-477F-4E9F-8223-A421E208AC5F}"/>
              </a:ext>
            </a:extLst>
          </p:cNvPr>
          <p:cNvSpPr>
            <a:spLocks noGrp="1"/>
          </p:cNvSpPr>
          <p:nvPr>
            <p:ph type="dt" sz="half" idx="10"/>
          </p:nvPr>
        </p:nvSpPr>
        <p:spPr/>
        <p:txBody>
          <a:bodyPr/>
          <a:lstStyle/>
          <a:p>
            <a:fld id="{677919A6-33EB-49BD-A62F-1FA56B9F9712}" type="datetimeFigureOut">
              <a:rPr lang="en-US" smtClean="0"/>
              <a:t>8/14/2026</a:t>
            </a:fld>
            <a:endParaRPr lang="en-US" dirty="0"/>
          </a:p>
        </p:txBody>
      </p:sp>
      <p:sp>
        <p:nvSpPr>
          <p:cNvPr id="4" name="Footer Placeholder 3">
            <a:extLst>
              <a:ext uri="{FF2B5EF4-FFF2-40B4-BE49-F238E27FC236}">
                <a16:creationId xmlns:a16="http://schemas.microsoft.com/office/drawing/2014/main" id="{F8316E5C-97F7-4AB2-B352-BC185279A7C8}"/>
              </a:ext>
            </a:extLst>
          </p:cNvPr>
          <p:cNvSpPr>
            <a:spLocks noGrp="1"/>
          </p:cNvSpPr>
          <p:nvPr>
            <p:ph type="ftr" sz="quarter" idx="11"/>
          </p:nvPr>
        </p:nvSpPr>
        <p:spPr/>
        <p:txBody>
          <a:bodyPr/>
          <a:lstStyle/>
          <a:p>
            <a:pPr algn="l"/>
            <a:r>
              <a:rPr lang="en-US"/>
              <a:t>Click to add reference(s)</a:t>
            </a:r>
            <a:endParaRPr lang="en-US" dirty="0"/>
          </a:p>
        </p:txBody>
      </p:sp>
      <p:sp>
        <p:nvSpPr>
          <p:cNvPr id="5" name="Slide Number Placeholder 4">
            <a:extLst>
              <a:ext uri="{FF2B5EF4-FFF2-40B4-BE49-F238E27FC236}">
                <a16:creationId xmlns:a16="http://schemas.microsoft.com/office/drawing/2014/main" id="{802C3FE0-483F-4FE8-8145-52CE71C6B55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58597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706266-1B59-4F00-84B2-5C176FC7EC48}"/>
              </a:ext>
            </a:extLst>
          </p:cNvPr>
          <p:cNvSpPr>
            <a:spLocks noGrp="1"/>
          </p:cNvSpPr>
          <p:nvPr>
            <p:ph type="dt" sz="half" idx="10"/>
          </p:nvPr>
        </p:nvSpPr>
        <p:spPr/>
        <p:txBody>
          <a:bodyPr/>
          <a:lstStyle/>
          <a:p>
            <a:fld id="{CA4E7D1B-D673-4CF6-8672-009D42ABD2A0}" type="datetimeFigureOut">
              <a:rPr lang="en-US" smtClean="0"/>
              <a:t>8/14/2026</a:t>
            </a:fld>
            <a:endParaRPr lang="en-US" dirty="0"/>
          </a:p>
        </p:txBody>
      </p:sp>
      <p:sp>
        <p:nvSpPr>
          <p:cNvPr id="3" name="Footer Placeholder 2">
            <a:extLst>
              <a:ext uri="{FF2B5EF4-FFF2-40B4-BE49-F238E27FC236}">
                <a16:creationId xmlns:a16="http://schemas.microsoft.com/office/drawing/2014/main" id="{E383CBD8-94A1-46C0-9CD6-B7207BEA749F}"/>
              </a:ext>
            </a:extLst>
          </p:cNvPr>
          <p:cNvSpPr>
            <a:spLocks noGrp="1"/>
          </p:cNvSpPr>
          <p:nvPr>
            <p:ph type="ftr" sz="quarter" idx="11"/>
          </p:nvPr>
        </p:nvSpPr>
        <p:spPr/>
        <p:txBody>
          <a:bodyPr/>
          <a:lstStyle/>
          <a:p>
            <a:pPr algn="l"/>
            <a:r>
              <a:rPr lang="en-US"/>
              <a:t>Click to add reference(s)</a:t>
            </a:r>
            <a:endParaRPr lang="en-US" dirty="0"/>
          </a:p>
        </p:txBody>
      </p:sp>
      <p:sp>
        <p:nvSpPr>
          <p:cNvPr id="4" name="Slide Number Placeholder 3">
            <a:extLst>
              <a:ext uri="{FF2B5EF4-FFF2-40B4-BE49-F238E27FC236}">
                <a16:creationId xmlns:a16="http://schemas.microsoft.com/office/drawing/2014/main" id="{63B4D725-7000-41BF-BBAA-3867CDF1CC6B}"/>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02194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53EE2-AA7F-46B8-8F7D-CFDBBB442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66BAE1-CE7C-4A98-9A69-D7F2F3074D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295F62-6FBA-48D9-80B5-0C4E223A7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BB8661-C7B6-498F-9995-34F8025B9545}"/>
              </a:ext>
            </a:extLst>
          </p:cNvPr>
          <p:cNvSpPr>
            <a:spLocks noGrp="1"/>
          </p:cNvSpPr>
          <p:nvPr>
            <p:ph type="dt" sz="half" idx="10"/>
          </p:nvPr>
        </p:nvSpPr>
        <p:spPr/>
        <p:txBody>
          <a:bodyPr/>
          <a:lstStyle/>
          <a:p>
            <a:fld id="{DA16AA21-1863-4931-97CB-99D0A168701B}" type="datetimeFigureOut">
              <a:rPr lang="en-US" smtClean="0"/>
              <a:t>8/14/2026</a:t>
            </a:fld>
            <a:endParaRPr lang="en-US" dirty="0"/>
          </a:p>
        </p:txBody>
      </p:sp>
      <p:sp>
        <p:nvSpPr>
          <p:cNvPr id="6" name="Footer Placeholder 5">
            <a:extLst>
              <a:ext uri="{FF2B5EF4-FFF2-40B4-BE49-F238E27FC236}">
                <a16:creationId xmlns:a16="http://schemas.microsoft.com/office/drawing/2014/main" id="{0CCE11FD-26C7-4BEE-A271-A21C6A775B9D}"/>
              </a:ext>
            </a:extLst>
          </p:cNvPr>
          <p:cNvSpPr>
            <a:spLocks noGrp="1"/>
          </p:cNvSpPr>
          <p:nvPr>
            <p:ph type="ftr" sz="quarter" idx="11"/>
          </p:nvPr>
        </p:nvSpPr>
        <p:spPr/>
        <p:txBody>
          <a:bodyPr/>
          <a:lstStyle/>
          <a:p>
            <a:pPr algn="l"/>
            <a:r>
              <a:rPr lang="en-US"/>
              <a:t>Click to add reference(s)</a:t>
            </a:r>
            <a:endParaRPr lang="en-US" dirty="0"/>
          </a:p>
        </p:txBody>
      </p:sp>
      <p:sp>
        <p:nvSpPr>
          <p:cNvPr id="7" name="Slide Number Placeholder 6">
            <a:extLst>
              <a:ext uri="{FF2B5EF4-FFF2-40B4-BE49-F238E27FC236}">
                <a16:creationId xmlns:a16="http://schemas.microsoft.com/office/drawing/2014/main" id="{84B2009C-DC8F-4BFD-996E-F1516F359BB8}"/>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8932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491C-9550-40F9-B0A9-7318409A54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B89A0F-D1B8-47D1-958E-389F11854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D025E-F59F-47D0-B9D6-E6E8E24C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9AD214C-A86E-489E-940A-9FE058A1552C}"/>
              </a:ext>
            </a:extLst>
          </p:cNvPr>
          <p:cNvSpPr>
            <a:spLocks noGrp="1"/>
          </p:cNvSpPr>
          <p:nvPr>
            <p:ph type="dt" sz="half" idx="10"/>
          </p:nvPr>
        </p:nvSpPr>
        <p:spPr/>
        <p:txBody>
          <a:bodyPr/>
          <a:lstStyle/>
          <a:p>
            <a:fld id="{3772C379-9A7C-4C87-A116-CBE9F58B04C5}" type="datetimeFigureOut">
              <a:rPr lang="en-US" smtClean="0"/>
              <a:t>8/14/2026</a:t>
            </a:fld>
            <a:endParaRPr lang="en-US" dirty="0"/>
          </a:p>
        </p:txBody>
      </p:sp>
      <p:sp>
        <p:nvSpPr>
          <p:cNvPr id="6" name="Footer Placeholder 5">
            <a:extLst>
              <a:ext uri="{FF2B5EF4-FFF2-40B4-BE49-F238E27FC236}">
                <a16:creationId xmlns:a16="http://schemas.microsoft.com/office/drawing/2014/main" id="{321A7F4C-351E-4988-98D0-AE42FE1463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B9EF8D-6582-4D21-AA61-C78BB65EC24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10447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438B3-1680-4C05-8CC4-E895BEED06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D96378-8D56-4963-918F-716A01BDFC9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C5B2B3-03CC-4D79-89DA-B5AED0FB7FB8}"/>
              </a:ext>
            </a:extLst>
          </p:cNvPr>
          <p:cNvSpPr>
            <a:spLocks noGrp="1"/>
          </p:cNvSpPr>
          <p:nvPr>
            <p:ph type="dt" sz="half" idx="10"/>
          </p:nvPr>
        </p:nvSpPr>
        <p:spPr/>
        <p:txBody>
          <a:bodyPr/>
          <a:lstStyle/>
          <a:p>
            <a:fld id="{87157CC2-0FC8-4686-B024-99790E0F5162}" type="datetimeFigureOut">
              <a:rPr lang="en-US" smtClean="0"/>
              <a:t>8/14/2026</a:t>
            </a:fld>
            <a:endParaRPr lang="en-US" dirty="0"/>
          </a:p>
        </p:txBody>
      </p:sp>
      <p:sp>
        <p:nvSpPr>
          <p:cNvPr id="5" name="Footer Placeholder 4">
            <a:extLst>
              <a:ext uri="{FF2B5EF4-FFF2-40B4-BE49-F238E27FC236}">
                <a16:creationId xmlns:a16="http://schemas.microsoft.com/office/drawing/2014/main" id="{34E19FD2-C25C-4BB2-8754-641D845DDF9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6083E9F7-7A91-43E8-BE89-63E45B1ECFC5}"/>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302746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4C3D66-5258-471A-A4E4-F8BDC30A8A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04A3E5-09D0-45A8-963E-C375A6C8FBD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4EABD-A5DB-43C1-8F0F-07AC3FEBBECD}"/>
              </a:ext>
            </a:extLst>
          </p:cNvPr>
          <p:cNvSpPr>
            <a:spLocks noGrp="1"/>
          </p:cNvSpPr>
          <p:nvPr>
            <p:ph type="dt" sz="half" idx="10"/>
          </p:nvPr>
        </p:nvSpPr>
        <p:spPr/>
        <p:txBody>
          <a:bodyPr/>
          <a:lstStyle/>
          <a:p>
            <a:fld id="{F6764DA5-CD3D-4590-A511-FCD3BC7A793E}" type="datetimeFigureOut">
              <a:rPr lang="en-US" smtClean="0"/>
              <a:t>8/14/2026</a:t>
            </a:fld>
            <a:endParaRPr lang="en-US" dirty="0"/>
          </a:p>
        </p:txBody>
      </p:sp>
      <p:sp>
        <p:nvSpPr>
          <p:cNvPr id="5" name="Footer Placeholder 4">
            <a:extLst>
              <a:ext uri="{FF2B5EF4-FFF2-40B4-BE49-F238E27FC236}">
                <a16:creationId xmlns:a16="http://schemas.microsoft.com/office/drawing/2014/main" id="{D3EE2292-216E-4185-A986-67EF6FA193C3}"/>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2D02FC95-D546-4DEC-B632-0CD58CE9A2E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82937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lgn="l"/>
            <a:r>
              <a:rPr lang="en-US"/>
              <a:t>Click to add reference(s)</a:t>
            </a:r>
            <a:endParaRPr lang="en-US" dirty="0"/>
          </a:p>
        </p:txBody>
      </p:sp>
    </p:spTree>
    <p:extLst>
      <p:ext uri="{BB962C8B-B14F-4D97-AF65-F5344CB8AC3E}">
        <p14:creationId xmlns:p14="http://schemas.microsoft.com/office/powerpoint/2010/main" val="791507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0F315A"/>
        </a:solidFill>
        <a:effectLst/>
      </p:bgPr>
    </p:bg>
    <p:spTree>
      <p:nvGrpSpPr>
        <p:cNvPr id="1" name=""/>
        <p:cNvGrpSpPr/>
        <p:nvPr/>
      </p:nvGrpSpPr>
      <p:grpSpPr>
        <a:xfrm>
          <a:off x="0" y="0"/>
          <a:ext cx="0" cy="0"/>
          <a:chOff x="0" y="0"/>
          <a:chExt cx="0" cy="0"/>
        </a:xfrm>
      </p:grpSpPr>
      <p:sp>
        <p:nvSpPr>
          <p:cNvPr id="2" name="Footer Placeholder 4"/>
          <p:cNvSpPr>
            <a:spLocks noGrp="1"/>
          </p:cNvSpPr>
          <p:nvPr>
            <p:ph type="ftr" sz="quarter" idx="11"/>
          </p:nvPr>
        </p:nvSpPr>
        <p:spPr>
          <a:xfrm>
            <a:off x="838200" y="6356350"/>
            <a:ext cx="10515600" cy="365125"/>
          </a:xfrm>
        </p:spPr>
        <p:txBody>
          <a:bodyPr/>
          <a:lstStyle>
            <a:lvl1pPr algn="l">
              <a:defRPr/>
            </a:lvl1pPr>
          </a:lstStyle>
          <a:p>
            <a:r>
              <a:rPr lang="en-US" dirty="0"/>
              <a:t>Click to add reference(s)</a:t>
            </a:r>
          </a:p>
        </p:txBody>
      </p:sp>
    </p:spTree>
    <p:extLst>
      <p:ext uri="{BB962C8B-B14F-4D97-AF65-F5344CB8AC3E}">
        <p14:creationId xmlns:p14="http://schemas.microsoft.com/office/powerpoint/2010/main" val="2521284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3386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1A9A0-90FE-43C2-84D1-C71FE68D67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AC6306-49B0-44D7-B626-1CB4B48890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C6F3B8-125D-4382-8ECC-06215C9DA6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64C608-40B1-4030-A28D-5B74BC98ADCE}" type="datetimeFigureOut">
              <a:rPr lang="en-US" smtClean="0"/>
              <a:t>8/14/2026</a:t>
            </a:fld>
            <a:endParaRPr lang="en-US" dirty="0"/>
          </a:p>
        </p:txBody>
      </p:sp>
      <p:sp>
        <p:nvSpPr>
          <p:cNvPr id="5" name="Footer Placeholder 4">
            <a:extLst>
              <a:ext uri="{FF2B5EF4-FFF2-40B4-BE49-F238E27FC236}">
                <a16:creationId xmlns:a16="http://schemas.microsoft.com/office/drawing/2014/main" id="{0D3A798C-4BCC-4954-9F71-3C2198BC3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B0E49EC-C902-4CC6-B228-D81CBD43BA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2102889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59" r:id="rId12"/>
    <p:sldLayoutId id="2147483660" r:id="rId13"/>
    <p:sldLayoutId id="214748365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B85330E8-EBD5-E3EF-A7E9-10B9D5517609}"/>
              </a:ext>
            </a:extLst>
          </p:cNvPr>
          <p:cNvSpPr/>
          <p:nvPr/>
        </p:nvSpPr>
        <p:spPr>
          <a:xfrm>
            <a:off x="5211" y="6350602"/>
            <a:ext cx="12192000" cy="516194"/>
          </a:xfrm>
          <a:prstGeom prst="rect">
            <a:avLst/>
          </a:prstGeom>
          <a:solidFill>
            <a:srgbClr val="0068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57BC3B59-ED30-4972-72A3-9A9E36EA5F87}"/>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400">
                <a:solidFill>
                  <a:srgbClr val="000000"/>
                </a:solidFill>
                <a:latin typeface="Arial"/>
              </a:rPr>
              <a:t>Detroit Medical Center / Wayne State University  ·  OpenSpineConsortium</a:t>
            </a:r>
          </a:p>
        </p:txBody>
      </p:sp>
      <p:sp>
        <p:nvSpPr>
          <p:cNvPr id="23" name="Rectangle 22">
            <a:extLst>
              <a:ext uri="{FF2B5EF4-FFF2-40B4-BE49-F238E27FC236}">
                <a16:creationId xmlns:a16="http://schemas.microsoft.com/office/drawing/2014/main" id="{C54B485E-510E-22C3-11CF-149ACC4F3158}"/>
              </a:ext>
            </a:extLst>
          </p:cNvPr>
          <p:cNvSpPr/>
          <p:nvPr/>
        </p:nvSpPr>
        <p:spPr>
          <a:xfrm>
            <a:off x="530694" y="-41047"/>
            <a:ext cx="635230" cy="917347"/>
          </a:xfrm>
          <a:prstGeom prst="rect">
            <a:avLst/>
          </a:prstGeom>
          <a:solidFill>
            <a:srgbClr val="0F5E5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84BF3321-14AD-5805-94C8-25DA20493824}"/>
              </a:ext>
            </a:extLst>
          </p:cNvPr>
          <p:cNvCxnSpPr>
            <a:cxnSpLocks/>
          </p:cNvCxnSpPr>
          <p:nvPr/>
        </p:nvCxnSpPr>
        <p:spPr>
          <a:xfrm>
            <a:off x="2877671" y="3832412"/>
            <a:ext cx="6427694" cy="0"/>
          </a:xfrm>
          <a:prstGeom prst="line">
            <a:avLst/>
          </a:prstGeom>
          <a:ln w="19050">
            <a:solidFill>
              <a:srgbClr val="0368A6"/>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16BA32AA-53AA-8ABA-8E56-8DA18720D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7790" y="5647997"/>
            <a:ext cx="1092809" cy="5354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me - Wayne State University: School of Medicine">
            <a:extLst>
              <a:ext uri="{FF2B5EF4-FFF2-40B4-BE49-F238E27FC236}">
                <a16:creationId xmlns:a16="http://schemas.microsoft.com/office/drawing/2014/main" id="{D766B862-DB9F-39EF-F06F-2C15C3EDBA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271"/>
          <a:stretch/>
        </p:blipFill>
        <p:spPr bwMode="auto">
          <a:xfrm>
            <a:off x="8454770" y="5455564"/>
            <a:ext cx="1507716" cy="74706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E73562F5-032C-EB92-2F5E-843286394E34}"/>
              </a:ext>
            </a:extLst>
          </p:cNvPr>
          <p:cNvCxnSpPr>
            <a:cxnSpLocks/>
          </p:cNvCxnSpPr>
          <p:nvPr/>
        </p:nvCxnSpPr>
        <p:spPr>
          <a:xfrm flipV="1">
            <a:off x="7658100" y="6055502"/>
            <a:ext cx="804247" cy="842503"/>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654831-EC24-D390-6562-0FA10D631A7D}"/>
              </a:ext>
            </a:extLst>
          </p:cNvPr>
          <p:cNvCxnSpPr>
            <a:cxnSpLocks/>
          </p:cNvCxnSpPr>
          <p:nvPr/>
        </p:nvCxnSpPr>
        <p:spPr>
          <a:xfrm>
            <a:off x="9957596" y="6055502"/>
            <a:ext cx="2234404" cy="0"/>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sp>
        <p:nvSpPr>
          <p:cNvPr id="12" name="Right Triangle 11">
            <a:extLst>
              <a:ext uri="{FF2B5EF4-FFF2-40B4-BE49-F238E27FC236}">
                <a16:creationId xmlns:a16="http://schemas.microsoft.com/office/drawing/2014/main" id="{8165F6EB-C626-54BA-C18C-6E72FD3E959E}"/>
              </a:ext>
            </a:extLst>
          </p:cNvPr>
          <p:cNvSpPr/>
          <p:nvPr/>
        </p:nvSpPr>
        <p:spPr>
          <a:xfrm rot="16200000">
            <a:off x="7768462" y="6362468"/>
            <a:ext cx="516194" cy="489797"/>
          </a:xfrm>
          <a:prstGeom prst="rtTriangle">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2FC642B-8A98-DD4E-39DC-8A6DBB57D2F8}"/>
              </a:ext>
            </a:extLst>
          </p:cNvPr>
          <p:cNvSpPr/>
          <p:nvPr/>
        </p:nvSpPr>
        <p:spPr>
          <a:xfrm>
            <a:off x="8271455" y="6346894"/>
            <a:ext cx="3920545" cy="518570"/>
          </a:xfrm>
          <a:prstGeom prst="rect">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a:extLst>
              <a:ext uri="{FF2B5EF4-FFF2-40B4-BE49-F238E27FC236}">
                <a16:creationId xmlns:a16="http://schemas.microsoft.com/office/drawing/2014/main" id="{28982041-4308-4F17-3AE4-9D4E8E97E4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804" y="352393"/>
            <a:ext cx="434409" cy="397090"/>
          </a:xfrm>
          <a:prstGeom prst="rect">
            <a:avLst/>
          </a:prstGeom>
          <a:noFill/>
          <a:extLst>
            <a:ext uri="{909E8E84-426E-40DD-AFC4-6F175D3DCCD1}">
              <a14:hiddenFill xmlns:a14="http://schemas.microsoft.com/office/drawing/2010/main">
                <a:solidFill>
                  <a:srgbClr val="FFFFFF"/>
                </a:solidFill>
              </a14:hiddenFill>
            </a:ext>
          </a:extLst>
        </p:spPr>
      </p:pic>
      <p:sp>
        <p:nvSpPr>
          <p:cNvPr id="14" name="Parallelogram 13">
            <a:extLst>
              <a:ext uri="{FF2B5EF4-FFF2-40B4-BE49-F238E27FC236}">
                <a16:creationId xmlns:a16="http://schemas.microsoft.com/office/drawing/2014/main" id="{8EB89D12-F0B2-FB53-36D2-EFD489FEA3CB}"/>
              </a:ext>
            </a:extLst>
          </p:cNvPr>
          <p:cNvSpPr/>
          <p:nvPr/>
        </p:nvSpPr>
        <p:spPr>
          <a:xfrm>
            <a:off x="7785710" y="6349269"/>
            <a:ext cx="522680" cy="516195"/>
          </a:xfrm>
          <a:prstGeom prst="parallelogram">
            <a:avLst>
              <a:gd name="adj" fmla="val 94827"/>
            </a:avLst>
          </a:prstGeom>
          <a:solidFill>
            <a:srgbClr val="FED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18A8CDE3-EE10-106D-A267-A1418C473B5A}"/>
              </a:ext>
            </a:extLst>
          </p:cNvPr>
          <p:cNvCxnSpPr>
            <a:cxnSpLocks/>
          </p:cNvCxnSpPr>
          <p:nvPr/>
        </p:nvCxnSpPr>
        <p:spPr>
          <a:xfrm>
            <a:off x="8274856" y="6357952"/>
            <a:ext cx="409581" cy="0"/>
          </a:xfrm>
          <a:prstGeom prst="line">
            <a:avLst/>
          </a:prstGeom>
          <a:ln w="28575">
            <a:solidFill>
              <a:srgbClr val="FED07C"/>
            </a:solidFill>
          </a:ln>
        </p:spPr>
        <p:style>
          <a:lnRef idx="1">
            <a:schemeClr val="accent1"/>
          </a:lnRef>
          <a:fillRef idx="0">
            <a:schemeClr val="accent1"/>
          </a:fillRef>
          <a:effectRef idx="0">
            <a:schemeClr val="accent1"/>
          </a:effectRef>
          <a:fontRef idx="minor">
            <a:schemeClr val="tx1"/>
          </a:fontRef>
        </p:style>
      </p:cxnSp>
      <p:sp>
        <p:nvSpPr>
          <p:cNvPr id="30" name="Parallelogram 29">
            <a:extLst>
              <a:ext uri="{FF2B5EF4-FFF2-40B4-BE49-F238E27FC236}">
                <a16:creationId xmlns:a16="http://schemas.microsoft.com/office/drawing/2014/main" id="{B35AF966-733A-072C-4499-16A2F93909DB}"/>
              </a:ext>
            </a:extLst>
          </p:cNvPr>
          <p:cNvSpPr/>
          <p:nvPr/>
        </p:nvSpPr>
        <p:spPr>
          <a:xfrm>
            <a:off x="8046757" y="634356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arallelogram 30">
            <a:extLst>
              <a:ext uri="{FF2B5EF4-FFF2-40B4-BE49-F238E27FC236}">
                <a16:creationId xmlns:a16="http://schemas.microsoft.com/office/drawing/2014/main" id="{7C06F1E4-30FF-F38D-0417-1F70EE71B466}"/>
              </a:ext>
            </a:extLst>
          </p:cNvPr>
          <p:cNvSpPr/>
          <p:nvPr/>
        </p:nvSpPr>
        <p:spPr>
          <a:xfrm>
            <a:off x="8126586" y="6345343"/>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3A46F8B2-72CE-6AAC-6D61-E072ECEDED25}"/>
              </a:ext>
            </a:extLst>
          </p:cNvPr>
          <p:cNvSpPr/>
          <p:nvPr/>
        </p:nvSpPr>
        <p:spPr>
          <a:xfrm>
            <a:off x="8190600" y="6346894"/>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arallelogram 24">
            <a:extLst>
              <a:ext uri="{FF2B5EF4-FFF2-40B4-BE49-F238E27FC236}">
                <a16:creationId xmlns:a16="http://schemas.microsoft.com/office/drawing/2014/main" id="{CE36FEDF-B37F-18E5-F2E3-CD3E91088C74}"/>
              </a:ext>
            </a:extLst>
          </p:cNvPr>
          <p:cNvSpPr/>
          <p:nvPr/>
        </p:nvSpPr>
        <p:spPr>
          <a:xfrm>
            <a:off x="7952465" y="634657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TextBox 1030"/>
          <p:cNvSpPr txBox="1"/>
          <p:nvPr/>
        </p:nvSpPr>
        <p:spPr>
          <a:xfrm>
            <a:off x="502920" y="2395728"/>
            <a:ext cx="11155680" cy="1280160"/>
          </a:xfrm>
          <a:prstGeom prst="rect">
            <a:avLst/>
          </a:prstGeom>
          <a:noFill/>
        </p:spPr>
        <p:txBody>
          <a:bodyPr wrap="square" anchor="t" lIns="0" rIns="0" tIns="0" bIns="0">
            <a:spAutoFit/>
          </a:bodyPr>
          <a:lstStyle/>
          <a:p>
            <a:pPr algn="ctr">
              <a:spcBef>
                <a:spcPts val="0"/>
              </a:spcBef>
              <a:spcAft>
                <a:spcPts val="0"/>
              </a:spcAft>
            </a:pPr>
            <a:r>
              <a:rPr sz="3000">
                <a:solidFill>
                  <a:srgbClr val="000000"/>
                </a:solidFill>
                <a:latin typeface="Arial"/>
              </a:rPr>
              <a:t>Naming a Lumbar Level Without Counting From C2: From the CT Label to the C-arm Exposure</a:t>
            </a:r>
          </a:p>
        </p:txBody>
      </p:sp>
      <p:sp>
        <p:nvSpPr>
          <p:cNvPr id="1032" name="TextBox 1031"/>
          <p:cNvSpPr txBox="1"/>
          <p:nvPr/>
        </p:nvSpPr>
        <p:spPr>
          <a:xfrm>
            <a:off x="530352" y="3968496"/>
            <a:ext cx="10607040" cy="457200"/>
          </a:xfrm>
          <a:prstGeom prst="rect">
            <a:avLst/>
          </a:prstGeom>
          <a:noFill/>
        </p:spPr>
        <p:txBody>
          <a:bodyPr wrap="square" anchor="t" lIns="0" rIns="0" tIns="0" bIns="0">
            <a:spAutoFit/>
          </a:bodyPr>
          <a:lstStyle/>
          <a:p>
            <a:pPr algn="l">
              <a:spcBef>
                <a:spcPts val="0"/>
              </a:spcBef>
              <a:spcAft>
                <a:spcPts val="600"/>
              </a:spcAft>
            </a:pPr>
            <a:r>
              <a:rPr sz="1500">
                <a:solidFill>
                  <a:srgbClr val="000000"/>
                </a:solidFill>
                <a:latin typeface="Arial"/>
              </a:rPr>
              <a:t>Gregory J. Schwing, MD, PhD¹   ·   Patrick Schwing²   ·   Miraziz Ismoilov, MD³   ·   Nizar Alnabahneh, MD³   ·   Loren Schwiebert, PhD⁴   ·   the OpenSpineConsortium annotators⁵</a:t>
            </a:r>
          </a:p>
        </p:txBody>
      </p:sp>
      <p:sp>
        <p:nvSpPr>
          <p:cNvPr id="1033" name="TextBox 1032"/>
          <p:cNvSpPr txBox="1"/>
          <p:nvPr/>
        </p:nvSpPr>
        <p:spPr>
          <a:xfrm>
            <a:off x="530352" y="4626864"/>
            <a:ext cx="7955279" cy="685800"/>
          </a:xfrm>
          <a:prstGeom prst="rect">
            <a:avLst/>
          </a:prstGeom>
          <a:noFill/>
        </p:spPr>
        <p:txBody>
          <a:bodyPr wrap="square" anchor="t" lIns="0" rIns="0" tIns="0" bIns="0">
            <a:spAutoFit/>
          </a:bodyPr>
          <a:lstStyle/>
          <a:p>
            <a:pPr algn="l">
              <a:spcBef>
                <a:spcPts val="0"/>
              </a:spcBef>
              <a:spcAft>
                <a:spcPts val="200"/>
              </a:spcAft>
            </a:pPr>
            <a:r>
              <a:rPr sz="1150">
                <a:solidFill>
                  <a:srgbClr val="595959"/>
                </a:solidFill>
                <a:latin typeface="Arial"/>
              </a:rPr>
              <a:t>¹ Department of General Surgery, Detroit Medical Center / Wayne State University, Detroit, MI   ·   ² School of Medicine, LSU Health Sciences Center New Orleans</a:t>
            </a:r>
          </a:p>
          <a:p>
            <a:r>
              <a:rPr sz="1150">
                <a:solidFill>
                  <a:srgbClr val="595959"/>
                </a:solidFill>
                <a:latin typeface="Arial"/>
              </a:rPr>
              <a:t>³ Department of Radiology, Detroit Medical Center / Wayne State University   ·   ⁴ Department of Computer Science, Wayne State University   ·   ⁵ Wayne State University School of Medicine</a:t>
            </a:r>
          </a:p>
        </p:txBody>
      </p:sp>
      <p:sp>
        <p:nvSpPr>
          <p:cNvPr id="1034" name="TextBox 1033"/>
          <p:cNvSpPr txBox="1"/>
          <p:nvPr/>
        </p:nvSpPr>
        <p:spPr>
          <a:xfrm>
            <a:off x="530352" y="5504688"/>
            <a:ext cx="6309360" cy="640080"/>
          </a:xfrm>
          <a:prstGeom prst="rect">
            <a:avLst/>
          </a:prstGeom>
          <a:noFill/>
        </p:spPr>
        <p:txBody>
          <a:bodyPr wrap="square" anchor="t" lIns="0" rIns="0" tIns="0" bIns="0">
            <a:spAutoFit/>
          </a:bodyPr>
          <a:lstStyle/>
          <a:p>
            <a:pPr algn="l">
              <a:spcBef>
                <a:spcPts val="0"/>
              </a:spcBef>
              <a:spcAft>
                <a:spcPts val="200"/>
              </a:spcAft>
            </a:pPr>
            <a:r>
              <a:rPr sz="1300">
                <a:solidFill>
                  <a:srgbClr val="095945"/>
                </a:solidFill>
                <a:latin typeface="Arial"/>
              </a:rPr>
              <a:t>Abstract [number pending]   ·   [session pending]</a:t>
            </a:r>
          </a:p>
          <a:p>
            <a:r>
              <a:rPr sz="1300">
                <a:solidFill>
                  <a:srgbClr val="095945"/>
                </a:solidFill>
                <a:latin typeface="Arial"/>
              </a:rPr>
              <a:t>CNS 2026, Washington, DC</a:t>
            </a:r>
          </a:p>
        </p:txBody>
      </p:sp>
      <p:sp>
        <p:nvSpPr>
          <p:cNvPr id="1035" name="TextBox 1034"/>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Disclosures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Disclosures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10881360" cy="3108960"/>
          </a:xfrm>
          <a:prstGeom prst="rect">
            <a:avLst/>
          </a:prstGeom>
          <a:noFill/>
        </p:spPr>
        <p:txBody>
          <a:bodyPr wrap="square" anchor="t" lIns="0" rIns="0" tIns="0" bIns="0">
            <a:spAutoFit/>
          </a:bodyPr>
          <a:lstStyle/>
          <a:p>
            <a:pPr algn="l">
              <a:spcBef>
                <a:spcPts val="0"/>
              </a:spcBef>
              <a:spcAft>
                <a:spcPts val="600"/>
              </a:spcAft>
            </a:pPr>
            <a:r>
              <a:rPr sz="1800">
                <a:solidFill>
                  <a:srgbClr val="000000"/>
                </a:solidFill>
                <a:latin typeface="Arial"/>
              </a:rPr>
              <a:t>The authors have no relevant financial relationships to disclose.</a:t>
            </a:r>
          </a:p>
          <a:p>
            <a:pPr>
              <a:spcBef>
                <a:spcPts val="0"/>
              </a:spcBef>
              <a:spcAft>
                <a:spcPts val="600"/>
              </a:spcAft>
            </a:pPr>
            <a:r>
              <a:rPr sz="1800">
                <a:solidFill>
                  <a:srgbClr val="000000"/>
                </a:solidFill>
                <a:latin typeface="Arial"/>
              </a:rPr>
              <a:t>All imaging is public and de-identified; the Wayne State University IRB determined the work is not human-participant research (2 September 2026). Funding: NIH NIGMS F30GM147909.</a:t>
            </a:r>
          </a:p>
          <a:p>
            <a:pPr>
              <a:spcBef>
                <a:spcPts val="0"/>
              </a:spcBef>
              <a:spcAft>
                <a:spcPts val="600"/>
              </a:spcAft>
            </a:pPr>
            <a:r>
              <a:rPr sz="1800">
                <a:solidFill>
                  <a:srgbClr val="000000"/>
                </a:solidFill>
                <a:latin typeface="Arial"/>
              </a:rPr>
              <a:t>An invention disclosure covering the level-naming system is on file with Wayne State University. This talk shows what the system does and how it was tested; its methods are withheld until that review is complete.</a:t>
            </a:r>
          </a:p>
          <a:p>
            <a:pPr>
              <a:spcBef>
                <a:spcPts val="0"/>
              </a:spcBef>
              <a:spcAft>
                <a:spcPts val="600"/>
              </a:spcAft>
            </a:pPr>
            <a:r>
              <a:rPr sz="1800">
                <a:solidFill>
                  <a:srgbClr val="000000"/>
                </a:solidFill>
                <a:latin typeface="Arial"/>
              </a:rPr>
              <a:t>Nothing shown is a medical device. The C-arm results are retrospective, on public exposures, and have not been evaluated prospectively.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Overview</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One question, three papers, in the order the anatomy allows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ectangle 24"/>
          <p:cNvSpPr/>
          <p:nvPr/>
        </p:nvSpPr>
        <p:spPr>
          <a:xfrm>
            <a:off x="274320" y="1481328"/>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1</a:t>
            </a:r>
          </a:p>
        </p:txBody>
      </p:sp>
      <p:sp>
        <p:nvSpPr>
          <p:cNvPr id="26" name="TextBox 25"/>
          <p:cNvSpPr txBox="1"/>
          <p:nvPr/>
        </p:nvSpPr>
        <p:spPr>
          <a:xfrm>
            <a:off x="932688" y="1453896"/>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The problem — a lumbar level is named by counting from C2, and the study a lumbar case is planned on has no C2</a:t>
            </a:r>
          </a:p>
        </p:txBody>
      </p:sp>
      <p:sp>
        <p:nvSpPr>
          <p:cNvPr id="27" name="Rectangle 26"/>
          <p:cNvSpPr/>
          <p:nvPr/>
        </p:nvSpPr>
        <p:spPr>
          <a:xfrm>
            <a:off x="274320" y="2340864"/>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2</a:t>
            </a:r>
          </a:p>
        </p:txBody>
      </p:sp>
      <p:sp>
        <p:nvSpPr>
          <p:cNvPr id="28" name="TextBox 27"/>
          <p:cNvSpPr txBox="1"/>
          <p:nvPr/>
        </p:nvSpPr>
        <p:spPr>
          <a:xfrm>
            <a:off x="932688" y="2313432"/>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CT first — transitional anatomy can be confirmed on CT, so that is where the labels were made: CTSpinoPelvic1K, 802 records, every anomaly a class of its own</a:t>
            </a:r>
          </a:p>
        </p:txBody>
      </p:sp>
      <p:sp>
        <p:nvSpPr>
          <p:cNvPr id="29" name="Rectangle 28"/>
          <p:cNvSpPr/>
          <p:nvPr/>
        </p:nvSpPr>
        <p:spPr>
          <a:xfrm>
            <a:off x="274320" y="3200400"/>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3</a:t>
            </a:r>
          </a:p>
        </p:txBody>
      </p:sp>
      <p:sp>
        <p:nvSpPr>
          <p:cNvPr id="30" name="TextBox 29"/>
          <p:cNvSpPr txBox="1"/>
          <p:nvPr/>
        </p:nvSpPr>
        <p:spPr>
          <a:xfrm>
            <a:off x="932688" y="3172968"/>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What today's CT segmenters do with it — the most deployed tool reproduces the pattern of a one-level miscount on lumbarization (Not All Spines Are Created Equal, NeurIPS 2026)</a:t>
            </a:r>
          </a:p>
        </p:txBody>
      </p:sp>
      <p:sp>
        <p:nvSpPr>
          <p:cNvPr id="31" name="Rectangle 30"/>
          <p:cNvSpPr/>
          <p:nvPr/>
        </p:nvSpPr>
        <p:spPr>
          <a:xfrm>
            <a:off x="274320" y="4059935"/>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4</a:t>
            </a:r>
          </a:p>
        </p:txBody>
      </p:sp>
      <p:sp>
        <p:nvSpPr>
          <p:cNvPr id="32" name="TextBox 31"/>
          <p:cNvSpPr txBox="1"/>
          <p:nvPr/>
        </p:nvSpPr>
        <p:spPr>
          <a:xfrm>
            <a:off x="932688" y="4032503"/>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The same name on the image the surgeon looks at — a network names lumbar levels on one exposure of a C-arm it never saw (SchwingNet)</a:t>
            </a:r>
          </a:p>
        </p:txBody>
      </p:sp>
      <p:sp>
        <p:nvSpPr>
          <p:cNvPr id="33" name="Rectangle 32"/>
          <p:cNvSpPr/>
          <p:nvPr/>
        </p:nvSpPr>
        <p:spPr>
          <a:xfrm>
            <a:off x="274320" y="4919472"/>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5</a:t>
            </a:r>
          </a:p>
        </p:txBody>
      </p:sp>
      <p:sp>
        <p:nvSpPr>
          <p:cNvPr id="34" name="TextBox 33"/>
          <p:cNvSpPr txBox="1"/>
          <p:nvPr/>
        </p:nvSpPr>
        <p:spPr>
          <a:xfrm>
            <a:off x="932688" y="4892040"/>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What is still owed — the transitional test persons that certify it, and the CT census being built to find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count fails exactly where the anatomy is transitional</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6000000" cy="3840480"/>
          </a:xfrm>
          <a:prstGeom prst="rect">
            <a:avLst/>
          </a:prstGeom>
          <a:noFill/>
        </p:spPr>
        <p:txBody>
          <a:bodyPr wrap="square" anchor="t" lIns="0" rIns="0" tIns="0" bIns="0">
            <a:spAutoFit/>
          </a:bodyPr>
          <a:lstStyle/>
          <a:p>
            <a:pPr algn="l">
              <a:spcBef>
                <a:spcPts val="0"/>
              </a:spcBef>
              <a:spcAft>
                <a:spcPts val="1000"/>
              </a:spcAft>
            </a:pPr>
            <a:r>
              <a:rPr sz="1800">
                <a:solidFill>
                  <a:srgbClr val="000000"/>
                </a:solidFill>
                <a:latin typeface="Arial"/>
              </a:rPr>
              <a:t>Wrong-level spine surgery runs at about one in 3,100 spinal procedures, and the cause most often cited is transitional anatomy.¹</a:t>
            </a:r>
          </a:p>
          <a:p>
            <a:pPr>
              <a:spcBef>
                <a:spcPts val="0"/>
              </a:spcBef>
              <a:spcAft>
                <a:spcPts val="1000"/>
              </a:spcAft>
            </a:pPr>
            <a:r>
              <a:rPr sz="1800">
                <a:solidFill>
                  <a:srgbClr val="000000"/>
                </a:solidFill>
                <a:latin typeface="Arial"/>
              </a:rPr>
              <a:t>A lumbosacral transitional vertebra is present in roughly one patient in ten; a thoracolumbar variant (a stump twelfth rib, a lumbar rib, a thirteenth thoracic vertebra) in more.</a:t>
            </a:r>
          </a:p>
          <a:p>
            <a:pPr>
              <a:spcBef>
                <a:spcPts val="0"/>
              </a:spcBef>
              <a:spcAft>
                <a:spcPts val="1000"/>
              </a:spcAft>
            </a:pPr>
            <a:r>
              <a:rPr sz="1800">
                <a:solidFill>
                  <a:srgbClr val="000000"/>
                </a:solidFill>
                <a:latin typeface="Arial"/>
              </a:rPr>
              <a:t>The gold standard names a level by counting caudally from C2 on whole-spine imaging. A lumbar case is planned on a lumbar study, T12 to S1. C2 is never in it.</a:t>
            </a:r>
          </a:p>
          <a:p>
            <a:pPr>
              <a:spcBef>
                <a:spcPts val="0"/>
              </a:spcBef>
              <a:spcAft>
                <a:spcPts val="1000"/>
              </a:spcAft>
            </a:pPr>
            <a:r>
              <a:rPr sz="1800">
                <a:solidFill>
                  <a:srgbClr val="000000"/>
                </a:solidFill>
                <a:latin typeface="Arial"/>
              </a:rPr>
              <a:t>So the name rests on local morphology, and the question is whether morphology is enough.</a:t>
            </a:r>
          </a:p>
        </p:txBody>
      </p:sp>
      <p:sp>
        <p:nvSpPr>
          <p:cNvPr id="32" name="TextBox 31"/>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1. Epstein NE. Surg Neurol Int 2021;12:286.   Field of view of 802 abdominopelvic CTs: the thoracic column enters from above; C2 never.</a:t>
            </a:r>
          </a:p>
        </p:txBody>
      </p:sp>
      <p:pic>
        <p:nvPicPr>
          <p:cNvPr id="33" name="Picture 32" descr="fig_fov.png"/>
          <p:cNvPicPr>
            <a:picLocks noChangeAspect="1"/>
          </p:cNvPicPr>
          <p:nvPr/>
        </p:nvPicPr>
        <p:blipFill>
          <a:blip r:embed="rId5"/>
          <a:stretch>
            <a:fillRect/>
          </a:stretch>
        </p:blipFill>
        <p:spPr>
          <a:xfrm>
            <a:off x="6500000" y="1371600"/>
            <a:ext cx="5300000" cy="168775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same count, three anatomies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4331600"/>
            <a:ext cx="11679936" cy="131840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Four rib-free bodies above the sacrum: an L1 that carries a lumbar rib and is counted thoracic (b), or an L5 assimilated to the sacrum (c). Same count, opposite surgical anatomy.</a:t>
            </a:r>
          </a:p>
          <a:p>
            <a:pPr>
              <a:spcBef>
                <a:spcPts val="0"/>
              </a:spcBef>
              <a:spcAft>
                <a:spcPts val="600"/>
              </a:spcAft>
            </a:pPr>
            <a:r>
              <a:rPr sz="1300">
                <a:solidFill>
                  <a:srgbClr val="000000"/>
                </a:solidFill>
                <a:latin typeface="Arial"/>
              </a:rPr>
              <a:t>Six rib-free bodies (d): a true sixth lumbar vertebra, a T12 whose ribs are aplastic and is counted lumbar, or a first sacral segment that separated.</a:t>
            </a:r>
          </a:p>
          <a:p>
            <a:pPr>
              <a:spcBef>
                <a:spcPts val="0"/>
              </a:spcBef>
              <a:spcAft>
                <a:spcPts val="600"/>
              </a:spcAft>
            </a:pPr>
            <a:r>
              <a:rPr sz="1300">
                <a:solidFill>
                  <a:srgbClr val="000000"/>
                </a:solidFill>
                <a:latin typeface="Arial"/>
              </a:rPr>
              <a:t>The origin of the border vertebra decides where the mobile junction is, which root exits beneath it, and which end plate the pelvic parameters were measured on.²</a:t>
            </a:r>
          </a:p>
        </p:txBody>
      </p:sp>
      <p:sp>
        <p:nvSpPr>
          <p:cNvPr id="32" name="TextBox 31"/>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2. Konin GP, Walz DM. AJNR 2010;31:1778–1786.   Records 0704, 0428, 0094 and 0005 of CTSpinoPelvic1K, aligned on the sacrum.</a:t>
            </a:r>
          </a:p>
        </p:txBody>
      </p:sp>
      <p:pic>
        <p:nvPicPr>
          <p:cNvPr id="33" name="Picture 32" descr="fig_phenotypes.png"/>
          <p:cNvPicPr>
            <a:picLocks noChangeAspect="1"/>
          </p:cNvPicPr>
          <p:nvPr/>
        </p:nvPicPr>
        <p:blipFill>
          <a:blip r:embed="rId5"/>
          <a:stretch>
            <a:fillRect/>
          </a:stretch>
        </p:blipFill>
        <p:spPr>
          <a:xfrm>
            <a:off x="1159524" y="1371600"/>
            <a:ext cx="9872952" cy="2800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Why CT came first: confirmable on CT, only inferred on film</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50292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1 · Confirm and label on CT</a:t>
            </a:r>
          </a:p>
        </p:txBody>
      </p:sp>
      <p:sp>
        <p:nvSpPr>
          <p:cNvPr id="26" name="TextBox 25"/>
          <p:cNvSpPr txBox="1"/>
          <p:nvPr/>
        </p:nvSpPr>
        <p:spPr>
          <a:xfrm>
            <a:off x="50292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CTSpinoPelvic1K, 802 records:</a:t>
            </a:r>
          </a:p>
          <a:p>
            <a:r>
              <a:rPr sz="1300">
                <a:solidFill>
                  <a:srgbClr val="595959"/>
                </a:solidFill>
                <a:latin typeface="Arial"/>
              </a:rPr>
              <a:t>every anomaly a class of its own</a:t>
            </a:r>
          </a:p>
        </p:txBody>
      </p:sp>
      <p:sp>
        <p:nvSpPr>
          <p:cNvPr id="27" name="Isosceles Triangle 26"/>
          <p:cNvSpPr/>
          <p:nvPr/>
        </p:nvSpPr>
        <p:spPr>
          <a:xfrm rot="5400000">
            <a:off x="402335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43484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2 · Test the tools that read CT</a:t>
            </a:r>
          </a:p>
        </p:txBody>
      </p:sp>
      <p:sp>
        <p:nvSpPr>
          <p:cNvPr id="29" name="TextBox 28"/>
          <p:cNvSpPr txBox="1"/>
          <p:nvPr/>
        </p:nvSpPr>
        <p:spPr>
          <a:xfrm>
            <a:off x="443484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Not All Spines: a deployed segmenter</a:t>
            </a:r>
          </a:p>
          <a:p>
            <a:r>
              <a:rPr sz="1300">
                <a:solidFill>
                  <a:srgbClr val="595959"/>
                </a:solidFill>
                <a:latin typeface="Arial"/>
              </a:rPr>
              <a:t>at the lumbosacral junction</a:t>
            </a:r>
          </a:p>
        </p:txBody>
      </p:sp>
      <p:sp>
        <p:nvSpPr>
          <p:cNvPr id="30" name="Isosceles Triangle 29"/>
          <p:cNvSpPr/>
          <p:nvPr/>
        </p:nvSpPr>
        <p:spPr>
          <a:xfrm rot="5400000">
            <a:off x="795527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36676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3 · Carry the name to the C-arm</a:t>
            </a:r>
          </a:p>
        </p:txBody>
      </p:sp>
      <p:sp>
        <p:nvSpPr>
          <p:cNvPr id="32" name="TextBox 31"/>
          <p:cNvSpPr txBox="1"/>
          <p:nvPr/>
        </p:nvSpPr>
        <p:spPr>
          <a:xfrm>
            <a:off x="836676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SchwingNet: the level from shape</a:t>
            </a:r>
          </a:p>
          <a:p>
            <a:r>
              <a:rPr sz="1300">
                <a:solidFill>
                  <a:srgbClr val="595959"/>
                </a:solidFill>
                <a:latin typeface="Arial"/>
              </a:rPr>
              <a:t>on one exposure, nothing to count</a:t>
            </a:r>
          </a:p>
        </p:txBody>
      </p:sp>
      <p:sp>
        <p:nvSpPr>
          <p:cNvPr id="33" name="TextBox 32"/>
          <p:cNvSpPr txBox="1"/>
          <p:nvPr/>
        </p:nvSpPr>
        <p:spPr>
          <a:xfrm>
            <a:off x="256032" y="3703320"/>
            <a:ext cx="11521440" cy="201168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On CT the evidence that makes a vertebra transitional is in the volume: the rib on the lowest thoracic body, the transverse process meeting the sacral ala, the disc or its absence beneath the last free body, the number of sacral segments. A reader can confirm it and a label can record it.</a:t>
            </a:r>
          </a:p>
          <a:p>
            <a:pPr>
              <a:spcBef>
                <a:spcPts val="0"/>
              </a:spcBef>
              <a:spcAft>
                <a:spcPts val="600"/>
              </a:spcAft>
            </a:pPr>
            <a:r>
              <a:rPr sz="1400">
                <a:solidFill>
                  <a:srgbClr val="000000"/>
                </a:solidFill>
                <a:latin typeface="Arial"/>
              </a:rPr>
              <a:t>On a radiograph or a C-arm frame those structures overlap, the field holds neither end of the spine, and no released radiograph anywhere carries a human-read T13 or Castellvi grade. The transitional truth exists on CT and nowhere else.</a:t>
            </a:r>
          </a:p>
          <a:p>
            <a:pPr>
              <a:spcBef>
                <a:spcPts val="0"/>
              </a:spcBef>
              <a:spcAft>
                <a:spcPts val="600"/>
              </a:spcAft>
            </a:pPr>
            <a:r>
              <a:rPr sz="1400">
                <a:solidFill>
                  <a:srgbClr val="000000"/>
                </a:solidFill>
                <a:latin typeface="Arial"/>
              </a:rPr>
              <a:t>So the work ran in that order. Label the anatomy where it can be confirmed; measure what CT tools do with it; then carry the name to the image the surgeon looks at, and count what it will take to certify it there.</a:t>
            </a:r>
          </a:p>
        </p:txBody>
      </p:sp>
      <p:sp>
        <p:nvSpPr>
          <p:cNvPr id="34" name="TextBox 33"/>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3. Castellvi AE, et al. Spine 1984;9:493–495.   4. Carrino JA, et al. Radiology 2011;259:196–202.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The dataset</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Two anchors on every record, and a class for every anomaly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4081600"/>
            <a:ext cx="11679936" cy="156840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802 abdominopelvic CT records (TCIA CT COLONOGRAPHY): CTSpine1K's vertebrae and CTPelvic1K's pelvis joined on one series, plus per-level ribs, femora, a separate S1 and surgical hardware on every record.</a:t>
            </a:r>
          </a:p>
          <a:p>
            <a:pPr>
              <a:spcBef>
                <a:spcPts val="0"/>
              </a:spcBef>
              <a:spcAft>
                <a:spcPts val="600"/>
              </a:spcAft>
            </a:pPr>
            <a:r>
              <a:rPr sz="1300">
                <a:solidFill>
                  <a:srgbClr val="000000"/>
                </a:solidFill>
                <a:latin typeface="Arial"/>
              </a:rPr>
              <a:t>Levels are anchored on the lowest rib-bearing vertebra and on S1, never on a count. L6, T13, lumbar ribs and stump ribs are recorded as themselves: 18 six-lumbar spines, 16 lumbar ribs, 98 stump twelfth ribs, 33 two-reader Castellvi grades (κ 0.74).</a:t>
            </a:r>
          </a:p>
          <a:p>
            <a:pPr>
              <a:spcBef>
                <a:spcPts val="0"/>
              </a:spcBef>
              <a:spcAft>
                <a:spcPts val="600"/>
              </a:spcAft>
            </a:pPr>
            <a:r>
              <a:rPr sz="1300">
                <a:solidFill>
                  <a:srgbClr val="000000"/>
                </a:solidFill>
                <a:latin typeface="Arial"/>
              </a:rPr>
              <a:t>Validated before any number was believed: 802 of 802 pass the geometric invariants; 5,753 ribs, 0.035 % offset; spinopelvic measures match published values. Zenodo 10.5281/zenodo.22139642; dataset article submitted to Medical Physics.</a:t>
            </a:r>
          </a:p>
        </p:txBody>
      </p:sp>
      <p:pic>
        <p:nvPicPr>
          <p:cNvPr id="33" name="Picture 32" descr="fig_anchors.png"/>
          <p:cNvPicPr>
            <a:picLocks noChangeAspect="1"/>
          </p:cNvPicPr>
          <p:nvPr/>
        </p:nvPicPr>
        <p:blipFill>
          <a:blip r:embed="rId5"/>
          <a:stretch>
            <a:fillRect/>
          </a:stretch>
        </p:blipFill>
        <p:spPr>
          <a:xfrm>
            <a:off x="1076296" y="1371600"/>
            <a:ext cx="10039408" cy="2550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The dataset</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only CT collection whose labels can say what is there</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4631600"/>
            <a:ext cx="11679936" cy="101840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CTSpine1K and VerSe number the vertebrae but hold no pelvis; CTPelvic1K and RibSeg hold no lumbar count; TotalSegmentator's scheme has no L6, no lumbar rib and no transitional grade. VerSe graded Castellvi and used the grade to exclude.</a:t>
            </a:r>
          </a:p>
          <a:p>
            <a:pPr>
              <a:spcBef>
                <a:spcPts val="0"/>
              </a:spcBef>
              <a:spcAft>
                <a:spcPts val="600"/>
              </a:spcAft>
            </a:pPr>
            <a:r>
              <a:rPr sz="1300">
                <a:solidFill>
                  <a:srgbClr val="000000"/>
                </a:solidFill>
                <a:latin typeface="Arial"/>
              </a:rPr>
              <a:t>CTSpinoPelvic1K is not the largest, but it is the only public CT collection whose label scheme can represent every reading at the junction: the count, L6, sacrum and S1, pelvis, per-level ribs, a lumbar rib, the femora and a transitional grade.</a:t>
            </a:r>
          </a:p>
        </p:txBody>
      </p:sp>
      <p:pic>
        <p:nvPicPr>
          <p:cNvPr id="33" name="Picture 32" descr="fig_priorart.png"/>
          <p:cNvPicPr>
            <a:picLocks noChangeAspect="1"/>
          </p:cNvPicPr>
          <p:nvPr/>
        </p:nvPicPr>
        <p:blipFill>
          <a:blip r:embed="rId5"/>
          <a:stretch>
            <a:fillRect/>
          </a:stretch>
        </p:blipFill>
        <p:spPr>
          <a:xfrm>
            <a:off x="1380077" y="1371600"/>
            <a:ext cx="9431846" cy="3100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The dataset</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What 802 labelled spines say when nothing is counted from C2</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4031600"/>
            <a:ext cx="11679936" cy="161840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(a) Rib-free bodies above the sacrum: 29 records with four, 744 with five, 28 with six.   (b) The lowest rib's length is bimodal: a stump twelfth rib in 98 of 788 (12.4 %), a lumbar rib in 16 of 802 (2.0 %), against 12.6 and 1.5 % in the published series.</a:t>
            </a:r>
          </a:p>
          <a:p>
            <a:pPr>
              <a:spcBef>
                <a:spcPts val="0"/>
              </a:spcBef>
              <a:spcAft>
                <a:spcPts val="600"/>
              </a:spcAft>
            </a:pPr>
            <a:r>
              <a:rPr sz="1300">
                <a:solidFill>
                  <a:srgbClr val="000000"/>
                </a:solidFill>
                <a:latin typeface="Arial"/>
              </a:rPr>
              <a:t>(c) In the six-lumbar spines (orange) the lowest body's transverse process sits nearer the ilium than any ordinary L5 in a subset. Read from the labels alone: 11 are a true L6, 4 a separated first sacral segment, 1 a rib-less T12, 2 carry evidence at both ends.</a:t>
            </a:r>
          </a:p>
          <a:p>
            <a:pPr>
              <a:spcBef>
                <a:spcPts val="0"/>
              </a:spcBef>
              <a:spcAft>
                <a:spcPts val="600"/>
              </a:spcAft>
            </a:pPr>
            <a:r>
              <a:rPr sz="1300">
                <a:solidFill>
                  <a:srgbClr val="000000"/>
                </a:solidFill>
                <a:latin typeface="Arial"/>
              </a:rPr>
              <a:t>Shape separates levels inside a patient: eleven size-normalised features, cross-validated by patient, give T12 against L1 at AUC 0.990 and 97.3 % over 1,485 vertebrae. Identity is local; the count is a convention laid over it.</a:t>
            </a:r>
          </a:p>
        </p:txBody>
      </p:sp>
      <p:pic>
        <p:nvPicPr>
          <p:cNvPr id="33" name="Picture 32" descr="fig_countfree.png"/>
          <p:cNvPicPr>
            <a:picLocks noChangeAspect="1"/>
          </p:cNvPicPr>
          <p:nvPr/>
        </p:nvPicPr>
        <p:blipFill>
          <a:blip r:embed="rId5"/>
          <a:stretch>
            <a:fillRect/>
          </a:stretch>
        </p:blipFill>
        <p:spPr>
          <a:xfrm>
            <a:off x="510634" y="1371600"/>
            <a:ext cx="11170731" cy="2500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Not All Spines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What the most deployed CT segmenter does with an L6</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6856031" y="1371600"/>
            <a:ext cx="5079937" cy="482840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TotalSegmentator (the default back end of 3D Slicer), zero-shot at full resolution, on all 1,152 CTSpinoPelvic1K records: on normal anatomy it performs at its published level (L5 DSC 0.94).</a:t>
            </a:r>
          </a:p>
          <a:p>
            <a:pPr>
              <a:spcBef>
                <a:spcPts val="0"/>
              </a:spcBef>
              <a:spcAft>
                <a:spcPts val="600"/>
              </a:spcAft>
            </a:pPr>
            <a:r>
              <a:rPr sz="1400">
                <a:solidFill>
                  <a:srgbClr val="000000"/>
                </a:solidFill>
                <a:latin typeface="Arial"/>
              </a:rPr>
              <a:t>Lumbarization, 14 patients: the lumbar labels slide one level caudally, L1 0.88 → L4 0.39 → L5 0.29; junction DSC 0.82 → 0.36 (three scorable). L5 DSC falls below 0.5 in 10 of 14, and in 9 of 9 count-style sacralizations, against 9 of 750 normals.</a:t>
            </a:r>
          </a:p>
          <a:p>
            <a:pPr>
              <a:spcBef>
                <a:spcPts val="0"/>
              </a:spcBef>
              <a:spcAft>
                <a:spcPts val="600"/>
              </a:spcAft>
            </a:pPr>
            <a:r>
              <a:rPr sz="1400">
                <a:solidFill>
                  <a:srgbClr val="000000"/>
                </a:solidFill>
                <a:latin typeface="Arial"/>
              </a:rPr>
              <a:t>L6 emitted: 0 of 1,152 records. The scheme has no such class, so the output is confident, well formed and one level off: the pattern of a wrong-level count, with no error signal for anyone downstream.</a:t>
            </a:r>
          </a:p>
          <a:p>
            <a:pPr>
              <a:spcBef>
                <a:spcPts val="0"/>
              </a:spcBef>
              <a:spcAft>
                <a:spcPts val="600"/>
              </a:spcAft>
            </a:pPr>
            <a:r>
              <a:rPr sz="1400">
                <a:solidFill>
                  <a:srgbClr val="000000"/>
                </a:solidFill>
                <a:latin typeface="Arial"/>
              </a:rPr>
              <a:t>No existing CT benchmark surfaces this, because none is stratified by transitional phenotype.</a:t>
            </a:r>
          </a:p>
        </p:txBody>
      </p:sp>
      <p:pic>
        <p:nvPicPr>
          <p:cNvPr id="27" name="Picture 26" descr="nas_gt_vs_ts.png"/>
          <p:cNvPicPr>
            <a:picLocks noChangeAspect="1"/>
          </p:cNvPicPr>
          <p:nvPr/>
        </p:nvPicPr>
        <p:blipFill>
          <a:blip r:embed="rId6"/>
          <a:stretch>
            <a:fillRect/>
          </a:stretch>
        </p:blipFill>
        <p:spPr>
          <a:xfrm>
            <a:off x="256032" y="1371600"/>
            <a:ext cx="6299999" cy="3804230"/>
          </a:xfrm>
          <a:prstGeom prst="rect">
            <a:avLst/>
          </a:prstGeom>
        </p:spPr>
      </p:pic>
      <p:sp>
        <p:nvSpPr>
          <p:cNvPr id="28" name="TextBox 27"/>
          <p:cNvSpPr txBox="1"/>
          <p:nvPr/>
        </p:nvSpPr>
        <p:spPr>
          <a:xfrm>
            <a:off x="256032" y="5235830"/>
            <a:ext cx="6300000" cy="500000"/>
          </a:xfrm>
          <a:prstGeom prst="rect">
            <a:avLst/>
          </a:prstGeom>
          <a:noFill/>
        </p:spPr>
        <p:txBody>
          <a:bodyPr wrap="square">
            <a:spAutoFit/>
          </a:bodyPr>
          <a:lstStyle/>
          <a:p>
            <a:r>
              <a:rPr sz="1100" b="0">
                <a:solidFill>
                  <a:srgbClr val="1A1C18"/>
                </a:solidFill>
              </a:rPr>
              <a:t>A lumbarization case with a true L6. Left, the ground truth; right, the segmenter's output: L4, L5 and sacrum DSC 0.00.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Not All Spines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junction gap closes; voxel labelling then hits its limit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274320" y="1371600"/>
            <a:ext cx="5623560" cy="4572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095945"/>
                </a:solidFill>
                <a:latin typeface="Arial"/>
              </a:rPr>
              <a:t>Trained on CTSpinoPelvic1K, released</a:t>
            </a:r>
          </a:p>
        </p:txBody>
      </p:sp>
      <p:sp>
        <p:nvSpPr>
          <p:cNvPr id="26" name="TextBox 25"/>
          <p:cNvSpPr txBox="1"/>
          <p:nvPr/>
        </p:nvSpPr>
        <p:spPr>
          <a:xfrm>
            <a:off x="274320" y="2011680"/>
            <a:ext cx="5623560" cy="237744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The last lumbar body is one class whatever the count; five patient-grouped, LSTV-stratified folds; weights released.</a:t>
            </a:r>
          </a:p>
          <a:p>
            <a:pPr>
              <a:spcBef>
                <a:spcPts val="0"/>
              </a:spcBef>
              <a:spcAft>
                <a:spcPts val="600"/>
              </a:spcAft>
            </a:pPr>
            <a:r>
              <a:rPr sz="1400">
                <a:solidFill>
                  <a:srgbClr val="000000"/>
                </a:solidFill>
                <a:latin typeface="Arial"/>
              </a:rPr>
              <a:t>Junction DSC on held-out lumbarization: 0.357 → 0.946 (+58.9 points; one case with a scorable junction, three cases non-degenerate).</a:t>
            </a:r>
          </a:p>
          <a:p>
            <a:pPr>
              <a:spcBef>
                <a:spcPts val="0"/>
              </a:spcBef>
              <a:spcAft>
                <a:spcPts val="600"/>
              </a:spcAft>
            </a:pPr>
            <a:r>
              <a:rPr sz="1400">
                <a:solidFill>
                  <a:srgbClr val="000000"/>
                </a:solidFill>
                <a:latin typeface="Arial"/>
              </a:rPr>
              <a:t>Sacrum 0.817 → 0.969 on 113 held-out records: the best openly released dual spinopelvic CT segmenter.</a:t>
            </a:r>
          </a:p>
        </p:txBody>
      </p:sp>
      <p:sp>
        <p:nvSpPr>
          <p:cNvPr id="27" name="Rounded Rectangle 26"/>
          <p:cNvSpPr/>
          <p:nvPr/>
        </p:nvSpPr>
        <p:spPr>
          <a:xfrm>
            <a:off x="6309360" y="1371600"/>
            <a:ext cx="5623560" cy="457200"/>
          </a:xfrm>
          <a:prstGeom prst="round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FFFFFF"/>
                </a:solidFill>
                <a:latin typeface="Arial"/>
              </a:rPr>
              <a:t>Where semantic segmentation stops</a:t>
            </a:r>
          </a:p>
        </p:txBody>
      </p:sp>
      <p:sp>
        <p:nvSpPr>
          <p:cNvPr id="28" name="TextBox 27"/>
          <p:cNvSpPr txBox="1"/>
          <p:nvPr/>
        </p:nvSpPr>
        <p:spPr>
          <a:xfrm>
            <a:off x="6309360" y="2011680"/>
            <a:ext cx="5623560" cy="237744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Same data, same folds, an explicit L6 class instead of the merge: most ground-truth L6 voxels are still labelled L5.</a:t>
            </a:r>
          </a:p>
          <a:p>
            <a:pPr>
              <a:spcBef>
                <a:spcPts val="0"/>
              </a:spcBef>
              <a:spcAft>
                <a:spcPts val="600"/>
              </a:spcAft>
            </a:pPr>
            <a:r>
              <a:rPr sz="1400">
                <a:solidFill>
                  <a:srgbClr val="000000"/>
                </a:solidFill>
                <a:latin typeface="Arial"/>
              </a:rPr>
              <a:t>Count-style sacralization: 82.7 % of L4 voxels labelled as the last lumbar body.</a:t>
            </a:r>
          </a:p>
          <a:p>
            <a:pPr>
              <a:spcBef>
                <a:spcPts val="0"/>
              </a:spcBef>
              <a:spcAft>
                <a:spcPts val="600"/>
              </a:spcAft>
            </a:pPr>
            <a:r>
              <a:rPr sz="1400">
                <a:solidFill>
                  <a:srgbClr val="000000"/>
                </a:solidFill>
                <a:latin typeface="Arial"/>
              </a:rPr>
              <a:t>A voxel labeller cannot notice that its own sequence does not fit twelve, five and a sacrum. Naming the sequence is a different task, and it needs a reader.</a:t>
            </a:r>
          </a:p>
        </p:txBody>
      </p:sp>
      <p:sp>
        <p:nvSpPr>
          <p:cNvPr id="29" name="Rounded Rectangle 28"/>
          <p:cNvSpPr/>
          <p:nvPr/>
        </p:nvSpPr>
        <p:spPr>
          <a:xfrm>
            <a:off x="274320" y="4663440"/>
            <a:ext cx="11658600" cy="86868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900">
                <a:solidFill>
                  <a:srgbClr val="095945"/>
                </a:solidFill>
                <a:latin typeface="Arial"/>
              </a:rPr>
              <a:t>Any CT segmenter claiming readiness for surgical planning should report per-class DSC and L5/S1 confusion on a transitional cohort, with each stratum's n beside the number.</a:t>
            </a:r>
          </a:p>
        </p:txBody>
      </p:sp>
      <p:sp>
        <p:nvSpPr>
          <p:cNvPr id="30" name="TextBox 29"/>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5. Schwing GJ, Schwing P, Ismoilov M, Alnabahneh N, Schwiebert L. Not All Spines Are Created Equal. NeurIPS 2026 Datasets &amp; Benchmarks.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SchwingNet</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To the C-arm: what exists to learn from, and what does not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4577996" y="1371600"/>
            <a:ext cx="7357972" cy="482840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Public sources only: 4,093 renders of labelled CT, 9,108 level-annotated radiographs from four corpora, 4,276 real exposures with three-dimensional truth, 778 of them from mobile C-arms.</a:t>
            </a:r>
          </a:p>
          <a:p>
            <a:pPr>
              <a:spcBef>
                <a:spcPts val="0"/>
              </a:spcBef>
              <a:spcAft>
                <a:spcPts val="600"/>
              </a:spcAft>
            </a:pPr>
            <a:r>
              <a:rPr sz="1400">
                <a:solidFill>
                  <a:srgbClr val="000000"/>
                </a:solidFill>
                <a:latin typeface="Arial"/>
              </a:rPr>
              <a:t>194 transitional persons across the sources: 110 with an L6 (three intraoperative), seven with a T13, 28 with a sacralised L5 (12 four-lumbar), 31 Castellvi I/II, 14 with a lumbar rib.</a:t>
            </a:r>
          </a:p>
          <a:p>
            <a:pPr>
              <a:spcBef>
                <a:spcPts val="0"/>
              </a:spcBef>
              <a:spcAft>
                <a:spcPts val="600"/>
              </a:spcAft>
            </a:pPr>
            <a:r>
              <a:rPr sz="1400">
                <a:solidFill>
                  <a:srgbClr val="000000"/>
                </a:solidFill>
                <a:latin typeface="Arial"/>
              </a:rPr>
              <a:t>No released radiograph or C-arm frame anywhere carries a human-read T13 or Castellvi grade (hatched). The transitional truth exists only on CT, which is why CT came first, and why the renders of labelled CT are the only labelled source of the rare classes.</a:t>
            </a:r>
          </a:p>
          <a:p>
            <a:pPr>
              <a:spcBef>
                <a:spcPts val="0"/>
              </a:spcBef>
              <a:spcAft>
                <a:spcPts val="600"/>
              </a:spcAft>
            </a:pPr>
            <a:r>
              <a:rPr sz="1400">
                <a:solidFill>
                  <a:srgbClr val="000000"/>
                </a:solidFill>
                <a:latin typeface="Arial"/>
              </a:rPr>
              <a:t>Rows: labelled CT; its render; another patient's real film. Bar, 20 mm.</a:t>
            </a:r>
          </a:p>
        </p:txBody>
      </p:sp>
      <p:pic>
        <p:nvPicPr>
          <p:cNvPr id="27" name="Picture 26" descr="sn_figure1.png"/>
          <p:cNvPicPr>
            <a:picLocks noChangeAspect="1"/>
          </p:cNvPicPr>
          <p:nvPr/>
        </p:nvPicPr>
        <p:blipFill>
          <a:blip r:embed="rId6"/>
          <a:stretch>
            <a:fillRect/>
          </a:stretch>
        </p:blipFill>
        <p:spPr>
          <a:xfrm>
            <a:off x="256032" y="1371600"/>
            <a:ext cx="4021964" cy="43284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SchwingNet</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A sixth lumbar vertebra has a shape of its own</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7048632" y="1371600"/>
            <a:ext cx="4887336" cy="482840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A level model trained to name a vertebra from its own appearance, with nothing to count from. Its embedding of 13,009 validation crops from 1,612 people: the nearest crop from another person is the same level in 74.9 % and within one level in 93.8 %.</a:t>
            </a:r>
          </a:p>
          <a:p>
            <a:pPr>
              <a:spcBef>
                <a:spcPts val="0"/>
              </a:spcBef>
              <a:spcAft>
                <a:spcPts val="600"/>
              </a:spcAft>
            </a:pPr>
            <a:r>
              <a:rPr sz="1400">
                <a:solidFill>
                  <a:srgbClr val="000000"/>
                </a:solidFill>
                <a:latin typeface="Arial"/>
              </a:rPr>
              <a:t>L6 separates from L5 (silhouette 0.35; 95 % CI 0.31, 0.39) more than L5 from L4 (0.23) and as far as L1 from T12 (0.32).</a:t>
            </a:r>
          </a:p>
          <a:p>
            <a:pPr>
              <a:spcBef>
                <a:spcPts val="0"/>
              </a:spcBef>
              <a:spcAft>
                <a:spcPts val="600"/>
              </a:spcAft>
            </a:pPr>
            <a:r>
              <a:rPr sz="1400">
                <a:solidFill>
                  <a:srgbClr val="000000"/>
                </a:solidFill>
                <a:latin typeface="Arial"/>
              </a:rPr>
              <a:t>It named 75 of 98 L6 crops L6, and 111 of 1,012 L5 crops L6. In three never-seen patients one CT labeller reads six-lumbar (stars), the contested body sat nearer the L6 cluster only under whole-vertebra boxes.</a:t>
            </a:r>
          </a:p>
          <a:p>
            <a:pPr>
              <a:spcBef>
                <a:spcPts val="0"/>
              </a:spcBef>
              <a:spcAft>
                <a:spcPts val="600"/>
              </a:spcAft>
            </a:pPr>
            <a:r>
              <a:rPr sz="1400">
                <a:solidFill>
                  <a:srgbClr val="000000"/>
                </a:solidFill>
                <a:latin typeface="Arial"/>
              </a:rPr>
              <a:t>(a) Every level, C1 to sacrum; (b) the lumbosacral window. No T13 was held out to embed.</a:t>
            </a:r>
          </a:p>
        </p:txBody>
      </p:sp>
      <p:pic>
        <p:nvPicPr>
          <p:cNvPr id="27" name="Picture 26" descr="sn_fig2_ab.png"/>
          <p:cNvPicPr>
            <a:picLocks noChangeAspect="1"/>
          </p:cNvPicPr>
          <p:nvPr/>
        </p:nvPicPr>
        <p:blipFill>
          <a:blip r:embed="rId6"/>
          <a:stretch>
            <a:fillRect/>
          </a:stretch>
        </p:blipFill>
        <p:spPr>
          <a:xfrm>
            <a:off x="256032" y="1371600"/>
            <a:ext cx="6492600" cy="43284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SchwingNet</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One lateral exposure of a C-arm the network never saw</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7856032" y="1371600"/>
            <a:ext cx="4079936" cy="482840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C-ArmLSpine: 148 intraoperative cases, truth from cone-beam CT, a C-arm outside every training set.</a:t>
            </a:r>
          </a:p>
          <a:p>
            <a:pPr>
              <a:spcBef>
                <a:spcPts val="0"/>
              </a:spcBef>
              <a:spcAft>
                <a:spcPts val="600"/>
              </a:spcAft>
            </a:pPr>
            <a:r>
              <a:rPr sz="1400">
                <a:solidFill>
                  <a:srgbClr val="000000"/>
                </a:solidFill>
                <a:latin typeface="Arial"/>
              </a:rPr>
              <a:t>First the bodies and the sacrum are boxed without any level name (a): 617 of 676 agreed lateral bodies (91.3 %).</a:t>
            </a:r>
          </a:p>
          <a:p>
            <a:pPr>
              <a:spcBef>
                <a:spcPts val="0"/>
              </a:spcBef>
              <a:spcAft>
                <a:spcPts val="600"/>
              </a:spcAft>
            </a:pPr>
            <a:r>
              <a:rPr sz="1400">
                <a:solidFill>
                  <a:srgbClr val="000000"/>
                </a:solidFill>
                <a:latin typeface="Arial"/>
              </a:rPr>
              <a:t>Then each body is named from its shape alone (b). Never trained on this C-arm: 595 of 617 lateral bodies named exactly (96.4 %; 92.3, 98.4); anteroposterior 43.7 %.</a:t>
            </a:r>
          </a:p>
          <a:p>
            <a:pPr>
              <a:spcBef>
                <a:spcPts val="0"/>
              </a:spcBef>
              <a:spcAft>
                <a:spcPts val="600"/>
              </a:spcAft>
            </a:pPr>
            <a:r>
              <a:rPr sz="1400">
                <a:solidFill>
                  <a:srgbClr val="000000"/>
                </a:solidFill>
                <a:latin typeface="Arial"/>
              </a:rPr>
              <a:t>Fine-tuned on other cases of the same C-arm: lateral 97.4 %, anteroposterior 96.4 %.</a:t>
            </a:r>
          </a:p>
          <a:p>
            <a:pPr>
              <a:spcBef>
                <a:spcPts val="0"/>
              </a:spcBef>
              <a:spcAft>
                <a:spcPts val="600"/>
              </a:spcAft>
            </a:pPr>
            <a:r>
              <a:rPr sz="1400">
                <a:solidFill>
                  <a:srgbClr val="000000"/>
                </a:solidFill>
                <a:latin typeface="Arial"/>
              </a:rPr>
              <a:t>With three bodies in view 93.1 %; with one body 74.8 %. A field that holds nothing to count from still yields a name, with a posterior beside it.</a:t>
            </a:r>
          </a:p>
        </p:txBody>
      </p:sp>
      <p:pic>
        <p:nvPicPr>
          <p:cNvPr id="27" name="Picture 26" descr="sn_fig4_ab.png"/>
          <p:cNvPicPr>
            <a:picLocks noChangeAspect="1"/>
          </p:cNvPicPr>
          <p:nvPr/>
        </p:nvPicPr>
        <p:blipFill>
          <a:blip r:embed="rId6"/>
          <a:stretch>
            <a:fillRect/>
          </a:stretch>
        </p:blipFill>
        <p:spPr>
          <a:xfrm>
            <a:off x="256032" y="1371600"/>
            <a:ext cx="7300000" cy="413666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SchwingNet</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Two readings of one frame, and a stop where they disagree</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274320" y="1371600"/>
            <a:ext cx="5623560" cy="4572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095945"/>
                </a:solidFill>
                <a:latin typeface="Arial"/>
              </a:rPr>
              <a:t>Shape and count, each alone and together</a:t>
            </a:r>
          </a:p>
        </p:txBody>
      </p:sp>
      <p:sp>
        <p:nvSpPr>
          <p:cNvPr id="26" name="TextBox 25"/>
          <p:cNvSpPr txBox="1"/>
          <p:nvPr/>
        </p:nvSpPr>
        <p:spPr>
          <a:xfrm>
            <a:off x="274320" y="2011680"/>
            <a:ext cx="5623560" cy="237744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Count from the detected sacrum in the ordinary five-lumbar alphabet, no shape used: 979 of 1,009 bodies exact (97.0 %).</a:t>
            </a:r>
          </a:p>
          <a:p>
            <a:pPr>
              <a:spcBef>
                <a:spcPts val="0"/>
              </a:spcBef>
              <a:spcAft>
                <a:spcPts val="600"/>
              </a:spcAft>
            </a:pPr>
            <a:r>
              <a:rPr sz="1400">
                <a:solidFill>
                  <a:srgbClr val="000000"/>
                </a:solidFill>
                <a:latin typeface="Arial"/>
              </a:rPr>
              <a:t>Shape alone, the fine-tuned model: 986 of 1,009 (97.7 %).</a:t>
            </a:r>
          </a:p>
          <a:p>
            <a:pPr>
              <a:spcBef>
                <a:spcPts val="0"/>
              </a:spcBef>
              <a:spcAft>
                <a:spcPts val="600"/>
              </a:spcAft>
            </a:pPr>
            <a:r>
              <a:rPr sz="1400">
                <a:solidFill>
                  <a:srgbClr val="000000"/>
                </a:solidFill>
                <a:latin typeface="Arial"/>
              </a:rPr>
              <a:t>Both together: 991 of 1,009 (98.2 %; 96.5, 99.5), 1.2 points over the count alone.</a:t>
            </a:r>
          </a:p>
        </p:txBody>
      </p:sp>
      <p:sp>
        <p:nvSpPr>
          <p:cNvPr id="27" name="Rounded Rectangle 26"/>
          <p:cNvSpPr/>
          <p:nvPr/>
        </p:nvSpPr>
        <p:spPr>
          <a:xfrm>
            <a:off x="6309360" y="1371600"/>
            <a:ext cx="5623560" cy="457200"/>
          </a:xfrm>
          <a:prstGeom prst="round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FFFFFF"/>
                </a:solidFill>
                <a:latin typeface="Arial"/>
              </a:rPr>
              <a:t>It knows when to stop</a:t>
            </a:r>
          </a:p>
        </p:txBody>
      </p:sp>
      <p:sp>
        <p:nvSpPr>
          <p:cNvPr id="28" name="TextBox 27"/>
          <p:cNvSpPr txBox="1"/>
          <p:nvPr/>
        </p:nvSpPr>
        <p:spPr>
          <a:xfrm>
            <a:off x="6309360" y="2011680"/>
            <a:ext cx="5623560" cy="237744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The read declined to name 23 of 233 anchored frames.</a:t>
            </a:r>
          </a:p>
          <a:p>
            <a:pPr>
              <a:spcBef>
                <a:spcPts val="0"/>
              </a:spcBef>
              <a:spcAft>
                <a:spcPts val="600"/>
              </a:spcAft>
            </a:pPr>
            <a:r>
              <a:rPr sz="1400">
                <a:solidFill>
                  <a:srgbClr val="000000"/>
                </a:solidFill>
                <a:latin typeface="Arial"/>
              </a:rPr>
              <a:t>Those 23 hold five of the six frames carrying an error, and all four six-lumbar calls.</a:t>
            </a:r>
          </a:p>
          <a:p>
            <a:pPr>
              <a:spcBef>
                <a:spcPts val="0"/>
              </a:spcBef>
              <a:spcAft>
                <a:spcPts val="600"/>
              </a:spcAft>
            </a:pPr>
            <a:r>
              <a:rPr sz="1400">
                <a:solidFill>
                  <a:srgbClr val="000000"/>
                </a:solidFill>
                <a:latin typeface="Arial"/>
              </a:rPr>
              <a:t>On the frame one CT labeller reads as six-lumbar, the output is a stop, not a verdict: the two readings are reported as disagreeing rather than resolved.</a:t>
            </a:r>
          </a:p>
        </p:txBody>
      </p:sp>
      <p:sp>
        <p:nvSpPr>
          <p:cNvPr id="29" name="Rounded Rectangle 28"/>
          <p:cNvSpPr/>
          <p:nvPr/>
        </p:nvSpPr>
        <p:spPr>
          <a:xfrm>
            <a:off x="274320" y="4663440"/>
            <a:ext cx="11658600" cy="86868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900">
                <a:solidFill>
                  <a:srgbClr val="095945"/>
                </a:solidFill>
                <a:latin typeface="Arial"/>
              </a:rPr>
              <a:t>On the one exposure the surgeon has, the level is named from shape, checked against the count from the sacrum, and a disagreement between them is reported, not hidden.</a:t>
            </a:r>
          </a:p>
        </p:txBody>
      </p:sp>
      <p:sp>
        <p:nvSpPr>
          <p:cNvPr id="30" name="TextBox 29"/>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How the two readings are combined and when the read stops are withheld under the Wayne State University invention disclosure; every number here is from public exposures scored against cone-beam CT.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SchwingNet</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How many people it takes, and which view they were shot in</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7390347" y="1371600"/>
            <a:ext cx="4545621" cy="482840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(a) Certifying 90 % naming on transitional anatomy at zero errors needs 35 at-risk test persons; 85 % sensitivity to the variant needs 22 carriers. No real-exposure transitional person is verified yet; seven candidates exist.</a:t>
            </a:r>
          </a:p>
          <a:p>
            <a:pPr>
              <a:spcBef>
                <a:spcPts val="0"/>
              </a:spcBef>
              <a:spcAft>
                <a:spcPts val="600"/>
              </a:spcAft>
            </a:pPr>
            <a:r>
              <a:rPr sz="1400">
                <a:solidFill>
                  <a:srgbClr val="000000"/>
                </a:solidFill>
                <a:latin typeface="Arial"/>
              </a:rPr>
              <a:t>(b) Naming rose with training persons on every film corpus: NHANES II 77.8 → 92.7 %, BUU-LSPINE 65.0 → 96.9 %, CSXA 94.2 → 99.8 %.</a:t>
            </a:r>
          </a:p>
          <a:p>
            <a:pPr>
              <a:spcBef>
                <a:spcPts val="0"/>
              </a:spcBef>
              <a:spcAft>
                <a:spcPts val="600"/>
              </a:spcAft>
            </a:pPr>
            <a:r>
              <a:rPr sz="1400">
                <a:solidFill>
                  <a:srgbClr val="000000"/>
                </a:solidFill>
                <a:latin typeface="Arial"/>
              </a:rPr>
              <a:t>On the C-arm it rose by view rather than by count: lateral 93.7 % with no C-arm person and 98.1 % with 50; anteroposterior 33.8 % with none, 90.8 % with five, 98.1 % with all. A lateral-trained model read anteroposterior bodies at 54.7 %; training both views cost neither.</a:t>
            </a:r>
          </a:p>
        </p:txBody>
      </p:sp>
      <p:pic>
        <p:nvPicPr>
          <p:cNvPr id="27" name="Picture 26" descr="sn_fig5_ab.png"/>
          <p:cNvPicPr>
            <a:picLocks noChangeAspect="1"/>
          </p:cNvPicPr>
          <p:nvPr/>
        </p:nvPicPr>
        <p:blipFill>
          <a:blip r:embed="rId6"/>
          <a:stretch>
            <a:fillRect/>
          </a:stretch>
        </p:blipFill>
        <p:spPr>
          <a:xfrm>
            <a:off x="256032" y="1371600"/>
            <a:ext cx="6834315" cy="43284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SchwingNet</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Where the frames sat mattered more than how many there were</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6656461" y="1371600"/>
            <a:ext cx="5279507" cy="482840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(c) Finding the vertebrae on a new C-arm: 7 % with none of its frames, a plateau from 24 frames (84 %). On the truth boxes that are complete and inside the field, 95.6 %: the plateau is the truth at the edge of the field, not the detector. Trained on one view, it found 0–40 % of the other view's bodies.</a:t>
            </a:r>
          </a:p>
          <a:p>
            <a:pPr>
              <a:spcBef>
                <a:spcPts val="0"/>
              </a:spcBef>
              <a:spcAft>
                <a:spcPts val="600"/>
              </a:spcAft>
            </a:pPr>
            <a:r>
              <a:rPr sz="1400">
                <a:solidFill>
                  <a:srgbClr val="000000"/>
                </a:solidFill>
                <a:latin typeface="Arial"/>
              </a:rPr>
              <a:t>(d) Detectors trained on renders at anteroposterior and lateral poses only: 82 % at those angles, 53 % over the arc between them. Doubling those frames: 94 and 65 %. The same number of frames spread over the arc: 81 and 77 %.</a:t>
            </a:r>
          </a:p>
          <a:p>
            <a:pPr>
              <a:spcBef>
                <a:spcPts val="0"/>
              </a:spcBef>
              <a:spcAft>
                <a:spcPts val="600"/>
              </a:spcAft>
            </a:pPr>
            <a:r>
              <a:rPr sz="1400">
                <a:solidFill>
                  <a:srgbClr val="000000"/>
                </a:solidFill>
                <a:latin typeface="Arial"/>
              </a:rPr>
              <a:t>More of the same frames buys little; a frame from an angle or a view not yet seen buys a great deal.</a:t>
            </a:r>
          </a:p>
        </p:txBody>
      </p:sp>
      <p:pic>
        <p:nvPicPr>
          <p:cNvPr id="27" name="Picture 26" descr="sn_fig5_cd.png"/>
          <p:cNvPicPr>
            <a:picLocks noChangeAspect="1"/>
          </p:cNvPicPr>
          <p:nvPr/>
        </p:nvPicPr>
        <p:blipFill>
          <a:blip r:embed="rId6"/>
          <a:stretch>
            <a:fillRect/>
          </a:stretch>
        </p:blipFill>
        <p:spPr>
          <a:xfrm>
            <a:off x="256032" y="1371600"/>
            <a:ext cx="6100429" cy="43284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What is owed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test still owed, and the CT census that will supply it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274320" y="1371600"/>
            <a:ext cx="5623560" cy="4572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095945"/>
                </a:solidFill>
                <a:latin typeface="Arial"/>
              </a:rPr>
              <a:t>The test that certifies it</a:t>
            </a:r>
          </a:p>
        </p:txBody>
      </p:sp>
      <p:sp>
        <p:nvSpPr>
          <p:cNvPr id="26" name="TextBox 25"/>
          <p:cNvSpPr txBox="1"/>
          <p:nvPr/>
        </p:nvSpPr>
        <p:spPr>
          <a:xfrm>
            <a:off x="274320" y="2011680"/>
            <a:ext cx="5623560" cy="237744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Pre-stated: 35 error-free at-risk persons on real exposures certify 90 %; 22 carriers certify 85 % on the variant.</a:t>
            </a:r>
          </a:p>
          <a:p>
            <a:pPr>
              <a:spcBef>
                <a:spcPts val="0"/>
              </a:spcBef>
              <a:spcAft>
                <a:spcPts val="600"/>
              </a:spcAft>
            </a:pPr>
            <a:r>
              <a:rPr sz="1400">
                <a:solidFill>
                  <a:srgbClr val="000000"/>
                </a:solidFill>
                <a:latin typeface="Arial"/>
              </a:rPr>
              <a:t>Verified today: none on real exposures. The three L6 patients on the intraoperative C-arm are scored only in cross-validation.</a:t>
            </a:r>
          </a:p>
          <a:p>
            <a:pPr>
              <a:spcBef>
                <a:spcPts val="0"/>
              </a:spcBef>
              <a:spcAft>
                <a:spcPts val="600"/>
              </a:spcAft>
            </a:pPr>
            <a:r>
              <a:rPr sz="1400">
                <a:solidFill>
                  <a:srgbClr val="000000"/>
                </a:solidFill>
                <a:latin typeface="Arial"/>
              </a:rPr>
              <a:t>Seven at-risk persons with an exported real frame exist; error-free they would bound 64.6 %.</a:t>
            </a:r>
          </a:p>
        </p:txBody>
      </p:sp>
      <p:sp>
        <p:nvSpPr>
          <p:cNvPr id="27" name="Rounded Rectangle 26"/>
          <p:cNvSpPr/>
          <p:nvPr/>
        </p:nvSpPr>
        <p:spPr>
          <a:xfrm>
            <a:off x="6309360" y="1371600"/>
            <a:ext cx="5623560" cy="457200"/>
          </a:xfrm>
          <a:prstGeom prst="round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FFFFFF"/>
                </a:solidFill>
                <a:latin typeface="Arial"/>
              </a:rPr>
              <a:t>Where they will come from: a CT census</a:t>
            </a:r>
          </a:p>
        </p:txBody>
      </p:sp>
      <p:sp>
        <p:nvSpPr>
          <p:cNvPr id="28" name="TextBox 27"/>
          <p:cNvSpPr txBox="1"/>
          <p:nvPr/>
        </p:nvSpPr>
        <p:spPr>
          <a:xfrm>
            <a:off x="6309360" y="2011680"/>
            <a:ext cx="5623560" cy="237744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22 public CT collections screened by two independent automatic labellers: 18,873 CTs listed, 16,898 on disk, 12,123 with both lumbosacral references in the field.</a:t>
            </a:r>
          </a:p>
          <a:p>
            <a:pPr>
              <a:spcBef>
                <a:spcPts val="0"/>
              </a:spcBef>
              <a:spcAft>
                <a:spcPts val="600"/>
              </a:spcAft>
            </a:pPr>
            <a:r>
              <a:rPr sz="1400">
                <a:solidFill>
                  <a:srgbClr val="000000"/>
                </a:solidFill>
                <a:latin typeface="Arial"/>
              </a:rPr>
              <a:t>Expected from published prevalence: about 320 six-lumbar spines, 160 four-lumbar, 900–1,800 Castellvi II–IV, 40–120 T13.</a:t>
            </a:r>
          </a:p>
          <a:p>
            <a:pPr>
              <a:spcBef>
                <a:spcPts val="0"/>
              </a:spcBef>
              <a:spcAft>
                <a:spcPts val="600"/>
              </a:spcAft>
            </a:pPr>
            <a:r>
              <a:rPr sz="1400">
                <a:solidFill>
                  <a:srgbClr val="000000"/>
                </a:solidFill>
                <a:latin typeface="Arial"/>
              </a:rPr>
              <a:t>Called so far: 21 L6 by both labellers, 16 T13 by one; 84 disagreements await a human reader.</a:t>
            </a:r>
          </a:p>
        </p:txBody>
      </p:sp>
      <p:sp>
        <p:nvSpPr>
          <p:cNvPr id="29" name="Rounded Rectangle 28"/>
          <p:cNvSpPr/>
          <p:nvPr/>
        </p:nvSpPr>
        <p:spPr>
          <a:xfrm>
            <a:off x="274320" y="4663440"/>
            <a:ext cx="11658600" cy="86868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900">
                <a:solidFill>
                  <a:srgbClr val="095945"/>
                </a:solidFill>
                <a:latin typeface="Arial"/>
              </a:rPr>
              <a:t>Every transitional case confirmed on CT becomes a labelled render for the C-arm model and, where a radiograph exists, a test person for it.</a:t>
            </a:r>
          </a:p>
        </p:txBody>
      </p:sp>
      <p:sp>
        <p:nvSpPr>
          <p:cNvPr id="30" name="TextBox 29"/>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Two-labeller screening of public CT for transitional anatomy: presented at AACA 2026.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Conclusions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Conclusions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11658600" cy="3657600"/>
          </a:xfrm>
          <a:prstGeom prst="rect">
            <a:avLst/>
          </a:prstGeom>
          <a:noFill/>
        </p:spPr>
        <p:txBody>
          <a:bodyPr wrap="square" anchor="t" lIns="0" rIns="0" tIns="0" bIns="0">
            <a:spAutoFit/>
          </a:bodyPr>
          <a:lstStyle/>
          <a:p>
            <a:pPr algn="l">
              <a:spcBef>
                <a:spcPts val="0"/>
              </a:spcBef>
              <a:spcAft>
                <a:spcPts val="1000"/>
              </a:spcAft>
            </a:pPr>
            <a:r>
              <a:rPr sz="1800">
                <a:solidFill>
                  <a:srgbClr val="000000"/>
                </a:solidFill>
                <a:latin typeface="Arial"/>
              </a:rPr>
              <a:t>Transitional anatomy can be confirmed on CT, so the labels were made there. CTSpinoPelvic1K records every anomaly at the lumbar borders as itself: 802 records, two anchors, no count.</a:t>
            </a:r>
          </a:p>
          <a:p>
            <a:pPr>
              <a:spcBef>
                <a:spcPts val="0"/>
              </a:spcBef>
              <a:spcAft>
                <a:spcPts val="1000"/>
              </a:spcAft>
            </a:pPr>
            <a:r>
              <a:rPr sz="1800">
                <a:solidFill>
                  <a:srgbClr val="000000"/>
                </a:solidFill>
                <a:latin typeface="Arial"/>
              </a:rPr>
              <a:t>The most deployed CT segmenter reproduces a one-level miscount on lumbarization and never emits an L6. A segmenter built on these labels closes the junction gap by 58.9 points and shows where voxel labelling stops: a sequence has to be read, not labelled.</a:t>
            </a:r>
          </a:p>
          <a:p>
            <a:pPr>
              <a:spcBef>
                <a:spcPts val="0"/>
              </a:spcBef>
              <a:spcAft>
                <a:spcPts val="1000"/>
              </a:spcAft>
            </a:pPr>
            <a:r>
              <a:rPr sz="1800">
                <a:solidFill>
                  <a:srgbClr val="000000"/>
                </a:solidFill>
                <a:latin typeface="Arial"/>
              </a:rPr>
              <a:t>The name carries to the C-arm. On a C-arm it never saw, the network named 96.4 % of lateral bodies exactly from shape alone, 98.2 % with the count coupled, and stopped where the two disagreed. What is owed is the transitional test on real exposures; the census is being built to supply it.</a:t>
            </a:r>
          </a:p>
        </p:txBody>
      </p:sp>
      <p:sp>
        <p:nvSpPr>
          <p:cNvPr id="26" name="Rounded Rectangle 25"/>
          <p:cNvSpPr/>
          <p:nvPr/>
        </p:nvSpPr>
        <p:spPr>
          <a:xfrm>
            <a:off x="256032" y="4892040"/>
            <a:ext cx="11658600" cy="77724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a:solidFill>
                  <a:srgbClr val="095945"/>
                </a:solidFill>
                <a:latin typeface="Arial"/>
              </a:rPr>
              <a:t>Identity by local shape, checked against the count, with a stop where they disagree: what a wrong-level safeguard needs and a count alone cannot give.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Limitations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Limitations and next steps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5349240" cy="4297680"/>
          </a:xfrm>
          <a:prstGeom prst="rect">
            <a:avLst/>
          </a:prstGeom>
          <a:noFill/>
        </p:spPr>
        <p:txBody>
          <a:bodyPr wrap="square" anchor="t" lIns="0" rIns="0" tIns="0" bIns="0">
            <a:spAutoFit/>
          </a:bodyPr>
          <a:lstStyle/>
          <a:p>
            <a:pPr algn="l">
              <a:spcBef>
                <a:spcPts val="0"/>
              </a:spcBef>
              <a:spcAft>
                <a:spcPts val="800"/>
              </a:spcAft>
            </a:pPr>
            <a:r>
              <a:rPr sz="1800">
                <a:solidFill>
                  <a:srgbClr val="095945"/>
                </a:solidFill>
                <a:latin typeface="Arial"/>
              </a:rPr>
              <a:t>Limitations</a:t>
            </a:r>
          </a:p>
          <a:p>
            <a:pPr>
              <a:spcBef>
                <a:spcPts val="0"/>
              </a:spcBef>
              <a:spcAft>
                <a:spcPts val="800"/>
              </a:spcAft>
            </a:pPr>
            <a:r>
              <a:rPr sz="1800">
                <a:solidFill>
                  <a:srgbClr val="095945"/>
                </a:solidFill>
                <a:latin typeface="Arial"/>
              </a:rPr>
              <a:t>No scan contains C2: the CT readings are morphological consistency, not developmental truth.</a:t>
            </a:r>
          </a:p>
          <a:p>
            <a:pPr>
              <a:spcBef>
                <a:spcPts val="0"/>
              </a:spcBef>
              <a:spcAft>
                <a:spcPts val="800"/>
              </a:spcAft>
            </a:pPr>
            <a:r>
              <a:rPr sz="1800">
                <a:solidFill>
                  <a:srgbClr val="095945"/>
                </a:solidFill>
                <a:latin typeface="Arial"/>
              </a:rPr>
              <a:t>33 Castellvi grades, two residents' consensus; 7 transitional cases in the segmenter's held-out split; every stratified number carries its n.</a:t>
            </a:r>
          </a:p>
          <a:p>
            <a:pPr>
              <a:spcBef>
                <a:spcPts val="0"/>
              </a:spcBef>
              <a:spcAft>
                <a:spcPts val="800"/>
              </a:spcAft>
            </a:pPr>
            <a:r>
              <a:rPr sz="1800">
                <a:solidFill>
                  <a:srgbClr val="095945"/>
                </a:solidFill>
                <a:latin typeface="Arial"/>
              </a:rPr>
              <a:t>One intraoperative C-arm, 148 cases, ordinary anatomy; transitional naming on real exposures rests on three cross-validation patients.</a:t>
            </a:r>
          </a:p>
          <a:p>
            <a:pPr>
              <a:spcBef>
                <a:spcPts val="0"/>
              </a:spcBef>
              <a:spcAft>
                <a:spcPts val="800"/>
              </a:spcAft>
            </a:pPr>
            <a:r>
              <a:rPr sz="1800">
                <a:solidFill>
                  <a:srgbClr val="095945"/>
                </a:solidFill>
                <a:latin typeface="Arial"/>
              </a:rPr>
              <a:t>Retrospective, public data. Nothing has been evaluated prospectively; nothing shown is a device.</a:t>
            </a:r>
          </a:p>
        </p:txBody>
      </p:sp>
      <p:sp>
        <p:nvSpPr>
          <p:cNvPr id="26" name="TextBox 25"/>
          <p:cNvSpPr txBox="1"/>
          <p:nvPr/>
        </p:nvSpPr>
        <p:spPr>
          <a:xfrm>
            <a:off x="6172200" y="1371600"/>
            <a:ext cx="5349240" cy="4297680"/>
          </a:xfrm>
          <a:prstGeom prst="rect">
            <a:avLst/>
          </a:prstGeom>
          <a:noFill/>
        </p:spPr>
        <p:txBody>
          <a:bodyPr wrap="square" anchor="t" lIns="0" rIns="0" tIns="0" bIns="0">
            <a:spAutoFit/>
          </a:bodyPr>
          <a:lstStyle/>
          <a:p>
            <a:pPr algn="l">
              <a:spcBef>
                <a:spcPts val="0"/>
              </a:spcBef>
              <a:spcAft>
                <a:spcPts val="800"/>
              </a:spcAft>
            </a:pPr>
            <a:r>
              <a:rPr sz="1800">
                <a:solidFill>
                  <a:srgbClr val="095945"/>
                </a:solidFill>
                <a:latin typeface="Arial"/>
              </a:rPr>
              <a:t>Next steps</a:t>
            </a:r>
          </a:p>
          <a:p>
            <a:pPr>
              <a:spcBef>
                <a:spcPts val="0"/>
              </a:spcBef>
              <a:spcAft>
                <a:spcPts val="800"/>
              </a:spcAft>
            </a:pPr>
            <a:r>
              <a:rPr sz="1800">
                <a:solidFill>
                  <a:srgbClr val="095945"/>
                </a:solidFill>
                <a:latin typeface="Arial"/>
              </a:rPr>
              <a:t>Finish the census; two readers verify each transitional candidate; run the pre-stated test: 35 persons, zero errors.</a:t>
            </a:r>
          </a:p>
          <a:p>
            <a:pPr>
              <a:spcBef>
                <a:spcPts val="0"/>
              </a:spcBef>
              <a:spcAft>
                <a:spcPts val="800"/>
              </a:spcAft>
            </a:pPr>
            <a:r>
              <a:rPr sz="1800">
                <a:solidFill>
                  <a:srgbClr val="095945"/>
                </a:solidFill>
                <a:latin typeface="Arial"/>
              </a:rPr>
              <a:t>A second C-arm added to the corpus and held out.</a:t>
            </a:r>
          </a:p>
          <a:p>
            <a:pPr>
              <a:spcBef>
                <a:spcPts val="0"/>
              </a:spcBef>
              <a:spcAft>
                <a:spcPts val="800"/>
              </a:spcAft>
            </a:pPr>
            <a:r>
              <a:rPr sz="1800">
                <a:solidFill>
                  <a:srgbClr val="095945"/>
                </a:solidFill>
                <a:latin typeface="Arial"/>
              </a:rPr>
              <a:t>Bench, phantom and cadaver evaluation before any operating-room use.</a:t>
            </a:r>
          </a:p>
          <a:p>
            <a:pPr>
              <a:spcBef>
                <a:spcPts val="0"/>
              </a:spcBef>
              <a:spcAft>
                <a:spcPts val="800"/>
              </a:spcAft>
            </a:pPr>
            <a:r>
              <a:rPr sz="1800">
                <a:solidFill>
                  <a:srgbClr val="095945"/>
                </a:solidFill>
                <a:latin typeface="Arial"/>
              </a:rPr>
              <a:t>Data and weights: Zenodo, GitHub and Hugging Face under OpenSpineConsortium; one command onboards a new annotator (openspineconsortium.com/onboarding).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Thank you</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Acknowledgments and data availability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7000000" cy="4206240"/>
          </a:xfrm>
          <a:prstGeom prst="rect">
            <a:avLst/>
          </a:prstGeom>
          <a:noFill/>
        </p:spPr>
        <p:txBody>
          <a:bodyPr wrap="square" anchor="t" lIns="0" rIns="0" tIns="0" bIns="0">
            <a:spAutoFit/>
          </a:bodyPr>
          <a:lstStyle/>
          <a:p>
            <a:pPr algn="l">
              <a:spcBef>
                <a:spcPts val="0"/>
              </a:spcBef>
              <a:spcAft>
                <a:spcPts val="400"/>
              </a:spcAft>
            </a:pPr>
            <a:r>
              <a:rPr sz="1500">
                <a:solidFill>
                  <a:srgbClr val="000000"/>
                </a:solidFill>
                <a:latin typeface="Arial"/>
              </a:rPr>
              <a:t>Coauthors and annotators: Patrick Schwing; Miraziz Ismoilov and Nizar Alnabahneh (Radiology, DMC/WSU); Loren Schwiebert (Computer Science, WSU); Ashley Schehr, Annika Tekumulla, Margret Khoushi, Ryan Christian, Dane Hubers, Faris Mahjoub, Hassan Saad, Mia Sooch, Sathyagopal Siddapureddy, Michael McLellan, Jerick Kim (WSU School of Medicine).</a:t>
            </a:r>
          </a:p>
          <a:p>
            <a:pPr>
              <a:spcBef>
                <a:spcPts val="0"/>
              </a:spcBef>
              <a:spcAft>
                <a:spcPts val="400"/>
              </a:spcAft>
            </a:pPr>
            <a:r>
              <a:rPr sz="1500">
                <a:solidFill>
                  <a:srgbClr val="000000"/>
                </a:solidFill>
                <a:latin typeface="Arial"/>
              </a:rPr>
              <a:t>Data: CTSpinoPelvic1K, doi.org/10.5281/zenodo.22139642 (CC BY-NC-SA 4.0); imaging from TCIA CT COLONOGRAPHY; annotations derive from CTSpine1K and CTPelvic1K.</a:t>
            </a:r>
          </a:p>
          <a:p>
            <a:pPr>
              <a:spcBef>
                <a:spcPts val="0"/>
              </a:spcBef>
              <a:spcAft>
                <a:spcPts val="400"/>
              </a:spcAft>
            </a:pPr>
            <a:r>
              <a:rPr sz="1500">
                <a:solidFill>
                  <a:srgbClr val="000000"/>
                </a:solidFill>
                <a:latin typeface="Arial"/>
              </a:rPr>
              <a:t>Code and weights: github.com/OpenSpineConsortium; huggingface.co/OpenSpineConsortium.</a:t>
            </a:r>
          </a:p>
          <a:p>
            <a:pPr>
              <a:spcBef>
                <a:spcPts val="0"/>
              </a:spcBef>
              <a:spcAft>
                <a:spcPts val="400"/>
              </a:spcAft>
            </a:pPr>
            <a:r>
              <a:rPr sz="1500">
                <a:solidFill>
                  <a:srgbClr val="000000"/>
                </a:solidFill>
                <a:latin typeface="Arial"/>
              </a:rPr>
              <a:t>Papers: Not All Spines Are Created Equal (NeurIPS 2026 Datasets &amp; Benchmarks); CTSpinoPelvic1K dataset article (Medical Physics, submitted); SchwingNet (in preparation).</a:t>
            </a:r>
          </a:p>
          <a:p>
            <a:pPr>
              <a:spcBef>
                <a:spcPts val="0"/>
              </a:spcBef>
              <a:spcAft>
                <a:spcPts val="400"/>
              </a:spcAft>
            </a:pPr>
            <a:r>
              <a:rPr sz="1500">
                <a:solidFill>
                  <a:srgbClr val="000000"/>
                </a:solidFill>
                <a:latin typeface="Arial"/>
              </a:rPr>
              <a:t>Funding: NIH NIGMS F30GM147909. Compute: Wayne State University Grid.</a:t>
            </a:r>
          </a:p>
        </p:txBody>
      </p:sp>
      <p:sp>
        <p:nvSpPr>
          <p:cNvPr id="26" name="Rounded Rectangle 25"/>
          <p:cNvSpPr/>
          <p:nvPr/>
        </p:nvSpPr>
        <p:spPr>
          <a:xfrm>
            <a:off x="7406640" y="2103120"/>
            <a:ext cx="4206240" cy="137160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Questions</a:t>
            </a:r>
          </a:p>
          <a:p>
            <a:r>
              <a:rPr sz="1600">
                <a:solidFill>
                  <a:srgbClr val="095945"/>
                </a:solidFill>
                <a:latin typeface="Arial"/>
              </a:rPr>
              <a:t>gregory.schwing@med.wayne.edu</a:t>
            </a:r>
          </a:p>
          <a:p>
            <a:r>
              <a:rPr sz="1600">
                <a:solidFill>
                  <a:srgbClr val="095945"/>
                </a:solidFill>
                <a:latin typeface="Arial"/>
              </a:rPr>
              <a:t>openspineconsortium.com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59283</TotalTime>
  <Words>1678</Words>
  <Application>Microsoft Office PowerPoint</Application>
  <PresentationFormat>Widescreen</PresentationFormat>
  <Paragraphs>193</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Gill Sans MT</vt:lpstr>
      <vt:lpstr>GuardianSans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SLEHS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SLEHS</dc:creator>
  <cp:lastModifiedBy>Gregory Schwing</cp:lastModifiedBy>
  <cp:revision>501</cp:revision>
  <dcterms:created xsi:type="dcterms:W3CDTF">2016-06-08T12:30:36Z</dcterms:created>
  <dcterms:modified xsi:type="dcterms:W3CDTF">2026-08-15T16:45:35Z</dcterms:modified>
</cp:coreProperties>
</file>