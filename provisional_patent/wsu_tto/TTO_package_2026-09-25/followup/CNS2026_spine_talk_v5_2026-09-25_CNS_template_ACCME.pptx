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4"/>
    <p:sldId id="257" r:id="rId3"/>
    <p:sldId id="258" r:id="rId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</p:sldIdLst>
  <p:sldSz cx="12192000" cy="6858000"/>
  <p:notesSz cx="6858000" cy="9144000"/>
  <p:embeddedFontLst>
    <p:embeddedFont>
      <p:font typeface="New Hero" panose="02000500000000000000" pitchFamily="50" charset="0"/>
      <p:regular r:id="rId5"/>
      <p:italic r:id="rId6"/>
    </p:embeddedFont>
    <p:embeddedFont>
      <p:font typeface="New Hero Medium" panose="02000600000000000000" pitchFamily="50" charset="0"/>
      <p:regular r:id="rId7"/>
      <p:italic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652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3.xml"/><Relationship Id="rId3" Type="http://schemas.openxmlformats.org/officeDocument/2006/relationships/slide" Target="slides/slide2.xml"/><Relationship Id="rId4" Type="http://schemas.openxmlformats.org/officeDocument/2006/relationships/slide" Target="slides/slide1.xml"/><Relationship Id="rId5" Type="http://schemas.openxmlformats.org/officeDocument/2006/relationships/font" Target="fonts/font1.fntdata"/><Relationship Id="rId6" Type="http://schemas.openxmlformats.org/officeDocument/2006/relationships/font" Target="fonts/font2.fntdata"/><Relationship Id="rId7" Type="http://schemas.openxmlformats.org/officeDocument/2006/relationships/font" Target="fonts/font3.fntdata"/><Relationship Id="rId8" Type="http://schemas.openxmlformats.org/officeDocument/2006/relationships/font" Target="fonts/font4.fntdata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Relationship Id="rId26" Type="http://schemas.openxmlformats.org/officeDocument/2006/relationships/slide" Target="slides/slide17.xml"/><Relationship Id="rId27" Type="http://schemas.openxmlformats.org/officeDocument/2006/relationships/slide" Target="slides/slide18.xml"/><Relationship Id="rId28" Type="http://schemas.openxmlformats.org/officeDocument/2006/relationships/slide" Target="slides/slide19.xml"/><Relationship Id="rId29" Type="http://schemas.openxmlformats.org/officeDocument/2006/relationships/slide" Target="slides/slide20.xml"/><Relationship Id="rId30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C5D9C-5792-771F-694B-77CA4304915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85558" y="2192976"/>
            <a:ext cx="5482442" cy="907473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lang="en-US" dirty="0"/>
              <a:t>Dr. Faculty Name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D7A35E-BEBE-B4D0-7E84-2C228CF60F5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185558" y="3249879"/>
            <a:ext cx="5482442" cy="907473"/>
          </a:xfrm>
        </p:spPr>
        <p:txBody>
          <a:bodyPr/>
          <a:lstStyle>
            <a:lvl1pPr marL="0" indent="0" algn="l">
              <a:buNone/>
              <a:defRPr sz="24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Course Name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41D854B-C2B2-DDD8-28EF-A21EAB95E16D}"/>
              </a:ext>
            </a:extLst>
          </p:cNvPr>
          <p:cNvGrpSpPr/>
          <p:nvPr userDrawn="1"/>
        </p:nvGrpSpPr>
        <p:grpSpPr>
          <a:xfrm>
            <a:off x="847126" y="1001444"/>
            <a:ext cx="3392365" cy="5404342"/>
            <a:chOff x="1036632" y="919574"/>
            <a:chExt cx="3753081" cy="572376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61C177E0-77CF-B03F-06FA-088C1D06034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41827" y="2219010"/>
              <a:ext cx="3747886" cy="4424324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0F9E73F2-0D3C-7F75-3484-F28045CEC69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47022" y="919574"/>
              <a:ext cx="3742691" cy="697664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9F29650-3D6A-FED0-9A7A-6C768EE2C654}"/>
                </a:ext>
              </a:extLst>
            </p:cNvPr>
            <p:cNvSpPr txBox="1"/>
            <p:nvPr userDrawn="1"/>
          </p:nvSpPr>
          <p:spPr>
            <a:xfrm>
              <a:off x="1036632" y="1733458"/>
              <a:ext cx="3753081" cy="3911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accent1"/>
                  </a:solidFill>
                </a:rPr>
                <a:t>Change is the only constant.</a:t>
              </a:r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41E578DB-AFC7-16E4-ECF9-65CEB98447D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1068" y="214666"/>
            <a:ext cx="4049865" cy="700055"/>
          </a:xfrm>
          <a:prstGeom prst="rect">
            <a:avLst/>
          </a:prstGeom>
        </p:spPr>
      </p:pic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F253582-705B-B89C-A200-9E17D2D2C5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4775" y="4306782"/>
            <a:ext cx="5483225" cy="907473"/>
          </a:xfrm>
        </p:spPr>
        <p:txBody>
          <a:bodyPr>
            <a:normAutofit/>
          </a:bodyPr>
          <a:lstStyle>
            <a:lvl1pPr>
              <a:buNone/>
              <a:defRPr sz="1800" i="1"/>
            </a:lvl1pPr>
          </a:lstStyle>
          <a:p>
            <a:pPr lvl="0"/>
            <a:r>
              <a:rPr lang="en-US" dirty="0"/>
              <a:t>Month Day, 2026</a:t>
            </a:r>
          </a:p>
        </p:txBody>
      </p:sp>
    </p:spTree>
    <p:extLst>
      <p:ext uri="{BB962C8B-B14F-4D97-AF65-F5344CB8AC3E}">
        <p14:creationId xmlns:p14="http://schemas.microsoft.com/office/powerpoint/2010/main" val="7110986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06045-3FB1-8F2E-A028-FB95665FB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88C1D1-BE5D-4237-1020-D5CE775F4F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4351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FC2D3F5-1202-6847-63BD-4AC6A5ECB2C0}"/>
              </a:ext>
            </a:extLst>
          </p:cNvPr>
          <p:cNvSpPr/>
          <p:nvPr userDrawn="1"/>
        </p:nvSpPr>
        <p:spPr>
          <a:xfrm>
            <a:off x="0" y="5910242"/>
            <a:ext cx="12192000" cy="947758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0E8012F-5BD4-739D-BDB0-CC13C8D4C5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1440" y="5968249"/>
            <a:ext cx="4168239" cy="77698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12AA35E-FC7F-3AD6-8375-B0AF94E67B9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323" y="6024721"/>
            <a:ext cx="4168238" cy="720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96200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06045-3FB1-8F2E-A028-FB95665FB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9286" y="365125"/>
            <a:ext cx="8899566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88C1D1-BE5D-4237-1020-D5CE775F4F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49286" y="1825625"/>
            <a:ext cx="8899566" cy="43495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FC2D3F5-1202-6847-63BD-4AC6A5ECB2C0}"/>
              </a:ext>
            </a:extLst>
          </p:cNvPr>
          <p:cNvSpPr/>
          <p:nvPr userDrawn="1"/>
        </p:nvSpPr>
        <p:spPr>
          <a:xfrm>
            <a:off x="0" y="0"/>
            <a:ext cx="1520042" cy="685800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8FB3A93-668A-1CF3-B918-CD631EB4E2C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50" r="25049" b="5581"/>
          <a:stretch>
            <a:fillRect/>
          </a:stretch>
        </p:blipFill>
        <p:spPr>
          <a:xfrm>
            <a:off x="0" y="3462836"/>
            <a:ext cx="1520042" cy="339516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49D4793-B10F-8496-76F9-FE0FE360815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64" y="2524382"/>
            <a:ext cx="1353312" cy="252268"/>
          </a:xfrm>
          <a:prstGeom prst="rect">
            <a:avLst/>
          </a:prstGeom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6D4AEB14-71E3-97E9-160E-A0BBA1A71054}"/>
              </a:ext>
            </a:extLst>
          </p:cNvPr>
          <p:cNvGrpSpPr/>
          <p:nvPr userDrawn="1"/>
        </p:nvGrpSpPr>
        <p:grpSpPr>
          <a:xfrm>
            <a:off x="82887" y="766440"/>
            <a:ext cx="1354267" cy="964978"/>
            <a:chOff x="10782960" y="633046"/>
            <a:chExt cx="1354267" cy="964978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FFCFB381-6494-A153-C972-3B18E1B8A55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1498"/>
            <a:stretch>
              <a:fillRect/>
            </a:stretch>
          </p:blipFill>
          <p:spPr>
            <a:xfrm>
              <a:off x="10784059" y="633046"/>
              <a:ext cx="1352069" cy="422367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1B64C24C-DAD1-0F23-28F8-6F5C083DA34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8564"/>
            <a:stretch>
              <a:fillRect/>
            </a:stretch>
          </p:blipFill>
          <p:spPr>
            <a:xfrm>
              <a:off x="10782960" y="1281349"/>
              <a:ext cx="1354267" cy="316675"/>
            </a:xfrm>
            <a:prstGeom prst="rect">
              <a:avLst/>
            </a:prstGeom>
          </p:spPr>
        </p:pic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253C4AD-7231-2FE0-A5D7-FAF0BDD46E7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783437" y="1157717"/>
              <a:ext cx="135331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1022265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A36C3F-FC84-C2F8-4A3E-63120A1D4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F108BF-53B4-57C0-F90D-24E0BD5706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166591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85558" y="1350000"/>
            <a:ext cx="6500000" cy="1800000"/>
          </a:xfrm>
        </p:spPr>
        <p:txBody>
          <a:bodyPr wrap="square"/>
          <a:lstStyle/>
          <a:p>
            <a:r>
              <a:rPr sz="2800" b="1">
                <a:solidFill>
                  <a:srgbClr val="FFFFFF"/>
                </a:solidFill>
              </a:rPr>
              <a:t>SchwingNet: Naming a Vertebral Level From One C-arm Exposure, Without Counting From C2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85558" y="3250000"/>
            <a:ext cx="6500000" cy="1200000"/>
          </a:xfrm>
        </p:spPr>
        <p:txBody>
          <a:bodyPr wrap="square"/>
          <a:lstStyle/>
          <a:p>
            <a:r>
              <a:rPr sz="2000">
                <a:solidFill>
                  <a:srgbClr val="FFFFFF"/>
                </a:solidFill>
              </a:rPr>
              <a:t>Gregory J. Schwing, MD, PhD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>
          <a:xfrm>
            <a:off x="5185558" y="4550000"/>
            <a:ext cx="6500000" cy="1600000"/>
          </a:xfrm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FFFFFF"/>
                </a:solidFill>
              </a:rPr>
              <a:t>Department of General Surgery, Detroit Medical Center and Wayne State University, Detroit, MI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FFFFFF"/>
                </a:solidFill>
              </a:rPr>
              <a:t>CNS 2026 Annual Meeting  ·  Washington, DC  ·  [session and date pending]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Where this is going</a:t>
            </a:r>
          </a:p>
        </p:txBody>
      </p:sp>
      <p:pic>
        <p:nvPicPr>
          <p:cNvPr id="3" name="Picture 2" descr="sn_fig4_b_im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0000" y="1420000"/>
            <a:ext cx="3900000" cy="347887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000000" y="4958873"/>
            <a:ext cx="3900000" cy="4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A real lateral C-arm exposure; each body named from its shape, with its probability.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1750000" y="1420000"/>
            <a:ext cx="460000" cy="460000"/>
          </a:xfrm>
          <a:prstGeom prst="rect">
            <a:avLst/>
          </a:prstGeom>
          <a:solidFill>
            <a:srgbClr val="191D63"/>
          </a:solidFill>
          <a:ln>
            <a:solidFill>
              <a:srgbClr val="1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50000" y="1400000"/>
            <a:ext cx="5350000" cy="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91D63"/>
                </a:solidFill>
              </a:rPr>
              <a:t>Surgeons count vertebrae on the C-arm. On a transitional spine the count is wrong</a:t>
            </a:r>
          </a:p>
        </p:txBody>
      </p:sp>
      <p:sp>
        <p:nvSpPr>
          <p:cNvPr id="7" name="Rectangle 6"/>
          <p:cNvSpPr/>
          <p:nvPr/>
        </p:nvSpPr>
        <p:spPr>
          <a:xfrm>
            <a:off x="1750000" y="2360000"/>
            <a:ext cx="460000" cy="460000"/>
          </a:xfrm>
          <a:prstGeom prst="rect">
            <a:avLst/>
          </a:prstGeom>
          <a:solidFill>
            <a:srgbClr val="191D63"/>
          </a:solidFill>
          <a:ln>
            <a:solidFill>
              <a:srgbClr val="1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50000" y="2340000"/>
            <a:ext cx="5350000" cy="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91D63"/>
                </a:solidFill>
              </a:rPr>
              <a:t>Today's tools copy a planning label onto the film. The planning read is wrong on the same spines</a:t>
            </a:r>
          </a:p>
        </p:txBody>
      </p:sp>
      <p:sp>
        <p:nvSpPr>
          <p:cNvPr id="9" name="Rectangle 8"/>
          <p:cNvSpPr/>
          <p:nvPr/>
        </p:nvSpPr>
        <p:spPr>
          <a:xfrm>
            <a:off x="1750000" y="3300000"/>
            <a:ext cx="460000" cy="460000"/>
          </a:xfrm>
          <a:prstGeom prst="rect">
            <a:avLst/>
          </a:prstGeom>
          <a:solidFill>
            <a:srgbClr val="191D63"/>
          </a:solidFill>
          <a:ln>
            <a:solidFill>
              <a:srgbClr val="1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50000" y="3280000"/>
            <a:ext cx="5350000" cy="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91D63"/>
                </a:solidFill>
              </a:rPr>
              <a:t>SchwingNet reads the level from the shape of the bones in one exposure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50000" y="4240000"/>
            <a:ext cx="460000" cy="460000"/>
          </a:xfrm>
          <a:prstGeom prst="rect">
            <a:avLst/>
          </a:prstGeom>
          <a:solidFill>
            <a:srgbClr val="191D63"/>
          </a:solidFill>
          <a:ln>
            <a:solidFill>
              <a:srgbClr val="1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50000" y="4220000"/>
            <a:ext cx="5350000" cy="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91D63"/>
                </a:solidFill>
              </a:rPr>
              <a:t>Tested on a C-arm it never saw: how often it is right, and when it stops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50000" y="5180000"/>
            <a:ext cx="460000" cy="460000"/>
          </a:xfrm>
          <a:prstGeom prst="rect">
            <a:avLst/>
          </a:prstGeom>
          <a:solidFill>
            <a:srgbClr val="191D63"/>
          </a:solidFill>
          <a:ln>
            <a:solidFill>
              <a:srgbClr val="1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50000" y="5160000"/>
            <a:ext cx="5350000" cy="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91D63"/>
                </a:solidFill>
              </a:rPr>
              <a:t>What is missing: enough transitional patients to prove it, and the CT census that will find them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A level is counted, not marked, and the count is wrong often</a:t>
            </a:r>
          </a:p>
        </p:txBody>
      </p:sp>
      <p:pic>
        <p:nvPicPr>
          <p:cNvPr id="3" name="Picture 2" descr="cited_strong2022_fi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000" y="1420000"/>
            <a:ext cx="3763356" cy="33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0000" y="4800000"/>
            <a:ext cx="3763356" cy="1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Strong et al. 2022, Figure 3: intraoperative fluoroscopy, needle at the T10 pedicle, counted from the sacrum. J Neurosurg Spine 36:792 (PMC10193475); permission pending.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13356" y="1420000"/>
            <a:ext cx="6086644" cy="48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191D63"/>
                </a:solidFill>
              </a:rPr>
              <a:t>Half of spine surgeons report a wrong-level operation in their career (Mody 2008; Groff 2013)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191D63"/>
                </a:solidFill>
              </a:rPr>
              <a:t>Registry of 34,544 operations: 0.12 %, thoracic 0.42 % (Furuya 2026)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191D63"/>
                </a:solidFill>
              </a:rPr>
              <a:t>The first exposed level is wrong in 4–15 % before the check film (Ammerman 2006; Dablouk 2019)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191D63"/>
                </a:solidFill>
              </a:rPr>
              <a:t>No neurophysiological check between T1 and L2; verification protocols miss a third (Longo 2012)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13356" y="5200000"/>
            <a:ext cx="6086644" cy="1100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4C70B7"/>
                </a:solidFill>
              </a:rPr>
              <a:t>The remedy on offer is another count.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50000" y="6380000"/>
            <a:ext cx="10150000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A7A7A"/>
                </a:solidFill>
              </a:rPr>
              <a:t>1. Mody MG, et al. Spine 2008;33:194.   2. Groff MW, et al. World Neurosurg 2013;79:585.   3. Furuya M, et al. Bone Joint J 2026;108-B:673.   4. Dablouk MO, et al. Br J Neurosurg 2019.   5. Ammerman JM, et al. Surg Neurol 2006.   6. Kirshblum SC, et al. J Spinal Cord Med 2011.   7. Longo UG, et al. J Bone Joint Surg Br 2012;94-B:1546.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Transitional anatomy changes the count</a:t>
            </a:r>
          </a:p>
        </p:txBody>
      </p:sp>
      <p:pic>
        <p:nvPicPr>
          <p:cNvPr id="3" name="Picture 2" descr="big_fig1_ct_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6676" y="1420000"/>
            <a:ext cx="6956647" cy="29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0000" y="4380000"/>
            <a:ext cx="1015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Labelled CT, public de-identified records (CTSpinoPelvic1K). Bar, 20 mm.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770000"/>
            <a:ext cx="10150000" cy="15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2000" b="0">
                <a:solidFill>
                  <a:srgbClr val="191D63"/>
                </a:solidFill>
              </a:rPr>
              <a:t>8.8 % of 3,147 full-length radiographs lack 24 presacral segments (Sabri 2025)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2000" b="0">
                <a:solidFill>
                  <a:srgbClr val="191D63"/>
                </a:solidFill>
              </a:rPr>
              <a:t>The count was wrong in 38 of 71 patients with a transitional vertebra (Nakagawa 2017)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2000" b="0">
                <a:solidFill>
                  <a:srgbClr val="191D63"/>
                </a:solidFill>
              </a:rPr>
              <a:t>The truth is on CT. No public radiograph or C-arm frame carries a human-read T13 or Castellvi grade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50000" y="6380000"/>
            <a:ext cx="10150000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A7A7A"/>
                </a:solidFill>
              </a:rPr>
              <a:t>8. Sabri SA, et al. Neurosurg Focus 2025;58(6):E13.   9. Nakagawa T, et al. 2017.   10. Castellvi AE, et al. Spine 1984;9:493.   Figure: SchwingNet manuscript (in preparation), Figure 1.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What a wrong level costs, and what avoiding it costs</a:t>
            </a:r>
          </a:p>
        </p:txBody>
      </p:sp>
      <p:pic>
        <p:nvPicPr>
          <p:cNvPr id="3" name="Picture 2" descr="cited_bettis_f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000" y="1420000"/>
            <a:ext cx="5416901" cy="418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0000" y="5680000"/>
            <a:ext cx="5416901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Bettis et al. 2026, Figure 1: National Practitioner Data Bank malpractice payment reports for surgical never events, 1991–2025 (Patient Saf Surg, open access; permission pending).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66901" y="1420000"/>
            <a:ext cx="4433099" cy="48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91D63"/>
                </a:solidFill>
              </a:rPr>
              <a:t>17 % of events lead to legal action; one in five Spine Section surgeons has been sued (Mody 2008; Groff 2013)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91D63"/>
                </a:solidFill>
              </a:rPr>
              <a:t>81 % of litigated cases paid; median never-event payment $75,220 (Goodkin 2004; Bettis 2026)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91D63"/>
                </a:solidFill>
              </a:rPr>
              <a:t>Avoiding it: a gold fiducial placed the day before, 52 min and 183 mGy per patient, 179 patients at one centre (AJNR 2023)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66901" y="5200000"/>
            <a:ext cx="4433099" cy="1100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4C70B7"/>
                </a:solidFill>
              </a:rPr>
              <a:t>Derived, unpublished: roughly 420–1,900 US wrong-level operations a year; indemnity alone about $8–37 million.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50000" y="6380000"/>
            <a:ext cx="10150000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A7A7A"/>
                </a:solidFill>
              </a:rPr>
              <a:t>11. Goodkin R, Laska LL. Surg Neurol 2004;61:323.   12. Bettis T, et al. Patient Saf Surg 2026.   13. Machin JT, et al. Eur Spine J 2018;27:2693.   14. AJNR Am J Neuroradiol 2023;44:618.   15. Childers CP, Maggard-Gibbons M. JAMA Surg 2018;153:e176233.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The label on the film is only as right as the planning read</a:t>
            </a:r>
          </a:p>
        </p:txBody>
      </p:sp>
      <p:pic>
        <p:nvPicPr>
          <p:cNvPr id="3" name="Picture 2" descr="cited_levelcheck_compos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000" y="1420000"/>
            <a:ext cx="3760683" cy="33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0000" y="4800000"/>
            <a:ext cx="3760683" cy="1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Top: De Silva et al. 2016, Figure 1 (Spine; PMC5045321). Bottom: Manbachi et al. 2018, Figure 6, labels on a 13th rib and a lumbarised S1 (Ann Biomed Eng; PMC9107073). Permission pending.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10683" y="1420000"/>
            <a:ext cx="6089317" cy="48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191D63"/>
                </a:solidFill>
              </a:rPr>
              <a:t>LevelCheck registers preoperative CT labels onto the film: 100 % placement, 97.6 % surgeon reads (De Silva 2016; Manbachi 2018)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191D63"/>
                </a:solidFill>
              </a:rPr>
              <a:t>Scored against the imported labels. On a transitional spine the label is only as right as the planning read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191D63"/>
                </a:solidFill>
              </a:rPr>
              <a:t>Registration-free naming on real C-arm images: 73 % (Zhang 2023); cadaver long-length images 88 % (Huang 2022)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10683" y="5200000"/>
            <a:ext cx="6089317" cy="1100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4C70B7"/>
                </a:solidFill>
              </a:rPr>
              <a:t>Nothing published names a level from one exposure alone, and nothing is tested on a transitional spine.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50000" y="6380000"/>
            <a:ext cx="10150000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A7A7A"/>
                </a:solidFill>
              </a:rPr>
              <a:t>16. Otake Y, et al. Phys Med Biol 2012;57:5485.   17. Lo SFL, et al. Spine 2015.   18. De Silva T, et al. Spine 2016.   19. Manbachi A, et al. Ann Biomed Eng 2018;46:1548.   20. Peh WCG, et al. 1999.   21. Zhang R, et al. J Xray Sci Technol 2023.   22. Huang Y, et al. Comput Methods Programs Biomed 2022.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The planning read fails where the count fails</a:t>
            </a:r>
          </a:p>
        </p:txBody>
      </p:sp>
      <p:pic>
        <p:nvPicPr>
          <p:cNvPr id="3" name="Picture 2" descr="nas_gt_vs_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000" y="1420000"/>
            <a:ext cx="5600000" cy="33815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0000" y="4881538"/>
            <a:ext cx="5600000" cy="141846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A lumbarization case with a true L6. Left, ground truth; right, the segmenter's output.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50000" y="1420000"/>
            <a:ext cx="4250000" cy="48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191D63"/>
                </a:solidFill>
              </a:rPr>
              <a:t>An open-source whole-body segmenter, unmodified, on 1,152 public CTs (Wasserthal 2023)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191D63"/>
                </a:solidFill>
              </a:rPr>
              <a:t>Normal anatomy: L5 Dice 0.94. Lumbarization: every label slides one level, L5 Dice 0.29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191D63"/>
                </a:solidFill>
              </a:rPr>
              <a:t>L6 emitted: 0 of 1,152. Confident, well formed, one level off, no error signal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191D63"/>
                </a:solidFill>
              </a:rPr>
              <a:t>Not All Spines Are Created Equal, NeurIPS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50000" y="6380000"/>
            <a:ext cx="10150000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A7A7A"/>
                </a:solidFill>
              </a:rPr>
              <a:t>23. Wasserthal J, et al. Radiol Artif Intell 2023;5:e230024.   24. Schwing GJ, et al. Not All Spines Are Created Equal. NeurIPS 2026 Datasets and Benchmarks (accepted; retrospective).   25. CTSpinoPelvic1K, doi.org/10.5281/zenodo.22139642.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Hypothesis and purpose</a:t>
            </a:r>
          </a:p>
        </p:txBody>
      </p:sp>
      <p:pic>
        <p:nvPicPr>
          <p:cNvPr id="3" name="Picture 2" descr="fig_phenotyp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000" y="1420000"/>
            <a:ext cx="10150000" cy="287857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0000" y="4358571"/>
            <a:ext cx="1015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Four phenotypes at the lumbar borders, aligned on the sacrum (CTSpinoPelvic1K, public, de-identified).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748571"/>
            <a:ext cx="10150000" cy="150142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0">
                <a:solidFill>
                  <a:srgbClr val="191D63"/>
                </a:solidFill>
              </a:rPr>
              <a:t>Hypothesis: each transitional vertebra has a local shape a network reading a few bodies can learn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0">
                <a:solidFill>
                  <a:srgbClr val="191D63"/>
                </a:solidFill>
              </a:rPr>
              <a:t>Purpose: build it, test it on an unseen C-arm, and count the transitional persons a test needs. Targets set before scoring: 90 % naming, 85 % variant sensitivity, 97 %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50000" y="5800000"/>
            <a:ext cx="10150000" cy="450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4C70B7"/>
                </a:solidFill>
              </a:rPr>
              <a:t>Investigational. Decision support beside the surgeon's count, never a replacement for the check film.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What exists to learn from: every source, one map</a:t>
            </a:r>
          </a:p>
        </p:txBody>
      </p:sp>
      <p:pic>
        <p:nvPicPr>
          <p:cNvPr id="3" name="Picture 2" descr="big_figS1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000" y="1420000"/>
            <a:ext cx="6300000" cy="3700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0000" y="5200920"/>
            <a:ext cx="6300000" cy="1099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Supplement Figure S1a: t-SNE of ImageNet features; renders sit apart from every real source. Two kV-imager sources relabelled generically.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50000" y="1420000"/>
            <a:ext cx="3550000" cy="48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191D63"/>
                </a:solidFill>
              </a:rPr>
              <a:t>11,638 images from 18 public sources, embedded by a general image network and laid out in two dimensions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1F77B4"/>
                </a:solidFill>
              </a:rPr>
              <a:t>Films</a:t>
            </a:r>
            <a:r>
              <a:rPr sz="1600" b="0">
                <a:solidFill>
                  <a:srgbClr val="7A7A7A"/>
                </a:solidFill>
              </a:rPr>
              <a:t>  ·  </a:t>
            </a:r>
            <a:r>
              <a:rPr sz="1600" b="0">
                <a:solidFill>
                  <a:srgbClr val="E8710A"/>
                </a:solidFill>
              </a:rPr>
              <a:t>C-arm fluoroscopy</a:t>
            </a:r>
            <a:r>
              <a:rPr sz="1600" b="0">
                <a:solidFill>
                  <a:srgbClr val="7A7A7A"/>
                </a:solidFill>
              </a:rPr>
              <a:t>  ·  </a:t>
            </a:r>
            <a:r>
              <a:rPr sz="1600" b="0">
                <a:solidFill>
                  <a:srgbClr val="2CA089"/>
                </a:solidFill>
              </a:rPr>
              <a:t>kV imagers</a:t>
            </a:r>
            <a:r>
              <a:rPr sz="1600" b="0">
                <a:solidFill>
                  <a:srgbClr val="7A7A7A"/>
                </a:solidFill>
              </a:rPr>
              <a:t>  ·  </a:t>
            </a:r>
            <a:r>
              <a:rPr sz="1600" b="0">
                <a:solidFill>
                  <a:srgbClr val="7F7F7F"/>
                </a:solidFill>
              </a:rPr>
              <a:t>CT renders, plain</a:t>
            </a:r>
            <a:r>
              <a:rPr sz="1600" b="0">
                <a:solidFill>
                  <a:srgbClr val="7A7A7A"/>
                </a:solidFill>
              </a:rPr>
              <a:t>  ·  </a:t>
            </a:r>
            <a:r>
              <a:rPr sz="1600" b="0">
                <a:solidFill>
                  <a:srgbClr val="202020"/>
                </a:solidFill>
              </a:rPr>
              <a:t>CT renders styled to a device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191D63"/>
                </a:solidFill>
              </a:rPr>
              <a:t>4,093 CT renders, 9,108 films with levels, 4,276 real exposures; 194 transitional persons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191D63"/>
                </a:solidFill>
              </a:rPr>
              <a:t>The intraoperative C-arm set (148 cases, cone-beam CT truth, 2023) is in no training 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50000" y="6380000"/>
            <a:ext cx="10150000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A7A7A"/>
                </a:solidFill>
              </a:rPr>
              <a:t>Retrospective study of public collections, analysed April–September 2026; sources, licences and download locations per release in the manuscript. VinDr-SpineXR under a PhysioNet data use agreement.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What SchwingNet does: inputs and outputs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750000" y="1420000"/>
            <a:ext cx="2900000" cy="700000"/>
          </a:xfrm>
          <a:prstGeom prst="roundRect">
            <a:avLst/>
          </a:prstGeom>
          <a:solidFill>
            <a:srgbClr val="191D63"/>
          </a:solidFill>
          <a:ln>
            <a:solidFill>
              <a:srgbClr val="1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1 · Find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50000" y="2200000"/>
            <a:ext cx="29000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91D63"/>
                </a:solidFill>
              </a:rPr>
              <a:t>bodies and sacrum boxed;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91D63"/>
                </a:solidFill>
              </a:rPr>
              <a:t>no level name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250000" y="1420000"/>
            <a:ext cx="2900000" cy="700000"/>
          </a:xfrm>
          <a:prstGeom prst="roundRect">
            <a:avLst/>
          </a:prstGeom>
          <a:solidFill>
            <a:srgbClr val="191D63"/>
          </a:solidFill>
          <a:ln>
            <a:solidFill>
              <a:srgbClr val="1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2 · Name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50000" y="2200000"/>
            <a:ext cx="29000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91D63"/>
                </a:solidFill>
              </a:rPr>
              <a:t>each body named from its shape,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91D63"/>
                </a:solidFill>
              </a:rPr>
              <a:t>probability beside 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50000" y="1420000"/>
            <a:ext cx="2900000" cy="700000"/>
          </a:xfrm>
          <a:prstGeom prst="roundRect">
            <a:avLst/>
          </a:prstGeom>
          <a:solidFill>
            <a:srgbClr val="191D63"/>
          </a:solidFill>
          <a:ln>
            <a:solidFill>
              <a:srgbClr val="1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3 · Check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50000" y="2200000"/>
            <a:ext cx="29000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91D63"/>
                </a:solidFill>
              </a:rPr>
              <a:t>against the count from the sacrum: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91D63"/>
                </a:solidFill>
              </a:rPr>
              <a:t>agree, a name; disagree, a stop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790000" y="1610000"/>
            <a:ext cx="320000" cy="320000"/>
          </a:xfrm>
          <a:prstGeom prst="rightArrow">
            <a:avLst/>
          </a:prstGeom>
          <a:solidFill>
            <a:srgbClr val="FFC42F"/>
          </a:solidFill>
          <a:ln>
            <a:solidFill>
              <a:srgbClr val="FFC4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Arrow 9"/>
          <p:cNvSpPr/>
          <p:nvPr/>
        </p:nvSpPr>
        <p:spPr>
          <a:xfrm>
            <a:off x="8290000" y="1610000"/>
            <a:ext cx="320000" cy="320000"/>
          </a:xfrm>
          <a:prstGeom prst="rightArrow">
            <a:avLst/>
          </a:prstGeom>
          <a:solidFill>
            <a:srgbClr val="FFC42F"/>
          </a:solidFill>
          <a:ln>
            <a:solidFill>
              <a:srgbClr val="FFC4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big_fig4_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000" y="3020000"/>
            <a:ext cx="4974310" cy="2950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024310" y="3020000"/>
            <a:ext cx="4875690" cy="30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91D63"/>
                </a:solidFill>
              </a:rPr>
              <a:t>In: one exposure. Out: a name with its probability for every body, the count from the sacrum, a flag when they disagree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91D63"/>
                </a:solidFill>
              </a:rPr>
              <a:t>No end of the spine needed; no label imported from another study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91D63"/>
                </a:solidFill>
              </a:rPr>
              <a:t>Method withheld pending university invention review; weights and code with the paper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How it was tested</a:t>
            </a:r>
          </a:p>
        </p:txBody>
      </p:sp>
      <p:pic>
        <p:nvPicPr>
          <p:cNvPr id="3" name="Picture 2" descr="big_gallery_tr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000" y="1420000"/>
            <a:ext cx="7100000" cy="273581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0000" y="4235813"/>
            <a:ext cx="7100000" cy="20141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Real lateral frames, calls by the cross-validated model; green right, red wrong, orange unscored (labellers disagree on the body). Needle tip on the named L4.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50000" y="1420000"/>
            <a:ext cx="2750000" cy="48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191D63"/>
                </a:solidFill>
              </a:rPr>
              <a:t>148 intraoperative cases, public, acquired November–December 2023; truth from each patient's cone-beam CT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191D63"/>
                </a:solidFill>
              </a:rPr>
              <a:t>Three readings: never trained on this C-arm; fine-tuned by case-grouped folds; by acquisition-day folds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191D63"/>
                </a:solidFill>
              </a:rPr>
              <a:t>Exact level per detected body; intervals clustered by case; every number read from a result file by the build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A sixth lumbar vertebra has a shape of its own</a:t>
            </a:r>
          </a:p>
        </p:txBody>
      </p:sp>
      <p:pic>
        <p:nvPicPr>
          <p:cNvPr id="3" name="Picture 2" descr="big_fig2_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000" y="1420000"/>
            <a:ext cx="2788306" cy="413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0000" y="5630000"/>
            <a:ext cx="2788306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The lumbosacral window of the embedding; SchwingNet manuscript, Figure 2b.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38306" y="1420000"/>
            <a:ext cx="7061694" cy="48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191D63"/>
                </a:solidFill>
              </a:rPr>
              <a:t>13,009 validation crops, 1,612 people: the nearest crop of another person is the same level in 74.9 %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191D63"/>
                </a:solidFill>
              </a:rPr>
              <a:t>L6 separates from L5 (silhouette 0.35) as far as L1 from T12 (0.32)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191D63"/>
                </a:solidFill>
              </a:rPr>
              <a:t>75 of 98 L6 crops named L6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191D63"/>
                </a:solidFill>
              </a:rPr>
              <a:t>Preliminary: ten L6 persons, on the split that chose the checkpoint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One lateral exposure of a C-arm the network never saw</a:t>
            </a:r>
          </a:p>
        </p:txBody>
      </p:sp>
      <p:pic>
        <p:nvPicPr>
          <p:cNvPr id="3" name="Picture 2" descr="big_fig4_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000" y="1420000"/>
            <a:ext cx="6400000" cy="379550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0000" y="5295501"/>
            <a:ext cx="6400000" cy="9544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C-ArmLSpine, public intraoperative exposures, 2023; SchwingNet manuscript, Figure 4a–b.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50000" y="1420000"/>
            <a:ext cx="3450000" cy="48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191D63"/>
                </a:solidFill>
              </a:rPr>
              <a:t>Zero-shot, lateral: 595 of 617 bodies exact (96.4 %; 92.3, 98.4)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191D63"/>
                </a:solidFill>
              </a:rPr>
              <a:t>Anteroposterior zero-shot 43.7 %; fine-tuned on other cases 96.4 %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191D63"/>
                </a:solidFill>
              </a:rPr>
              <a:t>Three bodies in view 93.1 %; one body 74.8 %: a name where there is nothing to count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Two readings of one frame, and a stop where they disagree</a:t>
            </a:r>
          </a:p>
        </p:txBody>
      </p:sp>
      <p:pic>
        <p:nvPicPr>
          <p:cNvPr id="3" name="Picture 2" descr="big_fig4_c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000" y="1420000"/>
            <a:ext cx="7000000" cy="298317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0000" y="4483177"/>
            <a:ext cx="7000000" cy="17668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Same frame. (c) Ordinals from the detected sacrum, named in the ordinary five-lumbar alphabet. (d) A frame one CT labeller reads six-lumbar: shape and count disagree on body 1; the read stops.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0000" y="1420000"/>
            <a:ext cx="2850000" cy="48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91D63"/>
                </a:solidFill>
              </a:rPr>
              <a:t>Count from the sacrum 97.0 %, shape alone 97.7 %, together 98.2 % (1,009 bodies)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91D63"/>
                </a:solidFill>
              </a:rPr>
              <a:t>Stopped on 23 of 233 frames: five of the six errors and all four L6 calls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91D63"/>
                </a:solidFill>
              </a:rPr>
              <a:t>A disagreement is reported, not hidden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50000" y="5150000"/>
            <a:ext cx="2850000" cy="1100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4C70B7"/>
                </a:solidFill>
              </a:rPr>
              <a:t>How the readings are combined and when the read stops are withheld pending the invention review.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Where the frames sat mattered more than how many</a:t>
            </a:r>
          </a:p>
        </p:txBody>
      </p:sp>
      <p:pic>
        <p:nvPicPr>
          <p:cNvPr id="3" name="Picture 2" descr="big_fig5_c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000" y="1420000"/>
            <a:ext cx="6424444" cy="413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0000" y="5630000"/>
            <a:ext cx="6424444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SchwingNet manuscript, Figure 5c–d; render sweep on 40 unseen subjects.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74444" y="1420000"/>
            <a:ext cx="3425556" cy="48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191D63"/>
                </a:solidFill>
              </a:rPr>
              <a:t>Unseen device: 80.5 % of bodies found; 93.9 % on truth boxes inside the field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191D63"/>
                </a:solidFill>
              </a:rPr>
              <a:t>Its own frames: a plateau from 24 (c). One view buys that view only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191D63"/>
                </a:solidFill>
              </a:rPr>
              <a:t>Renders at two poses find 53 % between them; the same count spread over the arc, 77 % (d)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How many people it takes, and which view they were shot in</a:t>
            </a:r>
          </a:p>
        </p:txBody>
      </p:sp>
      <p:pic>
        <p:nvPicPr>
          <p:cNvPr id="3" name="Picture 2" descr="big_fig5_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000" y="1420000"/>
            <a:ext cx="4249462" cy="413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0000" y="5630000"/>
            <a:ext cx="4249462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Exact level against training persons; SchwingNet manuscript, Figure 5b.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99462" y="1420000"/>
            <a:ext cx="5600538" cy="48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191D63"/>
                </a:solidFill>
              </a:rPr>
              <a:t>Film naming rose with training persons: NHANES II 78 → 93 %, BUU-LSPINE 65 → 97 %, CSXA 94 → 99.8 %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191D63"/>
                </a:solidFill>
              </a:rPr>
              <a:t>C-arm lateral: 93.7 % with no C-arm person. Anteroposterior: 33.8 % with none, 90.8 % with five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191D63"/>
                </a:solidFill>
              </a:rPr>
              <a:t>Training both views cost neither (98.1 and 97.0 %)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99462" y="4500000"/>
            <a:ext cx="5600538" cy="1750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1F77B4"/>
                </a:solidFill>
              </a:rPr>
              <a:t>●  NHANES II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E8710A"/>
                </a:solidFill>
              </a:rPr>
              <a:t>●  BUU-LSPINE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2CA089"/>
                </a:solidFill>
              </a:rPr>
              <a:t>▲  CSXA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202020"/>
                </a:solidFill>
              </a:rPr>
              <a:t>●  C-arm, lateral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7F7F7F"/>
                </a:solidFill>
              </a:rPr>
              <a:t>■  C-arm, anteroposterior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202020"/>
                </a:solidFill>
              </a:rPr>
              <a:t>○  lateral-trained, read on anteroposterior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202020"/>
                </a:solidFill>
              </a:rPr>
              <a:t>✕  both views, all persons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Transitional naming on a real exposure: the one case</a:t>
            </a:r>
          </a:p>
        </p:txBody>
      </p:sp>
      <p:pic>
        <p:nvPicPr>
          <p:cNvPr id="3" name="Picture 2" descr="render_case42_L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000" y="1420000"/>
            <a:ext cx="5486250" cy="418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0000" y="5680000"/>
            <a:ext cx="5486250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C-ArmLSpine case 42, public; SchwingNet manuscript, Figure 4d, with the probabilities the system printed on each box.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36250" y="1420000"/>
            <a:ext cx="4363750" cy="48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191D63"/>
                </a:solidFill>
              </a:rPr>
              <a:t>A patient one CT labeller reads six-lumbar, the other five. Lateral frame, cross-validation fold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191D63"/>
                </a:solidFill>
              </a:rPr>
              <a:t>Shape names bodies 5 to 2 as L2–L5 (0.89–1.00); the count says L1–L4. Body 1: shape none (0.02), count L5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191D63"/>
                </a:solidFill>
              </a:rPr>
              <a:t>The call is L6 for the column; body 1 is left unnamed and the read stops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191D63"/>
                </a:solidFill>
              </a:rPr>
              <a:t>Three such patients exist, six frames; scored in cross-validation only. A description, not a 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50000" y="6380000"/>
            <a:ext cx="10150000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A7A7A"/>
                </a:solidFill>
              </a:rPr>
              <a:t>No accuracy on this slide is a wrong-level surgery rate. Evidence base absent: transitional naming on real exposures is unverified.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What the census would let me claim</a:t>
            </a:r>
          </a:p>
        </p:txBody>
      </p:sp>
      <p:pic>
        <p:nvPicPr>
          <p:cNvPr id="3" name="Picture 2" descr="table_clai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5645" y="1420000"/>
            <a:ext cx="8338709" cy="275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0000" y="4290000"/>
            <a:ext cx="10150000" cy="19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191D63"/>
                </a:solidFill>
              </a:rPr>
              <a:t>n: the transitional persons a screen of every collection in the census should find, from published prevalence; a case counts only where a film exists. Today there are 7 candidates on real exposures, none verified.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191D63"/>
                </a:solidFill>
              </a:rPr>
              <a:t>Each cell: the lowest accuracy the data would still support at 95 % confidence if the network named those n persons with that share of errors (Wilson bound). 157 error-free persons are the fewest that clear 97.6 %.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191D63"/>
                </a:solidFill>
              </a:rPr>
              <a:t>97.6 % is what surgeons scored reading 62 difficult films with the LevelCheck overlay (Manbachi 2018). With 870 L6 persons the network may miss 12 and still sit above it; with all 2,069 transitional persons, 36. The 322 L6 of the screen running now allow 2.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191D63"/>
                </a:solidFill>
              </a:rPr>
              <a:t>Beating it outright needs the paired comparison on the same persons, a separate study; this slide is the size of the claim the census makes possible.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Limitations and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50000" y="1420000"/>
            <a:ext cx="4900000" cy="48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191D63"/>
                </a:solidFill>
              </a:rPr>
              <a:t>Limitations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191D63"/>
                </a:solidFill>
              </a:rPr>
              <a:t>One device; its truth is two automatic labellers agreeing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191D63"/>
                </a:solidFill>
              </a:rPr>
              <a:t>148 cases may not be 148 people; intervals may be too narrow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191D63"/>
                </a:solidFill>
              </a:rPr>
              <a:t>Real frames sit at two poses; one patient's rotational acquisition is the only real arc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191D63"/>
                </a:solidFill>
              </a:rPr>
              <a:t>Retrospective, public data; nothing prospective; not a cleared device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191D63"/>
                </a:solidFill>
              </a:rPr>
              <a:t>Next steps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191D63"/>
                </a:solidFill>
              </a:rPr>
              <a:t>Verify the transitional candidates; run the 35-person, zero-error test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191D63"/>
                </a:solidFill>
              </a:rPr>
              <a:t>A second C-arm, with obliques, held out; phantom, cadaver, then human series</a:t>
            </a:r>
          </a:p>
        </p:txBody>
      </p:sp>
      <p:pic>
        <p:nvPicPr>
          <p:cNvPr id="4" name="Picture 3" descr="big_figS5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0000" y="1420000"/>
            <a:ext cx="4950000" cy="1282285"/>
          </a:xfrm>
          <a:prstGeom prst="rect">
            <a:avLst/>
          </a:prstGeom>
        </p:spPr>
      </p:pic>
      <p:pic>
        <p:nvPicPr>
          <p:cNvPr id="5" name="Picture 4" descr="big_figS5_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0000" y="2822285"/>
            <a:ext cx="2900000" cy="22324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000000" y="2902285"/>
            <a:ext cx="1900000" cy="2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91D63"/>
                </a:solidFill>
              </a:rPr>
              <a:t>Bodies found on one patient's real rotational acquisition, 301 frames: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F77B4"/>
                </a:solidFill>
              </a:rPr>
              <a:t>●  detector that also saw this device's spot frames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4B2C92"/>
                </a:solidFill>
              </a:rPr>
              <a:t>■ ▲  other devices' renders and frames, this one held out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CA089"/>
                </a:solidFill>
              </a:rPr>
              <a:t>◆  the reported detector, this one held 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50000" y="5094737"/>
            <a:ext cx="495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Supplement Figure S5: frames at four angles (bar, 50 mm) and detection against view angle at confidence 0.25.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Conclusions</a:t>
            </a:r>
          </a:p>
        </p:txBody>
      </p:sp>
      <p:pic>
        <p:nvPicPr>
          <p:cNvPr id="3" name="Picture 2" descr="chart_head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7840" y="1420000"/>
            <a:ext cx="2792160" cy="33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07840" y="4760000"/>
            <a:ext cx="279216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Exact level on the unseen C-arm.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1420000"/>
            <a:ext cx="7057840" cy="3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2000" b="0">
                <a:solidFill>
                  <a:srgbClr val="191D63"/>
                </a:solidFill>
              </a:rPr>
              <a:t>The count fails on transitional anatomy; registered labels and CT segmenters inherit the miscount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2000" b="0">
                <a:solidFill>
                  <a:srgbClr val="191D63"/>
                </a:solidFill>
              </a:rPr>
              <a:t>SchwingNet: 96.4 % zero-shot on the lateral view, 98.2 % coupled, and a stop on 23 of 233 frames holding five of six errors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2000" b="0">
                <a:solidFill>
                  <a:srgbClr val="191D63"/>
                </a:solidFill>
              </a:rPr>
              <a:t>Transitional naming on real exposures: unverified. 35 persons needed; the census is under way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750000" y="4970000"/>
            <a:ext cx="10150000" cy="850000"/>
          </a:xfrm>
          <a:prstGeom prst="roundRect">
            <a:avLst/>
          </a:prstGeom>
          <a:solidFill>
            <a:srgbClr val="191D63"/>
          </a:solidFill>
          <a:ln>
            <a:solidFill>
              <a:srgbClr val="1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A name from shape, checked against the count, with a stop where they disagree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50000" y="5920000"/>
            <a:ext cx="1015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C70B7"/>
                </a:solidFill>
              </a:rPr>
              <a:t>Evidence status: investigational; retrospective, public de-identified data; no prospective evaluation; not a cleared device.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Acknowledgments and data availability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50000" y="1420000"/>
            <a:ext cx="6300000" cy="48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91D63"/>
                </a:solidFill>
              </a:rPr>
              <a:t>With thanks to Patrick Schwing (LSU Health Sciences Center New Orleans); Miraziz Ismoilov and Nizar Alnabahneh (Radiology) and Loren Schwiebert (Computer Science), Wayne State University; and the annotators Ashley Schehr, Annika Tekumulla, Margret Khoushi, Ryan Christian, Dane Hubers, Faris Mahjoub, Hassan Saad, Mia Sooch, Sathyagopal Siddapureddy, Michael McLellan and Jerick Kim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91D63"/>
                </a:solidFill>
              </a:rPr>
              <a:t>Data: CTSpinoPelvic1K (doi.org/10.5281/zenodo.22139642) and the public C-arm, radiograph and CT collections under their own licences; all de-identified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91D63"/>
                </a:solidFill>
              </a:rPr>
              <a:t>Code and weights: github.com/OpenSpineConsortium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91D63"/>
                </a:solidFill>
              </a:rPr>
              <a:t>Funding: NIH NIGMS F30GM147909. No commercial support.</a:t>
            </a:r>
          </a:p>
        </p:txBody>
      </p:sp>
      <p:pic>
        <p:nvPicPr>
          <p:cNvPr id="4" name="Picture 3" descr="fig_anch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0000" y="1420000"/>
            <a:ext cx="3500000" cy="88899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400000" y="2608996"/>
            <a:ext cx="3500000" cy="1300000"/>
          </a:xfrm>
          <a:prstGeom prst="roundRect">
            <a:avLst/>
          </a:prstGeom>
          <a:solidFill>
            <a:srgbClr val="191D63"/>
          </a:solidFill>
          <a:ln>
            <a:solidFill>
              <a:srgbClr val="1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Questions</a:t>
            </a:r>
          </a:p>
          <a:p>
            <a:pPr algn="ctr"/>
            <a:r>
              <a:rPr sz="1400" b="0">
                <a:solidFill>
                  <a:srgbClr val="FFFFFF"/>
                </a:solidFill>
              </a:rPr>
              <a:t>gregory.schwing@med.wayne.edu</a:t>
            </a:r>
          </a:p>
          <a:p>
            <a:pPr algn="ctr"/>
            <a:r>
              <a:rPr sz="1400" b="0">
                <a:solidFill>
                  <a:srgbClr val="FFFFFF"/>
                </a:solidFill>
              </a:rPr>
              <a:t>openspineconsortium.com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NS AM 2026">
      <a:dk1>
        <a:srgbClr val="191D63"/>
      </a:dk1>
      <a:lt1>
        <a:sysClr val="window" lastClr="FFFFFF"/>
      </a:lt1>
      <a:dk2>
        <a:srgbClr val="191D63"/>
      </a:dk2>
      <a:lt2>
        <a:srgbClr val="E6E6E5"/>
      </a:lt2>
      <a:accent1>
        <a:srgbClr val="FFC42F"/>
      </a:accent1>
      <a:accent2>
        <a:srgbClr val="EF4627"/>
      </a:accent2>
      <a:accent3>
        <a:srgbClr val="61BB46"/>
      </a:accent3>
      <a:accent4>
        <a:srgbClr val="4C70B7"/>
      </a:accent4>
      <a:accent5>
        <a:srgbClr val="D7A2CA"/>
      </a:accent5>
      <a:accent6>
        <a:srgbClr val="F16881"/>
      </a:accent6>
      <a:hlink>
        <a:srgbClr val="4C70B7"/>
      </a:hlink>
      <a:folHlink>
        <a:srgbClr val="EE9BC2"/>
      </a:folHlink>
    </a:clrScheme>
    <a:fontScheme name="CNS Fonts">
      <a:majorFont>
        <a:latin typeface="New Hero Medium"/>
        <a:ea typeface=""/>
        <a:cs typeface=""/>
      </a:majorFont>
      <a:minorFont>
        <a:latin typeface="New He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New Hero Medium</vt:lpstr>
      <vt:lpstr>Arial</vt:lpstr>
      <vt:lpstr>New Hero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Nick Gbur</dc:creator>
  <cp:lastModifiedBy>Nick Gbur</cp:lastModifiedBy>
  <cp:revision>8</cp:revision>
  <dcterms:created xsi:type="dcterms:W3CDTF">2026-04-16T17:17:21Z</dcterms:created>
  <dcterms:modified xsi:type="dcterms:W3CDTF">2026-04-21T16:28:45Z</dcterms:modified>
</cp:coreProperties>
</file>