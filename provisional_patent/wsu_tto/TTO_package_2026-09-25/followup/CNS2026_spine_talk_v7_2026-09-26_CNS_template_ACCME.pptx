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5"/>
    <p:sldId id="262" r:id="rId16"/>
    <p:sldId id="263" r:id="rId17"/>
    <p:sldId id="264" r:id="rId18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public and de-identified; retrospective, analysed April–September 2026. 194 transitional persons across the sources, 191 of them on CT; no released film or C-arm frame carries a human-read T13 or Castellvi grade. The intraoperative C-arm set (148 cases, cone-beam CT truth, 2023) is in no training set.</a:t>
            </a:r>
          </a:p>
          <a:p/>
          <a:p>
            <a:r>
              <a:t>The nearest crop from another person is the same level in 74.9 % and within one level in 93.8 %. L6 separates from L5 (silhouette 0.35) as far as L1 from T12 (0.32); 75 of 98 L6 crops were named L6. Preliminary: ten L6 persons, on the split that chose the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probability; when the sacrum is in the field, the count from it; and a flag when the two disagree. Neither end of the spine is needed, and no label is imported from another study.</a:t>
            </a:r>
          </a:p>
          <a:p/>
          <a:p>
            <a:r>
              <a:t>Middle: occlusion maps for L4, L5, L6 and the sacrum; red, the parts of the image whose removal changes the name most (manuscript Figure 2d). Per unit area the attribution is densest on the target body; for L4 to L6 more of it falls on the body below than on the target.</a:t>
            </a:r>
          </a:p>
          <a:p/>
          <a:p>
            <a:r>
              <a:t>Trained on renders of labelled CT and on annotated radiographs; the intraoperative C-arm is in no training set. The architecture, how the two readings are combined and when the read stops are withheld pending the university invention review. Figures: manuscript Figure 4a, 2d and 4d.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</a:t>
            </a:r>
          </a:p>
          <a:p/>
          <a:p>
            <a:r>
              <a:t>Three readings of the same frames: never trained on this C-arm; fine-tuned by case-grouped folds; fine-tuned by acquisition-day folds.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</a:t>
            </a:r>
          </a:p>
          <a:p/>
          <a:p>
            <a:r>
              <a:t>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Zero-shot lateral: 595 of 617 detected bodies exact (96.4 %; 95 % CI 92.3, 98.4). Anteroposterior zero-shot 43.7 %; fine-tuned on other cases of the same C-arm 96.4 %. With three bodies in view 93.1 %; with one body 74.8 %: a name where there is nothing to count.</a:t>
            </a:r>
          </a:p>
          <a:p/>
          <a:p>
            <a:r>
              <a:t>The published accuracies are scored against different truths: LevelCheck against the labels it imported from the planning CT; the surgeon reading with the overlay against the same; the registration-free methods against their own test sets. No study is on a transitional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arc, and on it the held-out detector found about half the bodies. The posterior is uncalibrated; the embedding is of the selection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second C-arm, with obliques, added to the corpus and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350000"/>
            <a:ext cx="6500000" cy="1800000"/>
          </a:xfrm>
        </p:spPr>
        <p:txBody>
          <a:bodyPr wrap="square"/>
          <a:lstStyle/>
          <a:p>
            <a:r>
              <a:rPr sz="2800" b="1">
                <a:solidFill>
                  <a:srgbClr val="FFFFFF"/>
                </a:solidFill>
              </a:rPr>
              <a:t>SchwingNet: Naming a Vertebral Level From One C-arm Exposure, Without Counting From 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250000"/>
            <a:ext cx="6500000" cy="12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550000"/>
            <a:ext cx="6500000" cy="16000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CNS 2026 Annual Meeting  ·  Washington, DC  ·  [session and date pending]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20000"/>
            <a:ext cx="3300000" cy="2943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0000" y="4423661"/>
            <a:ext cx="33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9500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220000"/>
            <a:ext cx="59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20000"/>
            <a:ext cx="595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SchwingNet reads the level from the shape of the bones in a limited field of view; with the sacrum in view it also counts, and checks the two against each other. Nothing is mapped to the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5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570000"/>
            <a:ext cx="59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4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470000"/>
            <a:ext cx="595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20000"/>
            <a:ext cx="6029624" cy="1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146293"/>
            <a:ext cx="6029624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C-arm steps up the prone spine, each exposure overlapping the last, and the level is counted from the sacrum.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level costs, and what avoiding it costs</a:t>
            </a:r>
          </a:p>
        </p:txBody>
      </p:sp>
      <p:pic>
        <p:nvPicPr>
          <p:cNvPr id="3" name="Picture 2" descr="chart_machin_redra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60869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60869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Redrawn from Machin et al. 2018, Figure 2: NHS spinal-surgery negligence claims 2012–2017 by cause, number and estimated cost; values read from the published figure (Eur Spine J, open access).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10869" y="1420000"/>
            <a:ext cx="4389131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978 spinal-surgery negligence claims in England over five years, £535.5 million: wrong site or level is a small share of them (Machin 2018)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17 % of self-reported wrong-level events lead to legal action; 81 % of litigated cases are paid; median never-event payment $75,220 (Mody 2008; Goodkin 2004; Bettis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191D63"/>
                </a:solidFill>
              </a:rPr>
              <a:t>Avoiding it: a gold fiducial placed the day before, 52 min and 183 mGy per patient (AJNR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10869" y="5200000"/>
            <a:ext cx="4389131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C70B7"/>
                </a:solidFill>
              </a:rPr>
              <a:t>Derived, unpublished: roughly 420–1,900 US wrong-level operations a year; indemnity alone about $8–37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10. Machin JT, et al. Eur Spine J 2018;27:2693.   11. Goodkin R, Laska LL. Surg Neurol 2004;61:323.   12. Bettis T, et al. Patient Saf Surg 2026.   13. AJNR Am J Neuroradiol 2023;44:618.   14.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table_leve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Nothing published names a level from one exposure alone, and nothing is tested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De Silva T, et al. Spine 2016.   17. Manbachi A, et al. Ann Biomed Eng 2018;46:1548.   18. Peh WCG, et al. 1999.   19. Zhang R, et al. J Xray Sci Technol 2023.   20.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Not All Spines Are Created Equal, NeurIPS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21. Wasserthal J, et al. Radiol Artif Intell 2023;5:e230024.   22. Schwing GJ, et al. Not All Spines Are Created Equal. NeurIPS 2026 Datasets and Benchmarks (accepted; retrospective).   23.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big_fig1_ct_vs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06" y="1420000"/>
            <a:ext cx="7613988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3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sixth lumbar and a four-lumbar spine on labelled CT and on another patient's real film (SchwingNet manuscript, Figure 1;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220000"/>
            <a:ext cx="10150000" cy="10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can learn from labelled CT and find on a film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5800000"/>
            <a:ext cx="10150000" cy="4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big_fig2_ab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600000" cy="3638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98809"/>
            <a:ext cx="6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level model's embedding of 13,009 crops from 1,612 people, coloured by level (left, C1 to sacrum; right, the lumbosacral window: triangles L6, stars the contested L6 of never-seen patients). Manuscript Figure 2a–b.</a:t>
            </a:r>
          </a:p>
        </p:txBody>
      </p:sp>
      <p:pic>
        <p:nvPicPr>
          <p:cNvPr id="5" name="Picture 4" descr="table_cor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00" y="1420000"/>
            <a:ext cx="3249999" cy="1729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50000" y="3269033"/>
            <a:ext cx="3250000" cy="2980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All public and de-identified. The transitional truth is on CT; no released film or C-arm frame carries a human-read T13 or Castellvi grade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The intraoperative set (148 cases, cone-beam CT truth, 2023) is in no training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3200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02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no level name yet</a:t>
            </a:r>
          </a:p>
        </p:txBody>
      </p:sp>
      <p:pic>
        <p:nvPicPr>
          <p:cNvPr id="5" name="Picture 4" descr="sn_fig4_a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303" y="2670000"/>
            <a:ext cx="2727394" cy="35799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25000" y="1420000"/>
            <a:ext cx="3200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5000" y="202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each body named from its shape;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red, what the name draws on</a:t>
            </a:r>
          </a:p>
        </p:txBody>
      </p:sp>
      <p:pic>
        <p:nvPicPr>
          <p:cNvPr id="8" name="Picture 7" descr="occlusi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849" y="2670000"/>
            <a:ext cx="2746301" cy="358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00000" y="1420000"/>
            <a:ext cx="3200000" cy="52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0" y="202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against the count from the sacrum: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agree, a name; disagree, a stop</a:t>
            </a:r>
          </a:p>
        </p:txBody>
      </p:sp>
      <p:pic>
        <p:nvPicPr>
          <p:cNvPr id="11" name="Picture 10" descr="big_fig4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000" y="2670000"/>
            <a:ext cx="3200000" cy="2806153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980000" y="152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5000" y="152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1: it names the level without counting or registration</a:t>
            </a:r>
          </a:p>
        </p:txBody>
      </p:sp>
      <p:pic>
        <p:nvPicPr>
          <p:cNvPr id="3" name="Picture 2" descr="table_resu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22" y="1420000"/>
            <a:ext cx="7793355" cy="44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930000"/>
            <a:ext cx="1015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on 148 real intraoperative cases of a C-arm it never saw, lateral view, scored against cone-beam CT; the published methods on their own test sets. Parity with the overlay is suggested, not proven: the paired comparison is a separate study.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2: when shape and count disagree, it stops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manuscript Figure 4d with the probabilities the system printed on each box; cross-validation 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Over all anchored frames: count 97.0 %, shape 97.7 %, together 98.2 % (1,009 bodies). Stopped on 23 of 233 frames, holding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How the two readings are combined and when the read stops are withheld pending the invention review. No accuracy on this slide is a wrong-level surgery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3: transitional naming is not yet tested; what the census supplies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45" y="1420000"/>
            <a:ext cx="8338709" cy="27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290000"/>
            <a:ext cx="10150000" cy="1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Scored so far: three L6 patients, in cross-validation only; a description, not a test. Today there are 7 candidates on real exposures, none verified.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n: the transitional persons a screen of every collection in the census should find, from published prevalence; a case counts only where a film exists. Each cell: the lowest accuracy the data would still support at 95 % confidence at that share of errors (Wilson bound).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97.6 % is what surgeons scored with the LevelCheck overlay (Manbachi 2018). With 870 L6 persons the network may miss 12 and still sit above it; with all 2,069 transitional persons, 36; the 322 L6 of the screen running now allow 2.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Beating it outright needs the paired comparison on the same persons, a separate study.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Conclusions: three goals, where each stands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Name the level from one exposure, no count, no registration: </a:t>
            </a:r>
            <a:r>
              <a:rPr sz="1700" b="0">
                <a:solidFill>
                  <a:srgbClr val="2CA089"/>
                </a:solidFill>
              </a:rPr>
              <a:t>met on ordinary anatomy</a:t>
            </a:r>
            <a:r>
              <a:rPr sz="1700" b="0">
                <a:solidFill>
                  <a:srgbClr val="191D63"/>
                </a:solidFill>
              </a:rPr>
              <a:t> — 96.4 % zero-shot, 98.2 % coupled, beside 97.6 % for surgeons with the overlay (different test sets)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Name it on a transitional spine: </a:t>
            </a:r>
            <a:r>
              <a:rPr sz="1700" b="0">
                <a:solidFill>
                  <a:srgbClr val="EF4627"/>
                </a:solidFill>
              </a:rPr>
              <a:t>not yet shown</a:t>
            </a:r>
            <a:r>
              <a:rPr sz="1700" b="0">
                <a:solidFill>
                  <a:srgbClr val="191D63"/>
                </a:solidFill>
              </a:rPr>
              <a:t> — three cross-validation patients; 35 error-free persons needed; the census should supply about 870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Outperform surgeons using registration: </a:t>
            </a:r>
            <a:r>
              <a:rPr sz="1700" b="0">
                <a:solidFill>
                  <a:srgbClr val="EF4627"/>
                </a:solidFill>
              </a:rPr>
              <a:t>needs the paired study</a:t>
            </a:r>
            <a:r>
              <a:rPr sz="1700" b="0">
                <a:solidFill>
                  <a:srgbClr val="191D63"/>
                </a:solidFill>
              </a:rPr>
              <a:t> — the census makes the size of that claim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Code and weights: github.com/OpenSpineConsortium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00" y="1420000"/>
            <a:ext cx="3500000" cy="888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00000" y="2608996"/>
            <a:ext cx="3500000" cy="13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openspineconsortium.com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