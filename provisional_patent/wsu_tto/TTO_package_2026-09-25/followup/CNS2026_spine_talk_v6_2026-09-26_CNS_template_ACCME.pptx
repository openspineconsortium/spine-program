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probability, the count from the sacrum, and a flag when the two disagree. Neither end of the spine is needed, and no label is imported from another study.</a:t>
            </a:r>
          </a:p>
          <a:p/>
          <a:p>
            <a:r>
              <a:t>Trained on renders of labelled CT and on annotated radiographs; the intraoperative C-arm is in no training set. Fitted image-formation parameters for each device, the trained weights and the code accompany the paper.</a:t>
            </a:r>
          </a:p>
          <a:p/>
          <a:p>
            <a:r>
              <a:t>The architecture, how the two readings are combined and when the read stops are withheld pending the university invention review. Figures: manuscript Figure 4a, 4b and 4d; C-ArmLSpine, public,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</a:t>
            </a:r>
          </a:p>
          <a:p/>
          <a:p>
            <a:r>
              <a:t>Three readings of the same frames: never trained on this C-arm; fine-tuned by case-grouped folds; fine-tuned by acquisition-day folds.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</a:t>
            </a:r>
          </a:p>
          <a:p/>
          <a:p>
            <a:r>
              <a:t>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arc, and on it the held-out detector found about half the bodies. The posterior is uncalibrated; the embedding is of the selection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second C-arm, with obliques, added to the corpus and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350000"/>
            <a:ext cx="6500000" cy="1800000"/>
          </a:xfrm>
        </p:spPr>
        <p:txBody>
          <a:bodyPr wrap="square"/>
          <a:lstStyle/>
          <a:p>
            <a:r>
              <a:rPr sz="2800" b="1">
                <a:solidFill>
                  <a:srgbClr val="FFFFFF"/>
                </a:solidFill>
              </a:rPr>
              <a:t>SchwingNet: Naming a Vertebral Level From One C-arm Exposure, Without Counting From 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250000"/>
            <a:ext cx="6500000" cy="12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550000"/>
            <a:ext cx="6500000" cy="16000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CNS 2026 Annual Meeting  ·  Washington, DC  ·  [session and date pending]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0" y="1420000"/>
            <a:ext cx="3900000" cy="3478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0000" y="4958873"/>
            <a:ext cx="3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38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36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3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32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1D63"/>
                </a:solidFill>
              </a:rPr>
              <a:t>SchwingNet reads the level from the shape of the bones in one exposure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30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28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26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24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70000"/>
            <a:ext cx="6029624" cy="957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077366"/>
            <a:ext cx="6029624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C-arm steps up the prone spine, each exposure overlapping the last, and the level is counted from the sacrum.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level costs, and what avoiding it costs</a:t>
            </a:r>
          </a:p>
        </p:txBody>
      </p:sp>
      <p:pic>
        <p:nvPicPr>
          <p:cNvPr id="3" name="Picture 2" descr="chart_bettis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900000" cy="41572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57269"/>
            <a:ext cx="6900000" cy="6427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Redrawn from Bettis et al. 2026, Figure 1: NPDB malpractice payment reports for surgical never events, 1991–2025; values read from the published figure, fitted trend omitted (Patient Saf Surg, open access; permission pending).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0000" y="1420000"/>
            <a:ext cx="2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17 % of events lead to legal action; one in five Spine Section surgeons has been sued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81 % of litigated cases paid; median never-event payment $75,220 (Goodkin 2004; Bettis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Avoiding it: a gold fiducial placed the day before, 52 min and 183 mGy per patient (AJNR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0000" y="5200000"/>
            <a:ext cx="29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C70B7"/>
                </a:solidFill>
              </a:rPr>
              <a:t>Derived, unpublished: roughly 420–1,900 US wrong-level operations a year; indemnity alone about $8–37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10. Goodkin R, Laska LL. Surg Neurol 2004;61:323.   11. Bettis T, et al. Patient Saf Surg 2026.   12. Machin JT, et al. Eur Spine J 2018;27:2693.   13. AJNR Am J Neuroradiol 2023;44:618.   14.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763532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476353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3532" y="1420000"/>
            <a:ext cx="5086468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LevelCheck registers preoperative CT labels onto the film: 100 % placement, 97.6 % surgeon reads (De Silva 2016; Manbachi 2018)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Scored against the imported labels.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Registration-free naming on real C-arm images: 73 % (Zhang 2023); cadaver long-length images 88 % (Huang 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3532" y="5200000"/>
            <a:ext cx="5086468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C70B7"/>
                </a:solidFill>
              </a:rPr>
              <a:t>Nothing published names a level from one exposure alone, and nothing is tested on a transitional spine.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Lo SFL, et al. Spine 2015.   17. De Silva T, et al. Spine 2016.   18. Manbachi A, et al. Ann Biomed Eng 2018;46:1548.   19. Peh WCG, et al. 1999.   20. Zhang R, et al. J Xray Sci Technol 2023.   21.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Not All Spines Are Created Equal, NeurIPS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22. Wasserthal J, et al. Radiol Artif Intell 2023;5:e230024.   23. Schwing GJ, et al. Not All Spines Are Created Equal. NeurIPS 2026 Datasets and Benchmarks (accepted; retrospective).   24.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fig_phen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287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358571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Four phenotypes at the lumbar borders, aligned on the sacrum (CTSpinoPelvic1K,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748571"/>
            <a:ext cx="10150000" cy="150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reading a few bodies can learn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5800000"/>
            <a:ext cx="10150000" cy="4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big_fig2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400000" cy="39945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94590"/>
            <a:ext cx="4400000" cy="805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2a: the level model's embedding, coloured by level (t-SNE). Triangles, L6; stars, the contested L6 of never-seen patients.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0000" y="1420000"/>
            <a:ext cx="54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Public and de-identified: 4,093 CT renders, 9,108 films with levels, 4,276 real exposures; 194 transitional persons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No released film or C-arm frame carries a human-read T13 or Castellvi grade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network's map of 13,009 crops from 1,612 people: one cluster per level, C1 to the sacrum. The nearest crop from another person is the same level in 74.9 %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intraoperative C-arm set (148 cases, cone-beam CT truth, 2023) is in no 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Retrospective study of public collections, analysed April–September 2026; sources, licences and download locations per release in the manuscript. VinDr-SpineXR under a PhysioNet data use agreement.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3200000" cy="6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10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no level name yet</a:t>
            </a:r>
          </a:p>
        </p:txBody>
      </p:sp>
      <p:pic>
        <p:nvPicPr>
          <p:cNvPr id="5" name="Picture 4" descr="sn_fig4_a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49" y="2720000"/>
            <a:ext cx="2689302" cy="353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25000" y="1420000"/>
            <a:ext cx="3200000" cy="6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5000" y="210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each body named from its shape,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probability beside it</a:t>
            </a:r>
          </a:p>
        </p:txBody>
      </p:sp>
      <p:pic>
        <p:nvPicPr>
          <p:cNvPr id="8" name="Picture 7" descr="sn_fig4_b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000" y="2720000"/>
            <a:ext cx="3200000" cy="28544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00000" y="1420000"/>
            <a:ext cx="3200000" cy="6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0" y="210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against the count from the sacrum: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agree, a name; disagree, a stop</a:t>
            </a:r>
          </a:p>
        </p:txBody>
      </p:sp>
      <p:pic>
        <p:nvPicPr>
          <p:cNvPr id="11" name="Picture 10" descr="big_fig4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000" y="2720000"/>
            <a:ext cx="3200000" cy="2806153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980000" y="15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5000" y="15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sixth lumbar vertebra has a shape of its own</a:t>
            </a:r>
          </a:p>
        </p:txBody>
      </p:sp>
      <p:pic>
        <p:nvPicPr>
          <p:cNvPr id="3" name="Picture 2" descr="big_fig2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2788306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2788306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2b.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306" y="1420000"/>
            <a:ext cx="7061694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The lumbosacral window of the same map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separates from L5 (silhouette 0.35) as far as L1 from T12 (0.32)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75 of 98 L6 crops named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Preliminary: ten L6 persons, on the split that chose the checkpoint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One lateral exposure of a C-arm the network never saw</a:t>
            </a:r>
          </a:p>
        </p:txBody>
      </p:sp>
      <p:pic>
        <p:nvPicPr>
          <p:cNvPr id="3" name="Picture 2" descr="big_fig4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00000" cy="3795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95501"/>
            <a:ext cx="6400000" cy="954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C-ArmLSpine, public intraoperative exposures, 2023; SchwingNet manuscript, Figure 4a–b.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0000" y="1420000"/>
            <a:ext cx="3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Zero-shot, lateral: 595 of 617 bodies exact (96.4 %; 92.3, 98.4)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Anteroposterior zero-shot 43.7 %; fine-tuned on other cases 96.4 %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Three bodies in view 93.1 %; one body 74.8 %: a name where there is nothing to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Two readings of one frame, and a stop where they disagree</a:t>
            </a:r>
          </a:p>
        </p:txBody>
      </p:sp>
      <p:pic>
        <p:nvPicPr>
          <p:cNvPr id="3" name="Picture 2" descr="big_fig4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000000" cy="2983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483177"/>
            <a:ext cx="7000000" cy="1766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Same frame. (c) Ordinals from the detected sacrum, named in the ordinary five-lumbar alphabet. (d) A frame one CT labeller reads six-lumbar: shape and count disagree on body 1; the read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0000" y="1420000"/>
            <a:ext cx="28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Count from the sacrum 97.0 %, shape alone 97.7 %, together 98.2 % (1,009 bodies)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Stopped on 23 of 233 frames: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0000" y="5150000"/>
            <a:ext cx="28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70B7"/>
                </a:solidFill>
              </a:rPr>
              <a:t>How the readings are combined and when the read stops are withheld pending the invention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naming on a real exposure: the one case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SchwingNet manuscript, Figure 4d, with the probabilities the system printed on each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Lateral frame, cross-validation fold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Three such patients exist, six frames; scored in cross-validation only. A description, not a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No accuracy on this slide is a wrong-level surgery rate. Evidence base absent: transitional naming on real exposures is unverified.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the census would let me claim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45" y="1420000"/>
            <a:ext cx="8338709" cy="27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290000"/>
            <a:ext cx="10150000" cy="1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n: the transitional persons a screen of every collection in the census should find, from published prevalence; a case counts only where a film exists. Today there are 7 candidates on real exposures, none verified.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Each cell: the lowest accuracy the data would still support at 95 % confidence if the network named those n persons with that share of errors (Wilson bound). 157 error-free persons are the fewest that clear 97.6 %.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97.6 % is what surgeons scored reading 62 difficult films with the LevelCheck overlay (Manbachi 2018). With 870 L6 persons the network may miss 12 and still sit above it; with all 2,069 transitional persons, 36. The 322 L6 of the screen running now allow 2.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Beating it outright needs the paired comparison on the same persons, a separate study; this slide is the size of the claim the census makes possible.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The count fails on transitional anatomy; registered labels and CT segmenters inherit the miscount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SchwingNet: 96.4 % zero-shot on the lateral view, 98.2 % coupled, and a stop on 23 of 233 frames holding five of six errors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Transitional naming on real exposures: unverified. 35 persons needed; the census is under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Code and weights: github.com/OpenSpineConsortium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00" y="1420000"/>
            <a:ext cx="3500000" cy="888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00000" y="2608996"/>
            <a:ext cx="3500000" cy="13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openspineconsortium.com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