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0" r:id="rId14"/>
    <p:sldId id="264" r:id="rId15"/>
    <p:sldId id="265"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5" autoAdjust="0"/>
    <p:restoredTop sz="94610"/>
  </p:normalViewPr>
  <p:slideViewPr>
    <p:cSldViewPr snapToGrid="0" snapToObjects="1">
      <p:cViewPr varScale="1">
        <p:scale>
          <a:sx n="88" d="100"/>
          <a:sy n="88" d="100"/>
        </p:scale>
        <p:origin x="394" y="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0813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F43"/>
        </a:solidFill>
        <a:effectLst/>
      </p:bgPr>
    </p:bg>
    <p:spTree>
      <p:nvGrpSpPr>
        <p:cNvPr id="1" name=""/>
        <p:cNvGrpSpPr/>
        <p:nvPr/>
      </p:nvGrpSpPr>
      <p:grpSpPr>
        <a:xfrm>
          <a:off x="0" y="0"/>
          <a:ext cx="0" cy="0"/>
          <a:chOff x="0" y="0"/>
          <a:chExt cx="0" cy="0"/>
        </a:xfrm>
      </p:grpSpPr>
      <p:sp>
        <p:nvSpPr>
          <p:cNvPr id="2" name="Shape 0"/>
          <p:cNvSpPr/>
          <p:nvPr/>
        </p:nvSpPr>
        <p:spPr>
          <a:xfrm rot="-180000">
            <a:off x="-914400" y="5120640"/>
            <a:ext cx="14630400" cy="3200400"/>
          </a:xfrm>
          <a:prstGeom prst="rect">
            <a:avLst/>
          </a:prstGeom>
          <a:solidFill>
            <a:srgbClr val="0C2A52"/>
          </a:solidFill>
          <a:ln/>
        </p:spPr>
        <p:txBody>
          <a:bodyPr/>
          <a:lstStyle/>
          <a:p>
            <a:endParaRPr lang="en-US"/>
          </a:p>
        </p:txBody>
      </p:sp>
      <p:sp>
        <p:nvSpPr>
          <p:cNvPr id="3" name="Shape 1"/>
          <p:cNvSpPr/>
          <p:nvPr/>
        </p:nvSpPr>
        <p:spPr>
          <a:xfrm rot="-180000">
            <a:off x="-914400" y="5623560"/>
            <a:ext cx="14630400" cy="91440"/>
          </a:xfrm>
          <a:prstGeom prst="rect">
            <a:avLst/>
          </a:prstGeom>
          <a:solidFill>
            <a:srgbClr val="C9962E"/>
          </a:solidFill>
          <a:ln/>
        </p:spPr>
        <p:txBody>
          <a:bodyPr/>
          <a:lstStyle/>
          <a:p>
            <a:endParaRPr lang="en-US"/>
          </a:p>
        </p:txBody>
      </p:sp>
      <p:pic>
        <p:nvPicPr>
          <p:cNvPr id="4" name="Image 0" descr="assets/seal.png"/>
          <p:cNvPicPr>
            <a:picLocks noChangeAspect="1"/>
          </p:cNvPicPr>
          <p:nvPr/>
        </p:nvPicPr>
        <p:blipFill>
          <a:blip r:embed="rId3"/>
          <a:stretch>
            <a:fillRect/>
          </a:stretch>
        </p:blipFill>
        <p:spPr>
          <a:xfrm>
            <a:off x="640080" y="502920"/>
            <a:ext cx="1371600" cy="1371600"/>
          </a:xfrm>
          <a:prstGeom prst="rect">
            <a:avLst/>
          </a:prstGeom>
        </p:spPr>
      </p:pic>
      <p:sp>
        <p:nvSpPr>
          <p:cNvPr id="5" name="Text 2"/>
          <p:cNvSpPr/>
          <p:nvPr/>
        </p:nvSpPr>
        <p:spPr>
          <a:xfrm>
            <a:off x="2194560" y="868680"/>
            <a:ext cx="9144000" cy="365760"/>
          </a:xfrm>
          <a:prstGeom prst="rect">
            <a:avLst/>
          </a:prstGeom>
          <a:noFill/>
          <a:ln/>
        </p:spPr>
        <p:txBody>
          <a:bodyPr wrap="square" rtlCol="0" anchor="ctr"/>
          <a:lstStyle/>
          <a:p>
            <a:pPr marL="0" indent="0">
              <a:buNone/>
            </a:pPr>
            <a:r>
              <a:rPr lang="en-US" sz="1250" b="1" kern="0" spc="200" dirty="0">
                <a:solidFill>
                  <a:srgbClr val="E7C77A"/>
                </a:solidFill>
                <a:latin typeface="Arial" pitchFamily="34" charset="0"/>
                <a:ea typeface="Arial" pitchFamily="34" charset="-122"/>
                <a:cs typeface="Arial" pitchFamily="34" charset="-120"/>
              </a:rPr>
              <a:t>43RD ANNUAL MEETING  ·  AMERICAN ASSOCIATION OF CLINICAL ANATOMISTS</a:t>
            </a:r>
            <a:endParaRPr lang="en-US" sz="1250" dirty="0"/>
          </a:p>
        </p:txBody>
      </p:sp>
      <p:sp>
        <p:nvSpPr>
          <p:cNvPr id="6" name="Text 3"/>
          <p:cNvSpPr/>
          <p:nvPr/>
        </p:nvSpPr>
        <p:spPr>
          <a:xfrm>
            <a:off x="2194560" y="1225296"/>
            <a:ext cx="9144000" cy="365760"/>
          </a:xfrm>
          <a:prstGeom prst="rect">
            <a:avLst/>
          </a:prstGeom>
          <a:noFill/>
          <a:ln/>
        </p:spPr>
        <p:txBody>
          <a:bodyPr wrap="square" rtlCol="0" anchor="ctr"/>
          <a:lstStyle/>
          <a:p>
            <a:pPr marL="0" indent="0">
              <a:buNone/>
            </a:pPr>
            <a:r>
              <a:rPr lang="en-US" sz="1250" dirty="0">
                <a:solidFill>
                  <a:srgbClr val="AEC2DA"/>
                </a:solidFill>
                <a:latin typeface="Arial" pitchFamily="34" charset="0"/>
                <a:ea typeface="Arial" pitchFamily="34" charset="-122"/>
                <a:cs typeface="Arial" pitchFamily="34" charset="-120"/>
              </a:rPr>
              <a:t>Tech Fair  ·  Mayo Clinic, Rochester MN  ·  June 12–15, 2026</a:t>
            </a:r>
            <a:endParaRPr lang="en-US" sz="1250" dirty="0"/>
          </a:p>
        </p:txBody>
      </p:sp>
      <p:sp>
        <p:nvSpPr>
          <p:cNvPr id="7" name="Text 4"/>
          <p:cNvSpPr/>
          <p:nvPr/>
        </p:nvSpPr>
        <p:spPr>
          <a:xfrm>
            <a:off x="640080" y="2331720"/>
            <a:ext cx="10972800" cy="868680"/>
          </a:xfrm>
          <a:prstGeom prst="rect">
            <a:avLst/>
          </a:prstGeom>
          <a:noFill/>
          <a:ln/>
        </p:spPr>
        <p:txBody>
          <a:bodyPr wrap="square" rtlCol="0" anchor="ctr"/>
          <a:lstStyle/>
          <a:p>
            <a:pPr marL="0" indent="0" algn="l">
              <a:buNone/>
            </a:pPr>
            <a:r>
              <a:rPr lang="en-US" sz="4200" b="1" dirty="0">
                <a:solidFill>
                  <a:srgbClr val="FFFFFF"/>
                </a:solidFill>
                <a:latin typeface="Georgia" pitchFamily="34" charset="0"/>
                <a:ea typeface="Georgia" pitchFamily="34" charset="-122"/>
                <a:cs typeface="Georgia" pitchFamily="34" charset="-120"/>
              </a:rPr>
              <a:t>Harnessing Algorithmic Disagreement</a:t>
            </a:r>
            <a:endParaRPr lang="en-US" sz="4200" dirty="0"/>
          </a:p>
        </p:txBody>
      </p:sp>
      <p:sp>
        <p:nvSpPr>
          <p:cNvPr id="8" name="Text 5"/>
          <p:cNvSpPr/>
          <p:nvPr/>
        </p:nvSpPr>
        <p:spPr>
          <a:xfrm>
            <a:off x="640080" y="3200400"/>
            <a:ext cx="10972800" cy="731520"/>
          </a:xfrm>
          <a:prstGeom prst="rect">
            <a:avLst/>
          </a:prstGeom>
          <a:noFill/>
          <a:ln/>
        </p:spPr>
        <p:txBody>
          <a:bodyPr wrap="square" rtlCol="0" anchor="ctr"/>
          <a:lstStyle/>
          <a:p>
            <a:pPr marL="0" indent="0" algn="l">
              <a:buNone/>
            </a:pPr>
            <a:r>
              <a:rPr lang="en-US" sz="2700" i="1" dirty="0">
                <a:solidFill>
                  <a:srgbClr val="E7C77A"/>
                </a:solidFill>
                <a:latin typeface="Georgia" pitchFamily="34" charset="0"/>
                <a:ea typeface="Georgia" pitchFamily="34" charset="-122"/>
                <a:cs typeface="Georgia" pitchFamily="34" charset="-120"/>
              </a:rPr>
              <a:t>for Automated Lumbosacral Transitional Vertebrae Detection</a:t>
            </a:r>
            <a:endParaRPr lang="en-US" sz="2700" dirty="0"/>
          </a:p>
        </p:txBody>
      </p:sp>
      <p:sp>
        <p:nvSpPr>
          <p:cNvPr id="9" name="Text 6"/>
          <p:cNvSpPr/>
          <p:nvPr/>
        </p:nvSpPr>
        <p:spPr>
          <a:xfrm>
            <a:off x="658368" y="4526280"/>
            <a:ext cx="10058400" cy="1097280"/>
          </a:xfrm>
          <a:prstGeom prst="rect">
            <a:avLst/>
          </a:prstGeom>
          <a:noFill/>
          <a:ln/>
        </p:spPr>
        <p:txBody>
          <a:bodyPr wrap="square" rtlCol="0" anchor="t"/>
          <a:lstStyle/>
          <a:p>
            <a:pPr marL="0" indent="0" algn="l">
              <a:lnSpc>
                <a:spcPts val="2200"/>
              </a:lnSpc>
              <a:buNone/>
            </a:pPr>
            <a:r>
              <a:rPr lang="en-US" sz="1700" b="1" dirty="0">
                <a:solidFill>
                  <a:srgbClr val="FFFFFF"/>
                </a:solidFill>
                <a:latin typeface="Arial" pitchFamily="34" charset="0"/>
                <a:ea typeface="Arial" pitchFamily="34" charset="-122"/>
                <a:cs typeface="Arial" pitchFamily="34" charset="-120"/>
              </a:rPr>
              <a:t>Gregory J. Schwing, MD, PhD</a:t>
            </a:r>
            <a:endParaRPr lang="en-US" sz="1700" dirty="0"/>
          </a:p>
          <a:p>
            <a:pPr marL="0" indent="0" algn="l">
              <a:lnSpc>
                <a:spcPts val="2200"/>
              </a:lnSpc>
              <a:buNone/>
            </a:pPr>
            <a:r>
              <a:rPr lang="en-US" sz="1350" dirty="0">
                <a:solidFill>
                  <a:srgbClr val="AEC2DA"/>
                </a:solidFill>
                <a:latin typeface="Arial" pitchFamily="34" charset="0"/>
                <a:ea typeface="Arial" pitchFamily="34" charset="-122"/>
                <a:cs typeface="Arial" pitchFamily="34" charset="-120"/>
              </a:rPr>
              <a:t>Department of Neurosurgery · Spine Imaging &amp; AI</a:t>
            </a:r>
            <a:endParaRPr lang="en-US" sz="1700" dirty="0"/>
          </a:p>
          <a:p>
            <a:pPr marL="0" indent="0" algn="l">
              <a:lnSpc>
                <a:spcPts val="2200"/>
              </a:lnSpc>
              <a:buNone/>
            </a:pPr>
            <a:r>
              <a:rPr lang="en-US" sz="1350" dirty="0">
                <a:solidFill>
                  <a:srgbClr val="AEC2DA"/>
                </a:solidFill>
                <a:latin typeface="Arial" pitchFamily="34" charset="0"/>
                <a:ea typeface="Arial" pitchFamily="34" charset="-122"/>
                <a:cs typeface="Arial" pitchFamily="34" charset="-120"/>
              </a:rPr>
              <a:t>Wayne State University School of Medicine  ·  NIH F30 Fellow</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THE CLINICAL PROBLEM</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When you can't count the vertebrae, you operate on the wrong one</a:t>
            </a:r>
            <a:endParaRPr lang="en-US" sz="3000" dirty="0"/>
          </a:p>
        </p:txBody>
      </p:sp>
      <p:sp>
        <p:nvSpPr>
          <p:cNvPr id="4" name="Shape 2"/>
          <p:cNvSpPr/>
          <p:nvPr/>
        </p:nvSpPr>
        <p:spPr>
          <a:xfrm>
            <a:off x="640080" y="1965960"/>
            <a:ext cx="3200400" cy="54864"/>
          </a:xfrm>
          <a:prstGeom prst="rect">
            <a:avLst/>
          </a:prstGeom>
          <a:solidFill>
            <a:srgbClr val="C9962E"/>
          </a:solidFill>
          <a:ln/>
        </p:spPr>
        <p:txBody>
          <a:bodyPr/>
          <a:lstStyle/>
          <a:p>
            <a:endParaRPr lang="en-US"/>
          </a:p>
        </p:txBody>
      </p:sp>
      <p:sp>
        <p:nvSpPr>
          <p:cNvPr id="5" name="Text 3"/>
          <p:cNvSpPr/>
          <p:nvPr/>
        </p:nvSpPr>
        <p:spPr>
          <a:xfrm>
            <a:off x="640080" y="2057400"/>
            <a:ext cx="3200400" cy="868680"/>
          </a:xfrm>
          <a:prstGeom prst="rect">
            <a:avLst/>
          </a:prstGeom>
          <a:noFill/>
          <a:ln/>
        </p:spPr>
        <p:txBody>
          <a:bodyPr wrap="square" lIns="0" tIns="0" rIns="0" bIns="0" rtlCol="0" anchor="ctr"/>
          <a:lstStyle/>
          <a:p>
            <a:pPr marL="0" indent="0" algn="l">
              <a:buNone/>
            </a:pPr>
            <a:r>
              <a:rPr lang="en-US" sz="4600" b="1" dirty="0">
                <a:solidFill>
                  <a:srgbClr val="0E5E6B"/>
                </a:solidFill>
                <a:latin typeface="Georgia" pitchFamily="34" charset="0"/>
                <a:ea typeface="Georgia" pitchFamily="34" charset="-122"/>
                <a:cs typeface="Georgia" pitchFamily="34" charset="-120"/>
              </a:rPr>
              <a:t>4–36%</a:t>
            </a:r>
            <a:endParaRPr lang="en-US" sz="4600" dirty="0"/>
          </a:p>
        </p:txBody>
      </p:sp>
      <p:sp>
        <p:nvSpPr>
          <p:cNvPr id="6" name="Text 4"/>
          <p:cNvSpPr/>
          <p:nvPr/>
        </p:nvSpPr>
        <p:spPr>
          <a:xfrm>
            <a:off x="640080" y="2971800"/>
            <a:ext cx="3200400" cy="1005840"/>
          </a:xfrm>
          <a:prstGeom prst="rect">
            <a:avLst/>
          </a:prstGeom>
          <a:noFill/>
          <a:ln/>
        </p:spPr>
        <p:txBody>
          <a:bodyPr wrap="square" rtlCol="0" anchor="t"/>
          <a:lstStyle/>
          <a:p>
            <a:pPr marL="0" indent="0" algn="l">
              <a:lnSpc>
                <a:spcPts val="1800"/>
              </a:lnSpc>
              <a:buNone/>
            </a:pPr>
            <a:r>
              <a:rPr lang="en-US" sz="1350" dirty="0">
                <a:solidFill>
                  <a:srgbClr val="5B6B7A"/>
                </a:solidFill>
                <a:latin typeface="Arial" pitchFamily="34" charset="0"/>
                <a:ea typeface="Arial" pitchFamily="34" charset="-122"/>
                <a:cs typeface="Arial" pitchFamily="34" charset="-120"/>
              </a:rPr>
              <a:t>Population prevalence of LSTV across imaging modalities</a:t>
            </a:r>
            <a:endParaRPr lang="en-US" sz="1350" dirty="0"/>
          </a:p>
        </p:txBody>
      </p:sp>
      <p:sp>
        <p:nvSpPr>
          <p:cNvPr id="7" name="Shape 5"/>
          <p:cNvSpPr/>
          <p:nvPr/>
        </p:nvSpPr>
        <p:spPr>
          <a:xfrm>
            <a:off x="4572000" y="1965960"/>
            <a:ext cx="3200400" cy="54864"/>
          </a:xfrm>
          <a:prstGeom prst="rect">
            <a:avLst/>
          </a:prstGeom>
          <a:solidFill>
            <a:srgbClr val="C9962E"/>
          </a:solidFill>
          <a:ln/>
        </p:spPr>
        <p:txBody>
          <a:bodyPr/>
          <a:lstStyle/>
          <a:p>
            <a:endParaRPr lang="en-US"/>
          </a:p>
        </p:txBody>
      </p:sp>
      <p:sp>
        <p:nvSpPr>
          <p:cNvPr id="8" name="Text 6"/>
          <p:cNvSpPr/>
          <p:nvPr/>
        </p:nvSpPr>
        <p:spPr>
          <a:xfrm>
            <a:off x="4572000" y="2057400"/>
            <a:ext cx="3200400" cy="868680"/>
          </a:xfrm>
          <a:prstGeom prst="rect">
            <a:avLst/>
          </a:prstGeom>
          <a:noFill/>
          <a:ln/>
        </p:spPr>
        <p:txBody>
          <a:bodyPr wrap="square" lIns="0" tIns="0" rIns="0" bIns="0" rtlCol="0" anchor="ctr"/>
          <a:lstStyle/>
          <a:p>
            <a:pPr marL="0" indent="0" algn="l">
              <a:buNone/>
            </a:pPr>
            <a:r>
              <a:rPr lang="en-US" sz="4600" b="1" dirty="0">
                <a:solidFill>
                  <a:srgbClr val="0E5E6B"/>
                </a:solidFill>
                <a:latin typeface="Georgia" pitchFamily="34" charset="0"/>
                <a:ea typeface="Georgia" pitchFamily="34" charset="-122"/>
                <a:cs typeface="Georgia" pitchFamily="34" charset="-120"/>
              </a:rPr>
              <a:t>~30%</a:t>
            </a:r>
            <a:endParaRPr lang="en-US" sz="4600" dirty="0"/>
          </a:p>
        </p:txBody>
      </p:sp>
      <p:sp>
        <p:nvSpPr>
          <p:cNvPr id="9" name="Text 7"/>
          <p:cNvSpPr/>
          <p:nvPr/>
        </p:nvSpPr>
        <p:spPr>
          <a:xfrm>
            <a:off x="4572000" y="2971800"/>
            <a:ext cx="3200400" cy="1005840"/>
          </a:xfrm>
          <a:prstGeom prst="rect">
            <a:avLst/>
          </a:prstGeom>
          <a:noFill/>
          <a:ln/>
        </p:spPr>
        <p:txBody>
          <a:bodyPr wrap="square" rtlCol="0" anchor="t"/>
          <a:lstStyle/>
          <a:p>
            <a:pPr marL="0" indent="0" algn="l">
              <a:lnSpc>
                <a:spcPts val="1800"/>
              </a:lnSpc>
              <a:buNone/>
            </a:pPr>
            <a:r>
              <a:rPr lang="en-US" sz="1350" dirty="0">
                <a:solidFill>
                  <a:srgbClr val="5B6B7A"/>
                </a:solidFill>
                <a:latin typeface="Arial" pitchFamily="34" charset="0"/>
                <a:ea typeface="Arial" pitchFamily="34" charset="-122"/>
                <a:cs typeface="Arial" pitchFamily="34" charset="-120"/>
              </a:rPr>
              <a:t>Of studies mis-number lumbar levels without whole-spine imaging</a:t>
            </a:r>
            <a:endParaRPr lang="en-US" sz="1350" dirty="0"/>
          </a:p>
        </p:txBody>
      </p:sp>
      <p:sp>
        <p:nvSpPr>
          <p:cNvPr id="10" name="Shape 8"/>
          <p:cNvSpPr/>
          <p:nvPr/>
        </p:nvSpPr>
        <p:spPr>
          <a:xfrm>
            <a:off x="8503920" y="1965960"/>
            <a:ext cx="3200400" cy="54864"/>
          </a:xfrm>
          <a:prstGeom prst="rect">
            <a:avLst/>
          </a:prstGeom>
          <a:solidFill>
            <a:srgbClr val="C9962E"/>
          </a:solidFill>
          <a:ln/>
        </p:spPr>
        <p:txBody>
          <a:bodyPr/>
          <a:lstStyle/>
          <a:p>
            <a:endParaRPr lang="en-US"/>
          </a:p>
        </p:txBody>
      </p:sp>
      <p:sp>
        <p:nvSpPr>
          <p:cNvPr id="11" name="Text 9"/>
          <p:cNvSpPr/>
          <p:nvPr/>
        </p:nvSpPr>
        <p:spPr>
          <a:xfrm>
            <a:off x="8503920" y="2057400"/>
            <a:ext cx="3200400" cy="868680"/>
          </a:xfrm>
          <a:prstGeom prst="rect">
            <a:avLst/>
          </a:prstGeom>
          <a:noFill/>
          <a:ln/>
        </p:spPr>
        <p:txBody>
          <a:bodyPr wrap="square" lIns="0" tIns="0" rIns="0" bIns="0" rtlCol="0" anchor="ctr"/>
          <a:lstStyle/>
          <a:p>
            <a:pPr marL="0" indent="0" algn="l">
              <a:buNone/>
            </a:pPr>
            <a:r>
              <a:rPr lang="en-US" sz="4600" b="1" dirty="0">
                <a:solidFill>
                  <a:srgbClr val="0E5E6B"/>
                </a:solidFill>
                <a:latin typeface="Georgia" pitchFamily="34" charset="0"/>
                <a:ea typeface="Georgia" pitchFamily="34" charset="-122"/>
                <a:cs typeface="Georgia" pitchFamily="34" charset="-120"/>
              </a:rPr>
              <a:t>4–8%</a:t>
            </a:r>
            <a:endParaRPr lang="en-US" sz="4600" dirty="0"/>
          </a:p>
        </p:txBody>
      </p:sp>
      <p:sp>
        <p:nvSpPr>
          <p:cNvPr id="12" name="Text 10"/>
          <p:cNvSpPr/>
          <p:nvPr/>
        </p:nvSpPr>
        <p:spPr>
          <a:xfrm>
            <a:off x="8503920" y="2971800"/>
            <a:ext cx="3200400" cy="1005840"/>
          </a:xfrm>
          <a:prstGeom prst="rect">
            <a:avLst/>
          </a:prstGeom>
          <a:noFill/>
          <a:ln/>
        </p:spPr>
        <p:txBody>
          <a:bodyPr wrap="square" rtlCol="0" anchor="t"/>
          <a:lstStyle/>
          <a:p>
            <a:pPr marL="0" indent="0" algn="l">
              <a:lnSpc>
                <a:spcPts val="1800"/>
              </a:lnSpc>
              <a:buNone/>
            </a:pPr>
            <a:r>
              <a:rPr lang="en-US" sz="1350" dirty="0">
                <a:solidFill>
                  <a:srgbClr val="5B6B7A"/>
                </a:solidFill>
                <a:latin typeface="Arial" pitchFamily="34" charset="0"/>
                <a:ea typeface="Arial" pitchFamily="34" charset="-122"/>
                <a:cs typeface="Arial" pitchFamily="34" charset="-120"/>
              </a:rPr>
              <a:t>Of low-back-pain patients carry symptomatic Bertolotti anatomy</a:t>
            </a:r>
            <a:endParaRPr lang="en-US" sz="1350" dirty="0"/>
          </a:p>
        </p:txBody>
      </p:sp>
      <p:sp>
        <p:nvSpPr>
          <p:cNvPr id="13" name="Text 11"/>
          <p:cNvSpPr/>
          <p:nvPr/>
        </p:nvSpPr>
        <p:spPr>
          <a:xfrm>
            <a:off x="640080" y="4343400"/>
            <a:ext cx="10881360" cy="365760"/>
          </a:xfrm>
          <a:prstGeom prst="rect">
            <a:avLst/>
          </a:prstGeom>
          <a:noFill/>
          <a:ln/>
        </p:spPr>
        <p:txBody>
          <a:bodyPr wrap="square" rtlCol="0" anchor="ctr"/>
          <a:lstStyle/>
          <a:p>
            <a:pPr marL="0" indent="0">
              <a:buNone/>
            </a:pPr>
            <a:r>
              <a:rPr lang="en-US" sz="1500" b="1" dirty="0">
                <a:solidFill>
                  <a:srgbClr val="051F43"/>
                </a:solidFill>
                <a:latin typeface="Arial" pitchFamily="34" charset="0"/>
                <a:ea typeface="Arial" pitchFamily="34" charset="-122"/>
                <a:cs typeface="Arial" pitchFamily="34" charset="-120"/>
              </a:rPr>
              <a:t>Why it matters in the operating room</a:t>
            </a:r>
            <a:endParaRPr lang="en-US" sz="1500" dirty="0"/>
          </a:p>
        </p:txBody>
      </p:sp>
      <p:sp>
        <p:nvSpPr>
          <p:cNvPr id="14" name="Text 12"/>
          <p:cNvSpPr/>
          <p:nvPr/>
        </p:nvSpPr>
        <p:spPr>
          <a:xfrm>
            <a:off x="640080" y="4709160"/>
            <a:ext cx="10881360" cy="1554480"/>
          </a:xfrm>
          <a:prstGeom prst="rect">
            <a:avLst/>
          </a:prstGeom>
          <a:noFill/>
          <a:ln/>
        </p:spPr>
        <p:txBody>
          <a:bodyPr wrap="square" rtlCol="0" anchor="t"/>
          <a:lstStyle/>
          <a:p>
            <a:pPr marL="177800" indent="-177800" algn="l">
              <a:lnSpc>
                <a:spcPts val="2100"/>
              </a:lnSpc>
              <a:buSzPct val="100000"/>
              <a:buChar char="–"/>
            </a:pPr>
            <a:r>
              <a:rPr lang="en-US" sz="1350" b="1" dirty="0">
                <a:solidFill>
                  <a:srgbClr val="1B2733"/>
                </a:solidFill>
                <a:latin typeface="Arial" pitchFamily="34" charset="0"/>
                <a:ea typeface="Arial" pitchFamily="34" charset="-122"/>
                <a:cs typeface="Arial" pitchFamily="34" charset="-120"/>
              </a:rPr>
              <a:t>Wrong-level surgery — </a:t>
            </a:r>
            <a:r>
              <a:rPr lang="en-US" sz="1350" dirty="0">
                <a:solidFill>
                  <a:srgbClr val="5B6B7A"/>
                </a:solidFill>
                <a:latin typeface="Arial" pitchFamily="34" charset="0"/>
                <a:ea typeface="Arial" pitchFamily="34" charset="-122"/>
                <a:cs typeface="Arial" pitchFamily="34" charset="-120"/>
              </a:rPr>
              <a:t>a transitional vertebra shifts every level count below it.</a:t>
            </a:r>
            <a:endParaRPr lang="en-US" sz="1350" dirty="0"/>
          </a:p>
          <a:p>
            <a:pPr marL="0" indent="0" algn="l">
              <a:lnSpc>
                <a:spcPts val="2100"/>
              </a:lnSpc>
              <a:buNone/>
            </a:pPr>
            <a:r>
              <a:rPr lang="en-US" sz="1350" b="1" dirty="0">
                <a:solidFill>
                  <a:srgbClr val="1B2733"/>
                </a:solidFill>
                <a:latin typeface="Arial" pitchFamily="34" charset="0"/>
                <a:ea typeface="Arial" pitchFamily="34" charset="-122"/>
                <a:cs typeface="Arial" pitchFamily="34" charset="-120"/>
              </a:rPr>
              <a:t>Distorted surgical anatomy — </a:t>
            </a:r>
            <a:r>
              <a:rPr lang="en-US" sz="1350" dirty="0">
                <a:solidFill>
                  <a:srgbClr val="5B6B7A"/>
                </a:solidFill>
                <a:latin typeface="Arial" pitchFamily="34" charset="0"/>
                <a:ea typeface="Arial" pitchFamily="34" charset="-122"/>
                <a:cs typeface="Arial" pitchFamily="34" charset="-120"/>
              </a:rPr>
              <a:t>pedicle screw trajectories, fluoroscopic counting, and neuromonitoring all assume normal segmentation.</a:t>
            </a:r>
            <a:endParaRPr lang="en-US" sz="1350" dirty="0"/>
          </a:p>
          <a:p>
            <a:pPr marL="0" indent="0" algn="l">
              <a:lnSpc>
                <a:spcPts val="2100"/>
              </a:lnSpc>
              <a:buNone/>
            </a:pPr>
            <a:r>
              <a:rPr lang="en-US" sz="1350" b="1" dirty="0">
                <a:solidFill>
                  <a:srgbClr val="1B2733"/>
                </a:solidFill>
                <a:latin typeface="Arial" pitchFamily="34" charset="0"/>
                <a:ea typeface="Arial" pitchFamily="34" charset="-122"/>
                <a:cs typeface="Arial" pitchFamily="34" charset="-120"/>
              </a:rPr>
              <a:t>Altered biomechanics — </a:t>
            </a:r>
            <a:r>
              <a:rPr lang="en-US" sz="1350" dirty="0">
                <a:solidFill>
                  <a:srgbClr val="5B6B7A"/>
                </a:solidFill>
                <a:latin typeface="Arial" pitchFamily="34" charset="0"/>
                <a:ea typeface="Arial" pitchFamily="34" charset="-122"/>
                <a:cs typeface="Arial" pitchFamily="34" charset="-120"/>
              </a:rPr>
              <a:t>a fulcrum shift accelerates degeneration at the mobile level above the transitional vertebra.</a:t>
            </a:r>
            <a:endParaRPr lang="en-US" sz="1350" dirty="0"/>
          </a:p>
        </p:txBody>
      </p:sp>
      <p:sp>
        <p:nvSpPr>
          <p:cNvPr id="15" name="Shape 13"/>
          <p:cNvSpPr/>
          <p:nvPr/>
        </p:nvSpPr>
        <p:spPr>
          <a:xfrm rot="-240000">
            <a:off x="-548640" y="6400800"/>
            <a:ext cx="6035040" cy="822960"/>
          </a:xfrm>
          <a:prstGeom prst="rect">
            <a:avLst/>
          </a:prstGeom>
          <a:solidFill>
            <a:srgbClr val="DDE2E8"/>
          </a:solidFill>
          <a:ln/>
        </p:spPr>
        <p:txBody>
          <a:bodyPr/>
          <a:lstStyle/>
          <a:p>
            <a:endParaRPr lang="en-US"/>
          </a:p>
        </p:txBody>
      </p:sp>
      <p:sp>
        <p:nvSpPr>
          <p:cNvPr id="16" name="Shape 14"/>
          <p:cNvSpPr/>
          <p:nvPr/>
        </p:nvSpPr>
        <p:spPr>
          <a:xfrm rot="-240000">
            <a:off x="-548640" y="6565392"/>
            <a:ext cx="4937760" cy="274320"/>
          </a:xfrm>
          <a:prstGeom prst="rect">
            <a:avLst/>
          </a:prstGeom>
          <a:solidFill>
            <a:srgbClr val="051F43"/>
          </a:solidFill>
          <a:ln/>
        </p:spPr>
        <p:txBody>
          <a:bodyPr/>
          <a:lstStyle/>
          <a:p>
            <a:endParaRPr lang="en-US"/>
          </a:p>
        </p:txBody>
      </p:sp>
      <p:sp>
        <p:nvSpPr>
          <p:cNvPr id="17" name="Shape 15"/>
          <p:cNvSpPr/>
          <p:nvPr/>
        </p:nvSpPr>
        <p:spPr>
          <a:xfrm rot="-240000">
            <a:off x="-548640" y="6675120"/>
            <a:ext cx="3840480" cy="109728"/>
          </a:xfrm>
          <a:prstGeom prst="rect">
            <a:avLst/>
          </a:prstGeom>
          <a:solidFill>
            <a:srgbClr val="C9962E"/>
          </a:solidFill>
          <a:ln/>
        </p:spPr>
        <p:txBody>
          <a:bodyPr/>
          <a:lstStyle/>
          <a:p>
            <a:endParaRPr lang="en-US"/>
          </a:p>
        </p:txBody>
      </p:sp>
      <p:pic>
        <p:nvPicPr>
          <p:cNvPr id="18" name="Image 0" descr="assets/seal.png"/>
          <p:cNvPicPr>
            <a:picLocks noChangeAspect="1"/>
          </p:cNvPicPr>
          <p:nvPr/>
        </p:nvPicPr>
        <p:blipFill>
          <a:blip r:embed="rId3"/>
          <a:stretch>
            <a:fillRect/>
          </a:stretch>
        </p:blipFill>
        <p:spPr>
          <a:xfrm>
            <a:off x="11475720" y="6053328"/>
            <a:ext cx="658368" cy="6583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1F43"/>
        </a:solidFill>
        <a:effectLst/>
      </p:bgPr>
    </p:bg>
    <p:spTree>
      <p:nvGrpSpPr>
        <p:cNvPr id="1" name=""/>
        <p:cNvGrpSpPr/>
        <p:nvPr/>
      </p:nvGrpSpPr>
      <p:grpSpPr>
        <a:xfrm>
          <a:off x="0" y="0"/>
          <a:ext cx="0" cy="0"/>
          <a:chOff x="0" y="0"/>
          <a:chExt cx="0" cy="0"/>
        </a:xfrm>
      </p:grpSpPr>
      <p:sp>
        <p:nvSpPr>
          <p:cNvPr id="2" name="Text 0"/>
          <p:cNvSpPr/>
          <p:nvPr/>
        </p:nvSpPr>
        <p:spPr>
          <a:xfrm>
            <a:off x="640080" y="640080"/>
            <a:ext cx="8229600" cy="274320"/>
          </a:xfrm>
          <a:prstGeom prst="rect">
            <a:avLst/>
          </a:prstGeom>
          <a:noFill/>
          <a:ln/>
        </p:spPr>
        <p:txBody>
          <a:bodyPr wrap="square" rtlCol="0" anchor="ctr"/>
          <a:lstStyle/>
          <a:p>
            <a:pPr marL="0" indent="0">
              <a:buNone/>
            </a:pPr>
            <a:r>
              <a:rPr lang="en-US" sz="1200" b="1" kern="0" spc="300" dirty="0">
                <a:solidFill>
                  <a:srgbClr val="C9962E"/>
                </a:solidFill>
                <a:latin typeface="Arial" pitchFamily="34" charset="0"/>
                <a:ea typeface="Arial" pitchFamily="34" charset="-122"/>
                <a:cs typeface="Arial" pitchFamily="34" charset="-120"/>
              </a:rPr>
              <a:t>THE CENTRAL IDEA</a:t>
            </a:r>
            <a:endParaRPr lang="en-US" sz="1200" dirty="0"/>
          </a:p>
        </p:txBody>
      </p:sp>
      <p:sp>
        <p:nvSpPr>
          <p:cNvPr id="3" name="Text 1"/>
          <p:cNvSpPr/>
          <p:nvPr/>
        </p:nvSpPr>
        <p:spPr>
          <a:xfrm>
            <a:off x="640080" y="1051560"/>
            <a:ext cx="10972800" cy="1463040"/>
          </a:xfrm>
          <a:prstGeom prst="rect">
            <a:avLst/>
          </a:prstGeom>
          <a:noFill/>
          <a:ln/>
        </p:spPr>
        <p:txBody>
          <a:bodyPr wrap="square" rtlCol="0" anchor="t"/>
          <a:lstStyle/>
          <a:p>
            <a:pPr marL="0" indent="0" algn="l">
              <a:lnSpc>
                <a:spcPts val="4000"/>
              </a:lnSpc>
              <a:buNone/>
            </a:pPr>
            <a:r>
              <a:rPr lang="en-US" sz="3300" b="1" dirty="0">
                <a:solidFill>
                  <a:srgbClr val="FFFFFF"/>
                </a:solidFill>
                <a:latin typeface="Georgia" pitchFamily="34" charset="0"/>
                <a:ea typeface="Georgia" pitchFamily="34" charset="-122"/>
                <a:cs typeface="Georgia" pitchFamily="34" charset="-120"/>
              </a:rPr>
              <a:t>Two AI segmentation models trained on normal spines will </a:t>
            </a:r>
            <a:r>
              <a:rPr lang="en-US" sz="3300" b="1" i="1" dirty="0">
                <a:solidFill>
                  <a:srgbClr val="E7C77A"/>
                </a:solidFill>
                <a:latin typeface="Georgia" pitchFamily="34" charset="0"/>
                <a:ea typeface="Georgia" pitchFamily="34" charset="-122"/>
                <a:cs typeface="Georgia" pitchFamily="34" charset="-120"/>
              </a:rPr>
              <a:t>disagree</a:t>
            </a:r>
            <a:r>
              <a:rPr lang="en-US" sz="3300" b="1" dirty="0">
                <a:solidFill>
                  <a:srgbClr val="FFFFFF"/>
                </a:solidFill>
                <a:latin typeface="Georgia" pitchFamily="34" charset="0"/>
                <a:ea typeface="Georgia" pitchFamily="34" charset="-122"/>
                <a:cs typeface="Georgia" pitchFamily="34" charset="-120"/>
              </a:rPr>
              <a:t> precisely where the anatomy is abnormal.</a:t>
            </a:r>
            <a:endParaRPr lang="en-US" sz="3300" dirty="0"/>
          </a:p>
        </p:txBody>
      </p:sp>
      <p:sp>
        <p:nvSpPr>
          <p:cNvPr id="4" name="Text 2"/>
          <p:cNvSpPr/>
          <p:nvPr/>
        </p:nvSpPr>
        <p:spPr>
          <a:xfrm>
            <a:off x="640080" y="2697480"/>
            <a:ext cx="10789920" cy="548640"/>
          </a:xfrm>
          <a:prstGeom prst="rect">
            <a:avLst/>
          </a:prstGeom>
          <a:noFill/>
          <a:ln/>
        </p:spPr>
        <p:txBody>
          <a:bodyPr wrap="square" rtlCol="0" anchor="ctr"/>
          <a:lstStyle/>
          <a:p>
            <a:pPr marL="0" indent="0">
              <a:buNone/>
            </a:pPr>
            <a:r>
              <a:rPr lang="en-US" sz="1800" i="1" dirty="0">
                <a:solidFill>
                  <a:srgbClr val="AEC2DA"/>
                </a:solidFill>
                <a:latin typeface="Georgia" pitchFamily="34" charset="0"/>
                <a:ea typeface="Georgia" pitchFamily="34" charset="-122"/>
                <a:cs typeface="Georgia" pitchFamily="34" charset="-120"/>
              </a:rPr>
              <a:t>That disagreement is not noise to be averaged away — it is the diagnostic signal.</a:t>
            </a:r>
            <a:endParaRPr lang="en-US" sz="1800" dirty="0"/>
          </a:p>
        </p:txBody>
      </p:sp>
      <p:sp>
        <p:nvSpPr>
          <p:cNvPr id="5" name="Shape 3"/>
          <p:cNvSpPr/>
          <p:nvPr/>
        </p:nvSpPr>
        <p:spPr>
          <a:xfrm>
            <a:off x="640080" y="3657600"/>
            <a:ext cx="3429000" cy="2148840"/>
          </a:xfrm>
          <a:prstGeom prst="rect">
            <a:avLst/>
          </a:prstGeom>
          <a:solidFill>
            <a:srgbClr val="0C2A52"/>
          </a:solidFill>
          <a:ln w="12700">
            <a:solidFill>
              <a:srgbClr val="C9962E"/>
            </a:solidFill>
            <a:prstDash val="solid"/>
          </a:ln>
        </p:spPr>
        <p:txBody>
          <a:bodyPr/>
          <a:lstStyle/>
          <a:p>
            <a:endParaRPr lang="en-US"/>
          </a:p>
        </p:txBody>
      </p:sp>
      <p:sp>
        <p:nvSpPr>
          <p:cNvPr id="6" name="Text 4"/>
          <p:cNvSpPr/>
          <p:nvPr/>
        </p:nvSpPr>
        <p:spPr>
          <a:xfrm>
            <a:off x="804672" y="3822192"/>
            <a:ext cx="731520" cy="731520"/>
          </a:xfrm>
          <a:prstGeom prst="rect">
            <a:avLst/>
          </a:prstGeom>
          <a:noFill/>
          <a:ln/>
        </p:spPr>
        <p:txBody>
          <a:bodyPr wrap="square" lIns="0" tIns="0" rIns="0" bIns="0" rtlCol="0" anchor="ctr"/>
          <a:lstStyle/>
          <a:p>
            <a:pPr marL="0" indent="0" algn="l">
              <a:buNone/>
            </a:pPr>
            <a:r>
              <a:rPr lang="en-US" sz="4000" b="1" dirty="0">
                <a:solidFill>
                  <a:srgbClr val="C9962E"/>
                </a:solidFill>
                <a:latin typeface="Georgia" pitchFamily="34" charset="0"/>
                <a:ea typeface="Georgia" pitchFamily="34" charset="-122"/>
                <a:cs typeface="Georgia" pitchFamily="34" charset="-120"/>
              </a:rPr>
              <a:t>1</a:t>
            </a:r>
            <a:endParaRPr lang="en-US" sz="4000" dirty="0"/>
          </a:p>
        </p:txBody>
      </p:sp>
      <p:sp>
        <p:nvSpPr>
          <p:cNvPr id="7" name="Text 5"/>
          <p:cNvSpPr/>
          <p:nvPr/>
        </p:nvSpPr>
        <p:spPr>
          <a:xfrm>
            <a:off x="868680" y="4572000"/>
            <a:ext cx="3017520" cy="411480"/>
          </a:xfrm>
          <a:prstGeom prst="rect">
            <a:avLst/>
          </a:prstGeom>
          <a:noFill/>
          <a:ln/>
        </p:spPr>
        <p:txBody>
          <a:bodyPr wrap="square" rtlCol="0" anchor="ctr"/>
          <a:lstStyle/>
          <a:p>
            <a:pPr marL="0" indent="0" algn="l">
              <a:buNone/>
            </a:pPr>
            <a:r>
              <a:rPr lang="en-US" sz="1550" b="1" dirty="0">
                <a:solidFill>
                  <a:srgbClr val="FFFFFF"/>
                </a:solidFill>
                <a:latin typeface="Arial" pitchFamily="34" charset="0"/>
                <a:ea typeface="Arial" pitchFamily="34" charset="-122"/>
                <a:cs typeface="Arial" pitchFamily="34" charset="-120"/>
              </a:rPr>
              <a:t>Segment independently</a:t>
            </a:r>
            <a:endParaRPr lang="en-US" sz="1550" dirty="0"/>
          </a:p>
        </p:txBody>
      </p:sp>
      <p:sp>
        <p:nvSpPr>
          <p:cNvPr id="8" name="Text 6"/>
          <p:cNvSpPr/>
          <p:nvPr/>
        </p:nvSpPr>
        <p:spPr>
          <a:xfrm>
            <a:off x="868680" y="4983480"/>
            <a:ext cx="3017520" cy="777240"/>
          </a:xfrm>
          <a:prstGeom prst="rect">
            <a:avLst/>
          </a:prstGeom>
          <a:noFill/>
          <a:ln/>
        </p:spPr>
        <p:txBody>
          <a:bodyPr wrap="square" rtlCol="0" anchor="t"/>
          <a:lstStyle/>
          <a:p>
            <a:pPr marL="0" indent="0" algn="l">
              <a:lnSpc>
                <a:spcPts val="1700"/>
              </a:lnSpc>
              <a:buNone/>
            </a:pPr>
            <a:r>
              <a:rPr lang="en-US" sz="1250" dirty="0">
                <a:solidFill>
                  <a:srgbClr val="AEC2DA"/>
                </a:solidFill>
                <a:latin typeface="Arial" pitchFamily="34" charset="0"/>
                <a:ea typeface="Arial" pitchFamily="34" charset="-122"/>
                <a:cs typeface="Arial" pitchFamily="34" charset="-120"/>
              </a:rPr>
              <a:t>Run two whole-spine models that each assign a level identity to every lumbar vertebra.</a:t>
            </a:r>
            <a:endParaRPr lang="en-US" sz="1250" dirty="0"/>
          </a:p>
        </p:txBody>
      </p:sp>
      <p:pic>
        <p:nvPicPr>
          <p:cNvPr id="9" name="Image 0" descr="assets/arrow.png"/>
          <p:cNvPicPr>
            <a:picLocks noChangeAspect="1"/>
          </p:cNvPicPr>
          <p:nvPr/>
        </p:nvPicPr>
        <p:blipFill>
          <a:blip r:embed="rId3"/>
          <a:stretch>
            <a:fillRect/>
          </a:stretch>
        </p:blipFill>
        <p:spPr>
          <a:xfrm>
            <a:off x="4133088" y="4572000"/>
            <a:ext cx="292608" cy="292608"/>
          </a:xfrm>
          <a:prstGeom prst="rect">
            <a:avLst/>
          </a:prstGeom>
        </p:spPr>
      </p:pic>
      <p:sp>
        <p:nvSpPr>
          <p:cNvPr id="10" name="Shape 7"/>
          <p:cNvSpPr/>
          <p:nvPr/>
        </p:nvSpPr>
        <p:spPr>
          <a:xfrm>
            <a:off x="4343400" y="3657600"/>
            <a:ext cx="3429000" cy="2148840"/>
          </a:xfrm>
          <a:prstGeom prst="rect">
            <a:avLst/>
          </a:prstGeom>
          <a:solidFill>
            <a:srgbClr val="0C2A52"/>
          </a:solidFill>
          <a:ln w="12700">
            <a:solidFill>
              <a:srgbClr val="C9962E"/>
            </a:solidFill>
            <a:prstDash val="solid"/>
          </a:ln>
        </p:spPr>
        <p:txBody>
          <a:bodyPr/>
          <a:lstStyle/>
          <a:p>
            <a:endParaRPr lang="en-US"/>
          </a:p>
        </p:txBody>
      </p:sp>
      <p:sp>
        <p:nvSpPr>
          <p:cNvPr id="11" name="Text 8"/>
          <p:cNvSpPr/>
          <p:nvPr/>
        </p:nvSpPr>
        <p:spPr>
          <a:xfrm>
            <a:off x="4507992" y="3822192"/>
            <a:ext cx="731520" cy="731520"/>
          </a:xfrm>
          <a:prstGeom prst="rect">
            <a:avLst/>
          </a:prstGeom>
          <a:noFill/>
          <a:ln/>
        </p:spPr>
        <p:txBody>
          <a:bodyPr wrap="square" lIns="0" tIns="0" rIns="0" bIns="0" rtlCol="0" anchor="ctr"/>
          <a:lstStyle/>
          <a:p>
            <a:pPr marL="0" indent="0" algn="l">
              <a:buNone/>
            </a:pPr>
            <a:r>
              <a:rPr lang="en-US" sz="4000" b="1" dirty="0">
                <a:solidFill>
                  <a:srgbClr val="C9962E"/>
                </a:solidFill>
                <a:latin typeface="Georgia" pitchFamily="34" charset="0"/>
                <a:ea typeface="Georgia" pitchFamily="34" charset="-122"/>
                <a:cs typeface="Georgia" pitchFamily="34" charset="-120"/>
              </a:rPr>
              <a:t>2</a:t>
            </a:r>
            <a:endParaRPr lang="en-US" sz="4000" dirty="0"/>
          </a:p>
        </p:txBody>
      </p:sp>
      <p:sp>
        <p:nvSpPr>
          <p:cNvPr id="12" name="Text 9"/>
          <p:cNvSpPr/>
          <p:nvPr/>
        </p:nvSpPr>
        <p:spPr>
          <a:xfrm>
            <a:off x="4572000" y="4572000"/>
            <a:ext cx="3017520" cy="411480"/>
          </a:xfrm>
          <a:prstGeom prst="rect">
            <a:avLst/>
          </a:prstGeom>
          <a:noFill/>
          <a:ln/>
        </p:spPr>
        <p:txBody>
          <a:bodyPr wrap="square" rtlCol="0" anchor="ctr"/>
          <a:lstStyle/>
          <a:p>
            <a:pPr marL="0" indent="0" algn="l">
              <a:buNone/>
            </a:pPr>
            <a:r>
              <a:rPr lang="en-US" sz="1550" b="1" dirty="0">
                <a:solidFill>
                  <a:srgbClr val="FFFFFF"/>
                </a:solidFill>
                <a:latin typeface="Arial" pitchFamily="34" charset="0"/>
                <a:ea typeface="Arial" pitchFamily="34" charset="-122"/>
                <a:cs typeface="Arial" pitchFamily="34" charset="-120"/>
              </a:rPr>
              <a:t>Measure the offset</a:t>
            </a:r>
            <a:endParaRPr lang="en-US" sz="1550" dirty="0"/>
          </a:p>
        </p:txBody>
      </p:sp>
      <p:sp>
        <p:nvSpPr>
          <p:cNvPr id="13" name="Text 10"/>
          <p:cNvSpPr/>
          <p:nvPr/>
        </p:nvSpPr>
        <p:spPr>
          <a:xfrm>
            <a:off x="4572000" y="4983480"/>
            <a:ext cx="3017520" cy="777240"/>
          </a:xfrm>
          <a:prstGeom prst="rect">
            <a:avLst/>
          </a:prstGeom>
          <a:noFill/>
          <a:ln/>
        </p:spPr>
        <p:txBody>
          <a:bodyPr wrap="square" rtlCol="0" anchor="t"/>
          <a:lstStyle/>
          <a:p>
            <a:pPr marL="0" indent="0" algn="l">
              <a:lnSpc>
                <a:spcPts val="1700"/>
              </a:lnSpc>
              <a:buNone/>
            </a:pPr>
            <a:r>
              <a:rPr lang="en-US" sz="1250" dirty="0">
                <a:solidFill>
                  <a:srgbClr val="AEC2DA"/>
                </a:solidFill>
                <a:latin typeface="Arial" pitchFamily="34" charset="0"/>
                <a:ea typeface="Arial" pitchFamily="34" charset="-122"/>
                <a:cs typeface="Arial" pitchFamily="34" charset="-120"/>
              </a:rPr>
              <a:t>Quantify how far their level labelling shifts — a Dice-based integer offset between the two.</a:t>
            </a:r>
            <a:endParaRPr lang="en-US" sz="1250" dirty="0"/>
          </a:p>
        </p:txBody>
      </p:sp>
      <p:pic>
        <p:nvPicPr>
          <p:cNvPr id="14" name="Image 1" descr="assets/arrow.png"/>
          <p:cNvPicPr>
            <a:picLocks noChangeAspect="1"/>
          </p:cNvPicPr>
          <p:nvPr/>
        </p:nvPicPr>
        <p:blipFill>
          <a:blip r:embed="rId3"/>
          <a:stretch>
            <a:fillRect/>
          </a:stretch>
        </p:blipFill>
        <p:spPr>
          <a:xfrm>
            <a:off x="7836408" y="4572000"/>
            <a:ext cx="292608" cy="292608"/>
          </a:xfrm>
          <a:prstGeom prst="rect">
            <a:avLst/>
          </a:prstGeom>
        </p:spPr>
      </p:pic>
      <p:sp>
        <p:nvSpPr>
          <p:cNvPr id="15" name="Shape 11"/>
          <p:cNvSpPr/>
          <p:nvPr/>
        </p:nvSpPr>
        <p:spPr>
          <a:xfrm>
            <a:off x="8046720" y="3657600"/>
            <a:ext cx="3429000" cy="2148840"/>
          </a:xfrm>
          <a:prstGeom prst="rect">
            <a:avLst/>
          </a:prstGeom>
          <a:solidFill>
            <a:srgbClr val="0C2A52"/>
          </a:solidFill>
          <a:ln w="12700">
            <a:solidFill>
              <a:srgbClr val="C9962E"/>
            </a:solidFill>
            <a:prstDash val="solid"/>
          </a:ln>
        </p:spPr>
        <p:txBody>
          <a:bodyPr/>
          <a:lstStyle/>
          <a:p>
            <a:endParaRPr lang="en-US"/>
          </a:p>
        </p:txBody>
      </p:sp>
      <p:sp>
        <p:nvSpPr>
          <p:cNvPr id="16" name="Text 12"/>
          <p:cNvSpPr/>
          <p:nvPr/>
        </p:nvSpPr>
        <p:spPr>
          <a:xfrm>
            <a:off x="8211312" y="3822192"/>
            <a:ext cx="731520" cy="731520"/>
          </a:xfrm>
          <a:prstGeom prst="rect">
            <a:avLst/>
          </a:prstGeom>
          <a:noFill/>
          <a:ln/>
        </p:spPr>
        <p:txBody>
          <a:bodyPr wrap="square" lIns="0" tIns="0" rIns="0" bIns="0" rtlCol="0" anchor="ctr"/>
          <a:lstStyle/>
          <a:p>
            <a:pPr marL="0" indent="0" algn="l">
              <a:buNone/>
            </a:pPr>
            <a:r>
              <a:rPr lang="en-US" sz="4000" b="1" dirty="0">
                <a:solidFill>
                  <a:srgbClr val="C9962E"/>
                </a:solidFill>
                <a:latin typeface="Georgia" pitchFamily="34" charset="0"/>
                <a:ea typeface="Georgia" pitchFamily="34" charset="-122"/>
                <a:cs typeface="Georgia" pitchFamily="34" charset="-120"/>
              </a:rPr>
              <a:t>3</a:t>
            </a:r>
            <a:endParaRPr lang="en-US" sz="4000" dirty="0"/>
          </a:p>
        </p:txBody>
      </p:sp>
      <p:sp>
        <p:nvSpPr>
          <p:cNvPr id="17" name="Text 13"/>
          <p:cNvSpPr/>
          <p:nvPr/>
        </p:nvSpPr>
        <p:spPr>
          <a:xfrm>
            <a:off x="8275320" y="4572000"/>
            <a:ext cx="3017520" cy="411480"/>
          </a:xfrm>
          <a:prstGeom prst="rect">
            <a:avLst/>
          </a:prstGeom>
          <a:noFill/>
          <a:ln/>
        </p:spPr>
        <p:txBody>
          <a:bodyPr wrap="square" rtlCol="0" anchor="ctr"/>
          <a:lstStyle/>
          <a:p>
            <a:pPr marL="0" indent="0" algn="l">
              <a:buNone/>
            </a:pPr>
            <a:r>
              <a:rPr lang="en-US" sz="1550" b="1" dirty="0">
                <a:solidFill>
                  <a:srgbClr val="FFFFFF"/>
                </a:solidFill>
                <a:latin typeface="Arial" pitchFamily="34" charset="0"/>
                <a:ea typeface="Arial" pitchFamily="34" charset="-122"/>
                <a:cs typeface="Arial" pitchFamily="34" charset="-120"/>
              </a:rPr>
              <a:t>Read the phenotype</a:t>
            </a:r>
            <a:endParaRPr lang="en-US" sz="1550" dirty="0"/>
          </a:p>
        </p:txBody>
      </p:sp>
      <p:sp>
        <p:nvSpPr>
          <p:cNvPr id="18" name="Text 14"/>
          <p:cNvSpPr/>
          <p:nvPr/>
        </p:nvSpPr>
        <p:spPr>
          <a:xfrm>
            <a:off x="8275320" y="4983480"/>
            <a:ext cx="3017520" cy="777240"/>
          </a:xfrm>
          <a:prstGeom prst="rect">
            <a:avLst/>
          </a:prstGeom>
          <a:noFill/>
          <a:ln/>
        </p:spPr>
        <p:txBody>
          <a:bodyPr wrap="square" rtlCol="0" anchor="t"/>
          <a:lstStyle/>
          <a:p>
            <a:pPr marL="0" indent="0" algn="l">
              <a:lnSpc>
                <a:spcPts val="1700"/>
              </a:lnSpc>
              <a:buNone/>
            </a:pPr>
            <a:r>
              <a:rPr lang="en-US" sz="1250" dirty="0">
                <a:solidFill>
                  <a:srgbClr val="AEC2DA"/>
                </a:solidFill>
                <a:latin typeface="Arial" pitchFamily="34" charset="0"/>
                <a:ea typeface="Arial" pitchFamily="34" charset="-122"/>
                <a:cs typeface="Arial" pitchFamily="34" charset="-120"/>
              </a:rPr>
              <a:t>The direction and size of the offset maps directly to sacralization or lumbarization.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SYSTEM ARCHITECTURE</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A three-model deep-learning ensemble</a:t>
            </a:r>
            <a:endParaRPr lang="en-US" sz="3000" dirty="0"/>
          </a:p>
        </p:txBody>
      </p:sp>
      <p:sp>
        <p:nvSpPr>
          <p:cNvPr id="4" name="Shape 2"/>
          <p:cNvSpPr/>
          <p:nvPr/>
        </p:nvSpPr>
        <p:spPr>
          <a:xfrm>
            <a:off x="640080" y="1965960"/>
            <a:ext cx="3429000" cy="4023360"/>
          </a:xfrm>
          <a:prstGeom prst="rect">
            <a:avLst/>
          </a:prstGeom>
          <a:solidFill>
            <a:srgbClr val="EEF1F4"/>
          </a:solidFill>
          <a:ln w="12700">
            <a:solidFill>
              <a:srgbClr val="DDE2E8"/>
            </a:solidFill>
            <a:prstDash val="solid"/>
          </a:ln>
        </p:spPr>
        <p:txBody>
          <a:bodyPr/>
          <a:lstStyle/>
          <a:p>
            <a:endParaRPr lang="en-US"/>
          </a:p>
        </p:txBody>
      </p:sp>
      <p:sp>
        <p:nvSpPr>
          <p:cNvPr id="5" name="Shape 3"/>
          <p:cNvSpPr/>
          <p:nvPr/>
        </p:nvSpPr>
        <p:spPr>
          <a:xfrm>
            <a:off x="640080" y="1965960"/>
            <a:ext cx="3429000" cy="1051560"/>
          </a:xfrm>
          <a:prstGeom prst="rect">
            <a:avLst/>
          </a:prstGeom>
          <a:solidFill>
            <a:srgbClr val="051F43"/>
          </a:solidFill>
          <a:ln/>
        </p:spPr>
        <p:txBody>
          <a:bodyPr/>
          <a:lstStyle/>
          <a:p>
            <a:endParaRPr lang="en-US"/>
          </a:p>
        </p:txBody>
      </p:sp>
      <p:pic>
        <p:nvPicPr>
          <p:cNvPr id="6" name="Image 0" descr="assets/cubes_w.png"/>
          <p:cNvPicPr>
            <a:picLocks noChangeAspect="1"/>
          </p:cNvPicPr>
          <p:nvPr/>
        </p:nvPicPr>
        <p:blipFill>
          <a:blip r:embed="rId3"/>
          <a:stretch>
            <a:fillRect/>
          </a:stretch>
        </p:blipFill>
        <p:spPr>
          <a:xfrm>
            <a:off x="896112" y="2240280"/>
            <a:ext cx="502920" cy="502920"/>
          </a:xfrm>
          <a:prstGeom prst="rect">
            <a:avLst/>
          </a:prstGeom>
        </p:spPr>
      </p:pic>
      <p:sp>
        <p:nvSpPr>
          <p:cNvPr id="7" name="Text 4"/>
          <p:cNvSpPr/>
          <p:nvPr/>
        </p:nvSpPr>
        <p:spPr>
          <a:xfrm>
            <a:off x="1508760" y="2194560"/>
            <a:ext cx="2468880" cy="640080"/>
          </a:xfrm>
          <a:prstGeom prst="rect">
            <a:avLst/>
          </a:prstGeom>
          <a:noFill/>
          <a:ln/>
        </p:spPr>
        <p:txBody>
          <a:bodyPr wrap="square" lIns="0" tIns="0" rIns="0" bIns="0" rtlCol="0" anchor="ctr"/>
          <a:lstStyle/>
          <a:p>
            <a:pPr marL="0" indent="0" algn="l">
              <a:lnSpc>
                <a:spcPts val="1600"/>
              </a:lnSpc>
              <a:buNone/>
            </a:pPr>
            <a:r>
              <a:rPr lang="en-US" sz="1550" b="1" dirty="0">
                <a:solidFill>
                  <a:srgbClr val="FFFFFF"/>
                </a:solidFill>
                <a:latin typeface="Arial" pitchFamily="34" charset="0"/>
                <a:ea typeface="Arial" pitchFamily="34" charset="-122"/>
                <a:cs typeface="Arial" pitchFamily="34" charset="-120"/>
              </a:rPr>
              <a:t>TotalSpineSeg</a:t>
            </a:r>
            <a:endParaRPr lang="en-US" sz="1550" dirty="0"/>
          </a:p>
        </p:txBody>
      </p:sp>
      <p:sp>
        <p:nvSpPr>
          <p:cNvPr id="8" name="Text 5"/>
          <p:cNvSpPr/>
          <p:nvPr/>
        </p:nvSpPr>
        <p:spPr>
          <a:xfrm>
            <a:off x="896112" y="3154680"/>
            <a:ext cx="2926080" cy="548640"/>
          </a:xfrm>
          <a:prstGeom prst="rect">
            <a:avLst/>
          </a:prstGeom>
          <a:noFill/>
          <a:ln/>
        </p:spPr>
        <p:txBody>
          <a:bodyPr wrap="square" rtlCol="0" anchor="t"/>
          <a:lstStyle/>
          <a:p>
            <a:pPr marL="0" indent="0" algn="l">
              <a:lnSpc>
                <a:spcPts val="1600"/>
              </a:lnSpc>
              <a:buNone/>
            </a:pPr>
            <a:r>
              <a:rPr lang="en-US" sz="1350" b="1" dirty="0">
                <a:solidFill>
                  <a:srgbClr val="0E5E6B"/>
                </a:solidFill>
                <a:latin typeface="Arial" pitchFamily="34" charset="0"/>
                <a:ea typeface="Arial" pitchFamily="34" charset="-122"/>
                <a:cs typeface="Arial" pitchFamily="34" charset="-120"/>
              </a:rPr>
              <a:t>Vertebral level ground-truth</a:t>
            </a:r>
            <a:endParaRPr lang="en-US" sz="1350" dirty="0"/>
          </a:p>
        </p:txBody>
      </p:sp>
      <p:sp>
        <p:nvSpPr>
          <p:cNvPr id="9" name="Text 6"/>
          <p:cNvSpPr/>
          <p:nvPr/>
        </p:nvSpPr>
        <p:spPr>
          <a:xfrm>
            <a:off x="896112" y="3794760"/>
            <a:ext cx="2926080" cy="1417320"/>
          </a:xfrm>
          <a:prstGeom prst="rect">
            <a:avLst/>
          </a:prstGeom>
          <a:noFill/>
          <a:ln/>
        </p:spPr>
        <p:txBody>
          <a:bodyPr wrap="square" rtlCol="0" anchor="t"/>
          <a:lstStyle/>
          <a:p>
            <a:pPr marL="0" indent="0" algn="l">
              <a:lnSpc>
                <a:spcPts val="1900"/>
              </a:lnSpc>
              <a:buNone/>
            </a:pPr>
            <a:r>
              <a:rPr lang="en-US" sz="1300" dirty="0">
                <a:solidFill>
                  <a:srgbClr val="5B6B7A"/>
                </a:solidFill>
                <a:latin typeface="Arial" pitchFamily="34" charset="0"/>
                <a:ea typeface="Arial" pitchFamily="34" charset="-122"/>
                <a:cs typeface="Arial" pitchFamily="34" charset="-120"/>
              </a:rPr>
              <a:t>Reliable L1–L5 body labels and the sacrum reference used for all distance measurements.</a:t>
            </a:r>
            <a:endParaRPr lang="en-US" sz="1300" dirty="0"/>
          </a:p>
        </p:txBody>
      </p:sp>
      <p:sp>
        <p:nvSpPr>
          <p:cNvPr id="10" name="Shape 7"/>
          <p:cNvSpPr/>
          <p:nvPr/>
        </p:nvSpPr>
        <p:spPr>
          <a:xfrm>
            <a:off x="896112" y="5440680"/>
            <a:ext cx="960120" cy="36576"/>
          </a:xfrm>
          <a:prstGeom prst="rect">
            <a:avLst/>
          </a:prstGeom>
          <a:solidFill>
            <a:srgbClr val="C9962E"/>
          </a:solidFill>
          <a:ln/>
        </p:spPr>
        <p:txBody>
          <a:bodyPr/>
          <a:lstStyle/>
          <a:p>
            <a:endParaRPr lang="en-US"/>
          </a:p>
        </p:txBody>
      </p:sp>
      <p:sp>
        <p:nvSpPr>
          <p:cNvPr id="11" name="Text 8"/>
          <p:cNvSpPr/>
          <p:nvPr/>
        </p:nvSpPr>
        <p:spPr>
          <a:xfrm>
            <a:off x="896112" y="5532120"/>
            <a:ext cx="2926080" cy="320040"/>
          </a:xfrm>
          <a:prstGeom prst="rect">
            <a:avLst/>
          </a:prstGeom>
          <a:noFill/>
          <a:ln/>
        </p:spPr>
        <p:txBody>
          <a:bodyPr wrap="square" rtlCol="0" anchor="ctr"/>
          <a:lstStyle/>
          <a:p>
            <a:pPr marL="0" indent="0" algn="l">
              <a:buNone/>
            </a:pPr>
            <a:r>
              <a:rPr lang="en-US" sz="1100" b="1" kern="0" spc="200" dirty="0">
                <a:solidFill>
                  <a:srgbClr val="C9962E"/>
                </a:solidFill>
                <a:latin typeface="Arial" pitchFamily="34" charset="0"/>
                <a:ea typeface="Arial" pitchFamily="34" charset="-122"/>
                <a:cs typeface="Arial" pitchFamily="34" charset="-120"/>
              </a:rPr>
              <a:t>COUNTS LEVELS</a:t>
            </a:r>
            <a:endParaRPr lang="en-US" sz="1100" dirty="0"/>
          </a:p>
        </p:txBody>
      </p:sp>
      <p:sp>
        <p:nvSpPr>
          <p:cNvPr id="12" name="Shape 9"/>
          <p:cNvSpPr/>
          <p:nvPr/>
        </p:nvSpPr>
        <p:spPr>
          <a:xfrm>
            <a:off x="4343400" y="1965960"/>
            <a:ext cx="3429000" cy="4023360"/>
          </a:xfrm>
          <a:prstGeom prst="rect">
            <a:avLst/>
          </a:prstGeom>
          <a:solidFill>
            <a:srgbClr val="EEF1F4"/>
          </a:solidFill>
          <a:ln w="12700">
            <a:solidFill>
              <a:srgbClr val="DDE2E8"/>
            </a:solidFill>
            <a:prstDash val="solid"/>
          </a:ln>
        </p:spPr>
        <p:txBody>
          <a:bodyPr/>
          <a:lstStyle/>
          <a:p>
            <a:endParaRPr lang="en-US"/>
          </a:p>
        </p:txBody>
      </p:sp>
      <p:sp>
        <p:nvSpPr>
          <p:cNvPr id="13" name="Shape 10"/>
          <p:cNvSpPr/>
          <p:nvPr/>
        </p:nvSpPr>
        <p:spPr>
          <a:xfrm>
            <a:off x="4343400" y="1965960"/>
            <a:ext cx="3429000" cy="1051560"/>
          </a:xfrm>
          <a:prstGeom prst="rect">
            <a:avLst/>
          </a:prstGeom>
          <a:solidFill>
            <a:srgbClr val="051F43"/>
          </a:solidFill>
          <a:ln/>
        </p:spPr>
        <p:txBody>
          <a:bodyPr/>
          <a:lstStyle/>
          <a:p>
            <a:endParaRPr lang="en-US"/>
          </a:p>
        </p:txBody>
      </p:sp>
      <p:pic>
        <p:nvPicPr>
          <p:cNvPr id="14" name="Image 1" descr="assets/layers_w.png"/>
          <p:cNvPicPr>
            <a:picLocks noChangeAspect="1"/>
          </p:cNvPicPr>
          <p:nvPr/>
        </p:nvPicPr>
        <p:blipFill>
          <a:blip r:embed="rId4"/>
          <a:stretch>
            <a:fillRect/>
          </a:stretch>
        </p:blipFill>
        <p:spPr>
          <a:xfrm>
            <a:off x="4599432" y="2240280"/>
            <a:ext cx="502920" cy="502920"/>
          </a:xfrm>
          <a:prstGeom prst="rect">
            <a:avLst/>
          </a:prstGeom>
        </p:spPr>
      </p:pic>
      <p:sp>
        <p:nvSpPr>
          <p:cNvPr id="15" name="Text 11"/>
          <p:cNvSpPr/>
          <p:nvPr/>
        </p:nvSpPr>
        <p:spPr>
          <a:xfrm>
            <a:off x="5212080" y="2194560"/>
            <a:ext cx="2468880" cy="640080"/>
          </a:xfrm>
          <a:prstGeom prst="rect">
            <a:avLst/>
          </a:prstGeom>
          <a:noFill/>
          <a:ln/>
        </p:spPr>
        <p:txBody>
          <a:bodyPr wrap="square" lIns="0" tIns="0" rIns="0" bIns="0" rtlCol="0" anchor="ctr"/>
          <a:lstStyle/>
          <a:p>
            <a:pPr marL="0" indent="0" algn="l">
              <a:lnSpc>
                <a:spcPts val="1600"/>
              </a:lnSpc>
              <a:buNone/>
            </a:pPr>
            <a:r>
              <a:rPr lang="en-US" sz="1550" b="1" dirty="0">
                <a:solidFill>
                  <a:srgbClr val="FFFFFF"/>
                </a:solidFill>
                <a:latin typeface="Arial" pitchFamily="34" charset="0"/>
                <a:ea typeface="Arial" pitchFamily="34" charset="-122"/>
                <a:cs typeface="Arial" pitchFamily="34" charset="-120"/>
              </a:rPr>
              <a:t>SPINEPS / VERIDAH</a:t>
            </a:r>
            <a:endParaRPr lang="en-US" sz="1550" dirty="0"/>
          </a:p>
        </p:txBody>
      </p:sp>
      <p:sp>
        <p:nvSpPr>
          <p:cNvPr id="16" name="Text 12"/>
          <p:cNvSpPr/>
          <p:nvPr/>
        </p:nvSpPr>
        <p:spPr>
          <a:xfrm>
            <a:off x="4599432" y="3154680"/>
            <a:ext cx="2926080" cy="548640"/>
          </a:xfrm>
          <a:prstGeom prst="rect">
            <a:avLst/>
          </a:prstGeom>
          <a:noFill/>
          <a:ln/>
        </p:spPr>
        <p:txBody>
          <a:bodyPr wrap="square" rtlCol="0" anchor="t"/>
          <a:lstStyle/>
          <a:p>
            <a:pPr marL="0" indent="0" algn="l">
              <a:lnSpc>
                <a:spcPts val="1600"/>
              </a:lnSpc>
              <a:buNone/>
            </a:pPr>
            <a:r>
              <a:rPr lang="en-US" sz="1350" b="1" dirty="0">
                <a:solidFill>
                  <a:srgbClr val="0E5E6B"/>
                </a:solidFill>
                <a:latin typeface="Arial" pitchFamily="34" charset="0"/>
                <a:ea typeface="Arial" pitchFamily="34" charset="-122"/>
                <a:cs typeface="Arial" pitchFamily="34" charset="-120"/>
              </a:rPr>
              <a:t>L6 detection + transverse processes</a:t>
            </a:r>
            <a:endParaRPr lang="en-US" sz="1350" dirty="0"/>
          </a:p>
        </p:txBody>
      </p:sp>
      <p:sp>
        <p:nvSpPr>
          <p:cNvPr id="17" name="Text 13"/>
          <p:cNvSpPr/>
          <p:nvPr/>
        </p:nvSpPr>
        <p:spPr>
          <a:xfrm>
            <a:off x="4599432" y="3794760"/>
            <a:ext cx="2926080" cy="1417320"/>
          </a:xfrm>
          <a:prstGeom prst="rect">
            <a:avLst/>
          </a:prstGeom>
          <a:noFill/>
          <a:ln/>
        </p:spPr>
        <p:txBody>
          <a:bodyPr wrap="square" rtlCol="0" anchor="t"/>
          <a:lstStyle/>
          <a:p>
            <a:pPr marL="0" indent="0" algn="l">
              <a:lnSpc>
                <a:spcPts val="1900"/>
              </a:lnSpc>
              <a:buNone/>
            </a:pPr>
            <a:r>
              <a:rPr lang="en-US" sz="1300" dirty="0">
                <a:solidFill>
                  <a:srgbClr val="5B6B7A"/>
                </a:solidFill>
                <a:latin typeface="Arial" pitchFamily="34" charset="0"/>
                <a:ea typeface="Arial" pitchFamily="34" charset="-122"/>
                <a:cs typeface="Arial" pitchFamily="34" charset="-120"/>
              </a:rPr>
              <a:t>The only model that emits an L6 label, and the source of costal-process geometry for Castellvi.</a:t>
            </a:r>
            <a:endParaRPr lang="en-US" sz="1300" dirty="0"/>
          </a:p>
        </p:txBody>
      </p:sp>
      <p:sp>
        <p:nvSpPr>
          <p:cNvPr id="18" name="Shape 14"/>
          <p:cNvSpPr/>
          <p:nvPr/>
        </p:nvSpPr>
        <p:spPr>
          <a:xfrm>
            <a:off x="4599432" y="5440680"/>
            <a:ext cx="960120" cy="36576"/>
          </a:xfrm>
          <a:prstGeom prst="rect">
            <a:avLst/>
          </a:prstGeom>
          <a:solidFill>
            <a:srgbClr val="C9962E"/>
          </a:solidFill>
          <a:ln/>
        </p:spPr>
        <p:txBody>
          <a:bodyPr/>
          <a:lstStyle/>
          <a:p>
            <a:endParaRPr lang="en-US"/>
          </a:p>
        </p:txBody>
      </p:sp>
      <p:sp>
        <p:nvSpPr>
          <p:cNvPr id="19" name="Text 15"/>
          <p:cNvSpPr/>
          <p:nvPr/>
        </p:nvSpPr>
        <p:spPr>
          <a:xfrm>
            <a:off x="4599432" y="5532120"/>
            <a:ext cx="2926080" cy="320040"/>
          </a:xfrm>
          <a:prstGeom prst="rect">
            <a:avLst/>
          </a:prstGeom>
          <a:noFill/>
          <a:ln/>
        </p:spPr>
        <p:txBody>
          <a:bodyPr wrap="square" rtlCol="0" anchor="ctr"/>
          <a:lstStyle/>
          <a:p>
            <a:pPr marL="0" indent="0" algn="l">
              <a:buNone/>
            </a:pPr>
            <a:r>
              <a:rPr lang="en-US" sz="1100" b="1" kern="0" spc="200" dirty="0">
                <a:solidFill>
                  <a:srgbClr val="C9962E"/>
                </a:solidFill>
                <a:latin typeface="Arial" pitchFamily="34" charset="0"/>
                <a:ea typeface="Arial" pitchFamily="34" charset="-122"/>
                <a:cs typeface="Arial" pitchFamily="34" charset="-120"/>
              </a:rPr>
              <a:t>FINDS THE ANOMALY</a:t>
            </a:r>
            <a:endParaRPr lang="en-US" sz="1100" dirty="0"/>
          </a:p>
        </p:txBody>
      </p:sp>
      <p:sp>
        <p:nvSpPr>
          <p:cNvPr id="20" name="Shape 16"/>
          <p:cNvSpPr/>
          <p:nvPr/>
        </p:nvSpPr>
        <p:spPr>
          <a:xfrm>
            <a:off x="8046720" y="1965960"/>
            <a:ext cx="3429000" cy="4023360"/>
          </a:xfrm>
          <a:prstGeom prst="rect">
            <a:avLst/>
          </a:prstGeom>
          <a:solidFill>
            <a:srgbClr val="EEF1F4"/>
          </a:solidFill>
          <a:ln w="12700">
            <a:solidFill>
              <a:srgbClr val="DDE2E8"/>
            </a:solidFill>
            <a:prstDash val="solid"/>
          </a:ln>
        </p:spPr>
        <p:txBody>
          <a:bodyPr/>
          <a:lstStyle/>
          <a:p>
            <a:endParaRPr lang="en-US"/>
          </a:p>
        </p:txBody>
      </p:sp>
      <p:sp>
        <p:nvSpPr>
          <p:cNvPr id="21" name="Shape 17"/>
          <p:cNvSpPr/>
          <p:nvPr/>
        </p:nvSpPr>
        <p:spPr>
          <a:xfrm>
            <a:off x="8046720" y="1965960"/>
            <a:ext cx="3429000" cy="1051560"/>
          </a:xfrm>
          <a:prstGeom prst="rect">
            <a:avLst/>
          </a:prstGeom>
          <a:solidFill>
            <a:srgbClr val="051F43"/>
          </a:solidFill>
          <a:ln/>
        </p:spPr>
        <p:txBody>
          <a:bodyPr/>
          <a:lstStyle/>
          <a:p>
            <a:endParaRPr lang="en-US"/>
          </a:p>
        </p:txBody>
      </p:sp>
      <p:pic>
        <p:nvPicPr>
          <p:cNvPr id="22" name="Image 2" descr="assets/disc_w.png"/>
          <p:cNvPicPr>
            <a:picLocks noChangeAspect="1"/>
          </p:cNvPicPr>
          <p:nvPr/>
        </p:nvPicPr>
        <p:blipFill>
          <a:blip r:embed="rId5"/>
          <a:stretch>
            <a:fillRect/>
          </a:stretch>
        </p:blipFill>
        <p:spPr>
          <a:xfrm>
            <a:off x="8302752" y="2240280"/>
            <a:ext cx="502920" cy="502920"/>
          </a:xfrm>
          <a:prstGeom prst="rect">
            <a:avLst/>
          </a:prstGeom>
        </p:spPr>
      </p:pic>
      <p:sp>
        <p:nvSpPr>
          <p:cNvPr id="23" name="Text 18"/>
          <p:cNvSpPr/>
          <p:nvPr/>
        </p:nvSpPr>
        <p:spPr>
          <a:xfrm>
            <a:off x="8915400" y="2194560"/>
            <a:ext cx="2468880" cy="640080"/>
          </a:xfrm>
          <a:prstGeom prst="rect">
            <a:avLst/>
          </a:prstGeom>
          <a:noFill/>
          <a:ln/>
        </p:spPr>
        <p:txBody>
          <a:bodyPr wrap="square" lIns="0" tIns="0" rIns="0" bIns="0" rtlCol="0" anchor="ctr"/>
          <a:lstStyle/>
          <a:p>
            <a:pPr marL="0" indent="0" algn="l">
              <a:lnSpc>
                <a:spcPts val="1600"/>
              </a:lnSpc>
              <a:buNone/>
            </a:pPr>
            <a:r>
              <a:rPr lang="en-US" sz="1550" b="1" dirty="0">
                <a:solidFill>
                  <a:srgbClr val="FFFFFF"/>
                </a:solidFill>
                <a:latin typeface="Arial" pitchFamily="34" charset="0"/>
                <a:ea typeface="Arial" pitchFamily="34" charset="-122"/>
                <a:cs typeface="Arial" pitchFamily="34" charset="-120"/>
              </a:rPr>
              <a:t>Ian Pan Localiser</a:t>
            </a:r>
            <a:endParaRPr lang="en-US" sz="1550" dirty="0"/>
          </a:p>
        </p:txBody>
      </p:sp>
      <p:sp>
        <p:nvSpPr>
          <p:cNvPr id="24" name="Text 19"/>
          <p:cNvSpPr/>
          <p:nvPr/>
        </p:nvSpPr>
        <p:spPr>
          <a:xfrm>
            <a:off x="8302752" y="3154680"/>
            <a:ext cx="2926080" cy="548640"/>
          </a:xfrm>
          <a:prstGeom prst="rect">
            <a:avLst/>
          </a:prstGeom>
          <a:noFill/>
          <a:ln/>
        </p:spPr>
        <p:txBody>
          <a:bodyPr wrap="square" rtlCol="0" anchor="t"/>
          <a:lstStyle/>
          <a:p>
            <a:pPr marL="0" indent="0" algn="l">
              <a:lnSpc>
                <a:spcPts val="1600"/>
              </a:lnSpc>
              <a:buNone/>
            </a:pPr>
            <a:r>
              <a:rPr lang="en-US" sz="1350" b="1" dirty="0">
                <a:solidFill>
                  <a:srgbClr val="0E5E6B"/>
                </a:solidFill>
                <a:latin typeface="Arial" pitchFamily="34" charset="0"/>
                <a:ea typeface="Arial" pitchFamily="34" charset="-122"/>
                <a:cs typeface="Arial" pitchFamily="34" charset="-120"/>
              </a:rPr>
              <a:t>Independent 3D disc reference</a:t>
            </a:r>
            <a:endParaRPr lang="en-US" sz="1350" dirty="0"/>
          </a:p>
        </p:txBody>
      </p:sp>
      <p:sp>
        <p:nvSpPr>
          <p:cNvPr id="25" name="Text 20"/>
          <p:cNvSpPr/>
          <p:nvPr/>
        </p:nvSpPr>
        <p:spPr>
          <a:xfrm>
            <a:off x="8302752" y="3794760"/>
            <a:ext cx="2926080" cy="1417320"/>
          </a:xfrm>
          <a:prstGeom prst="rect">
            <a:avLst/>
          </a:prstGeom>
          <a:noFill/>
          <a:ln/>
        </p:spPr>
        <p:txBody>
          <a:bodyPr wrap="square" rtlCol="0" anchor="t"/>
          <a:lstStyle/>
          <a:p>
            <a:pPr marL="0" indent="0" algn="l">
              <a:lnSpc>
                <a:spcPts val="1900"/>
              </a:lnSpc>
              <a:buNone/>
            </a:pPr>
            <a:r>
              <a:rPr lang="en-US" sz="1300" dirty="0">
                <a:solidFill>
                  <a:srgbClr val="5B6B7A"/>
                </a:solidFill>
                <a:latin typeface="Arial" pitchFamily="34" charset="0"/>
                <a:ea typeface="Arial" pitchFamily="34" charset="-122"/>
                <a:cs typeface="Arial" pitchFamily="34" charset="-120"/>
              </a:rPr>
              <a:t>Heatmap disc centres in world space give a model-agnostic anchor to arbitrate disagreements.</a:t>
            </a:r>
            <a:endParaRPr lang="en-US" sz="1300" dirty="0"/>
          </a:p>
        </p:txBody>
      </p:sp>
      <p:sp>
        <p:nvSpPr>
          <p:cNvPr id="26" name="Shape 21"/>
          <p:cNvSpPr/>
          <p:nvPr/>
        </p:nvSpPr>
        <p:spPr>
          <a:xfrm>
            <a:off x="8302752" y="5440680"/>
            <a:ext cx="960120" cy="36576"/>
          </a:xfrm>
          <a:prstGeom prst="rect">
            <a:avLst/>
          </a:prstGeom>
          <a:solidFill>
            <a:srgbClr val="C9962E"/>
          </a:solidFill>
          <a:ln/>
        </p:spPr>
        <p:txBody>
          <a:bodyPr/>
          <a:lstStyle/>
          <a:p>
            <a:endParaRPr lang="en-US"/>
          </a:p>
        </p:txBody>
      </p:sp>
      <p:sp>
        <p:nvSpPr>
          <p:cNvPr id="27" name="Text 22"/>
          <p:cNvSpPr/>
          <p:nvPr/>
        </p:nvSpPr>
        <p:spPr>
          <a:xfrm>
            <a:off x="8302752" y="5532120"/>
            <a:ext cx="2926080" cy="320040"/>
          </a:xfrm>
          <a:prstGeom prst="rect">
            <a:avLst/>
          </a:prstGeom>
          <a:noFill/>
          <a:ln/>
        </p:spPr>
        <p:txBody>
          <a:bodyPr wrap="square" rtlCol="0" anchor="ctr"/>
          <a:lstStyle/>
          <a:p>
            <a:pPr marL="0" indent="0" algn="l">
              <a:buNone/>
            </a:pPr>
            <a:r>
              <a:rPr lang="en-US" sz="1100" b="1" kern="0" spc="200" dirty="0">
                <a:solidFill>
                  <a:srgbClr val="C9962E"/>
                </a:solidFill>
                <a:latin typeface="Arial" pitchFamily="34" charset="0"/>
                <a:ea typeface="Arial" pitchFamily="34" charset="-122"/>
                <a:cs typeface="Arial" pitchFamily="34" charset="-120"/>
              </a:rPr>
              <a:t>BREAKS THE TIE</a:t>
            </a:r>
            <a:endParaRPr lang="en-US" sz="1100" dirty="0"/>
          </a:p>
        </p:txBody>
      </p:sp>
      <p:pic>
        <p:nvPicPr>
          <p:cNvPr id="28" name="Image 3" descr="assets/seal.png"/>
          <p:cNvPicPr>
            <a:picLocks noChangeAspect="1"/>
          </p:cNvPicPr>
          <p:nvPr/>
        </p:nvPicPr>
        <p:blipFill>
          <a:blip r:embed="rId6"/>
          <a:stretch>
            <a:fillRect/>
          </a:stretch>
        </p:blipFill>
        <p:spPr>
          <a:xfrm>
            <a:off x="11475720" y="6053328"/>
            <a:ext cx="658368" cy="6583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READING THE DISAGREEMENT</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The level offset names the phenotype</a:t>
            </a:r>
            <a:endParaRPr lang="en-US" sz="3000" dirty="0"/>
          </a:p>
        </p:txBody>
      </p:sp>
      <p:sp>
        <p:nvSpPr>
          <p:cNvPr id="4" name="Shape 2"/>
          <p:cNvSpPr/>
          <p:nvPr/>
        </p:nvSpPr>
        <p:spPr>
          <a:xfrm>
            <a:off x="640080" y="2057400"/>
            <a:ext cx="1554480" cy="457200"/>
          </a:xfrm>
          <a:prstGeom prst="rect">
            <a:avLst/>
          </a:prstGeom>
          <a:solidFill>
            <a:srgbClr val="051F43"/>
          </a:solidFill>
          <a:ln w="12700">
            <a:solidFill>
              <a:srgbClr val="DDE2E8"/>
            </a:solidFill>
            <a:prstDash val="solid"/>
          </a:ln>
        </p:spPr>
        <p:txBody>
          <a:bodyPr/>
          <a:lstStyle/>
          <a:p>
            <a:endParaRPr lang="en-US"/>
          </a:p>
        </p:txBody>
      </p:sp>
      <p:sp>
        <p:nvSpPr>
          <p:cNvPr id="5" name="Text 3"/>
          <p:cNvSpPr/>
          <p:nvPr/>
        </p:nvSpPr>
        <p:spPr>
          <a:xfrm>
            <a:off x="804672" y="2057400"/>
            <a:ext cx="1261872" cy="457200"/>
          </a:xfrm>
          <a:prstGeom prst="rect">
            <a:avLst/>
          </a:prstGeom>
          <a:noFill/>
          <a:ln/>
        </p:spPr>
        <p:txBody>
          <a:bodyPr wrap="square" lIns="0" tIns="0" rIns="0" bIns="0" rtlCol="0" anchor="ctr"/>
          <a:lstStyle/>
          <a:p>
            <a:pPr marL="0" indent="0" algn="ctr">
              <a:lnSpc>
                <a:spcPts val="1700"/>
              </a:lnSpc>
              <a:buNone/>
            </a:pPr>
            <a:r>
              <a:rPr lang="en-US" sz="1200" b="1" kern="0" spc="200" dirty="0">
                <a:solidFill>
                  <a:srgbClr val="FFFFFF"/>
                </a:solidFill>
                <a:latin typeface="Arial" pitchFamily="34" charset="0"/>
                <a:ea typeface="Arial" pitchFamily="34" charset="-122"/>
                <a:cs typeface="Arial" pitchFamily="34" charset="-120"/>
              </a:rPr>
              <a:t>OFFSET</a:t>
            </a:r>
            <a:endParaRPr lang="en-US" sz="1200" dirty="0"/>
          </a:p>
        </p:txBody>
      </p:sp>
      <p:sp>
        <p:nvSpPr>
          <p:cNvPr id="6" name="Shape 4"/>
          <p:cNvSpPr/>
          <p:nvPr/>
        </p:nvSpPr>
        <p:spPr>
          <a:xfrm>
            <a:off x="2194560" y="2057400"/>
            <a:ext cx="3840480" cy="457200"/>
          </a:xfrm>
          <a:prstGeom prst="rect">
            <a:avLst/>
          </a:prstGeom>
          <a:solidFill>
            <a:srgbClr val="051F43"/>
          </a:solidFill>
          <a:ln w="12700">
            <a:solidFill>
              <a:srgbClr val="DDE2E8"/>
            </a:solidFill>
            <a:prstDash val="solid"/>
          </a:ln>
        </p:spPr>
        <p:txBody>
          <a:bodyPr/>
          <a:lstStyle/>
          <a:p>
            <a:endParaRPr lang="en-US"/>
          </a:p>
        </p:txBody>
      </p:sp>
      <p:sp>
        <p:nvSpPr>
          <p:cNvPr id="7" name="Text 5"/>
          <p:cNvSpPr/>
          <p:nvPr/>
        </p:nvSpPr>
        <p:spPr>
          <a:xfrm>
            <a:off x="2359152" y="2057400"/>
            <a:ext cx="3547872" cy="457200"/>
          </a:xfrm>
          <a:prstGeom prst="rect">
            <a:avLst/>
          </a:prstGeom>
          <a:noFill/>
          <a:ln/>
        </p:spPr>
        <p:txBody>
          <a:bodyPr wrap="square" lIns="0" tIns="0" rIns="0" bIns="0" rtlCol="0" anchor="ctr"/>
          <a:lstStyle/>
          <a:p>
            <a:pPr marL="0" indent="0" algn="l">
              <a:lnSpc>
                <a:spcPts val="1700"/>
              </a:lnSpc>
              <a:buNone/>
            </a:pPr>
            <a:r>
              <a:rPr lang="en-US" sz="1200" b="1" kern="0" spc="200" dirty="0">
                <a:solidFill>
                  <a:srgbClr val="FFFFFF"/>
                </a:solidFill>
                <a:latin typeface="Arial" pitchFamily="34" charset="0"/>
                <a:ea typeface="Arial" pitchFamily="34" charset="-122"/>
                <a:cs typeface="Arial" pitchFamily="34" charset="-120"/>
              </a:rPr>
              <a:t>WHAT IT MEANS</a:t>
            </a:r>
            <a:endParaRPr lang="en-US" sz="1200" dirty="0"/>
          </a:p>
        </p:txBody>
      </p:sp>
      <p:sp>
        <p:nvSpPr>
          <p:cNvPr id="8" name="Shape 6"/>
          <p:cNvSpPr/>
          <p:nvPr/>
        </p:nvSpPr>
        <p:spPr>
          <a:xfrm>
            <a:off x="6035040" y="2057400"/>
            <a:ext cx="5394960" cy="457200"/>
          </a:xfrm>
          <a:prstGeom prst="rect">
            <a:avLst/>
          </a:prstGeom>
          <a:solidFill>
            <a:srgbClr val="051F43"/>
          </a:solidFill>
          <a:ln w="12700">
            <a:solidFill>
              <a:srgbClr val="DDE2E8"/>
            </a:solidFill>
            <a:prstDash val="solid"/>
          </a:ln>
        </p:spPr>
        <p:txBody>
          <a:bodyPr/>
          <a:lstStyle/>
          <a:p>
            <a:endParaRPr lang="en-US"/>
          </a:p>
        </p:txBody>
      </p:sp>
      <p:sp>
        <p:nvSpPr>
          <p:cNvPr id="9" name="Text 7"/>
          <p:cNvSpPr/>
          <p:nvPr/>
        </p:nvSpPr>
        <p:spPr>
          <a:xfrm>
            <a:off x="6199632" y="2057400"/>
            <a:ext cx="5102352" cy="457200"/>
          </a:xfrm>
          <a:prstGeom prst="rect">
            <a:avLst/>
          </a:prstGeom>
          <a:noFill/>
          <a:ln/>
        </p:spPr>
        <p:txBody>
          <a:bodyPr wrap="square" lIns="0" tIns="0" rIns="0" bIns="0" rtlCol="0" anchor="ctr"/>
          <a:lstStyle/>
          <a:p>
            <a:pPr marL="0" indent="0" algn="l">
              <a:lnSpc>
                <a:spcPts val="1700"/>
              </a:lnSpc>
              <a:buNone/>
            </a:pPr>
            <a:r>
              <a:rPr lang="en-US" sz="1200" b="1" kern="0" spc="200" dirty="0">
                <a:solidFill>
                  <a:srgbClr val="FFFFFF"/>
                </a:solidFill>
                <a:latin typeface="Arial" pitchFamily="34" charset="0"/>
                <a:ea typeface="Arial" pitchFamily="34" charset="-122"/>
                <a:cs typeface="Arial" pitchFamily="34" charset="-120"/>
              </a:rPr>
              <a:t>LSTV INTERPRETATION</a:t>
            </a:r>
            <a:endParaRPr lang="en-US" sz="1200" dirty="0"/>
          </a:p>
        </p:txBody>
      </p:sp>
      <p:sp>
        <p:nvSpPr>
          <p:cNvPr id="10" name="Shape 8"/>
          <p:cNvSpPr/>
          <p:nvPr/>
        </p:nvSpPr>
        <p:spPr>
          <a:xfrm>
            <a:off x="640080" y="2514600"/>
            <a:ext cx="1554480" cy="786384"/>
          </a:xfrm>
          <a:prstGeom prst="rect">
            <a:avLst/>
          </a:prstGeom>
          <a:solidFill>
            <a:srgbClr val="EEF1F4"/>
          </a:solidFill>
          <a:ln w="12700">
            <a:solidFill>
              <a:srgbClr val="DDE2E8"/>
            </a:solidFill>
            <a:prstDash val="solid"/>
          </a:ln>
        </p:spPr>
        <p:txBody>
          <a:bodyPr/>
          <a:lstStyle/>
          <a:p>
            <a:endParaRPr lang="en-US"/>
          </a:p>
        </p:txBody>
      </p:sp>
      <p:sp>
        <p:nvSpPr>
          <p:cNvPr id="11" name="Text 9"/>
          <p:cNvSpPr/>
          <p:nvPr/>
        </p:nvSpPr>
        <p:spPr>
          <a:xfrm>
            <a:off x="804672" y="2514600"/>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051F43"/>
                </a:solidFill>
                <a:latin typeface="Arial" pitchFamily="34" charset="0"/>
                <a:ea typeface="Arial" pitchFamily="34" charset="-122"/>
                <a:cs typeface="Arial" pitchFamily="34" charset="-120"/>
              </a:rPr>
              <a:t>0</a:t>
            </a:r>
            <a:endParaRPr lang="en-US" sz="2000" dirty="0"/>
          </a:p>
        </p:txBody>
      </p:sp>
      <p:sp>
        <p:nvSpPr>
          <p:cNvPr id="12" name="Shape 10"/>
          <p:cNvSpPr/>
          <p:nvPr/>
        </p:nvSpPr>
        <p:spPr>
          <a:xfrm>
            <a:off x="2194560" y="2514600"/>
            <a:ext cx="3840480" cy="786384"/>
          </a:xfrm>
          <a:prstGeom prst="rect">
            <a:avLst/>
          </a:prstGeom>
          <a:solidFill>
            <a:srgbClr val="FFFFFF"/>
          </a:solidFill>
          <a:ln w="12700">
            <a:solidFill>
              <a:srgbClr val="DDE2E8"/>
            </a:solidFill>
            <a:prstDash val="solid"/>
          </a:ln>
        </p:spPr>
        <p:txBody>
          <a:bodyPr/>
          <a:lstStyle/>
          <a:p>
            <a:endParaRPr lang="en-US"/>
          </a:p>
        </p:txBody>
      </p:sp>
      <p:sp>
        <p:nvSpPr>
          <p:cNvPr id="13" name="Text 11"/>
          <p:cNvSpPr/>
          <p:nvPr/>
        </p:nvSpPr>
        <p:spPr>
          <a:xfrm>
            <a:off x="2359152" y="2514600"/>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Both models agree</a:t>
            </a:r>
            <a:endParaRPr lang="en-US" sz="1350" dirty="0"/>
          </a:p>
        </p:txBody>
      </p:sp>
      <p:sp>
        <p:nvSpPr>
          <p:cNvPr id="14" name="Shape 12"/>
          <p:cNvSpPr/>
          <p:nvPr/>
        </p:nvSpPr>
        <p:spPr>
          <a:xfrm>
            <a:off x="6035040" y="2514600"/>
            <a:ext cx="5394960" cy="786384"/>
          </a:xfrm>
          <a:prstGeom prst="rect">
            <a:avLst/>
          </a:prstGeom>
          <a:solidFill>
            <a:srgbClr val="FFFFFF"/>
          </a:solidFill>
          <a:ln w="12700">
            <a:solidFill>
              <a:srgbClr val="DDE2E8"/>
            </a:solidFill>
            <a:prstDash val="solid"/>
          </a:ln>
        </p:spPr>
        <p:txBody>
          <a:bodyPr/>
          <a:lstStyle/>
          <a:p>
            <a:endParaRPr lang="en-US"/>
          </a:p>
        </p:txBody>
      </p:sp>
      <p:sp>
        <p:nvSpPr>
          <p:cNvPr id="15" name="Text 13"/>
          <p:cNvSpPr/>
          <p:nvPr/>
        </p:nvSpPr>
        <p:spPr>
          <a:xfrm>
            <a:off x="6199632" y="2514600"/>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Normal spine — or both correctly identify the anomaly</a:t>
            </a:r>
            <a:endParaRPr lang="en-US" sz="1350" dirty="0"/>
          </a:p>
        </p:txBody>
      </p:sp>
      <p:sp>
        <p:nvSpPr>
          <p:cNvPr id="16" name="Shape 14"/>
          <p:cNvSpPr/>
          <p:nvPr/>
        </p:nvSpPr>
        <p:spPr>
          <a:xfrm>
            <a:off x="640080" y="3300984"/>
            <a:ext cx="1554480" cy="786384"/>
          </a:xfrm>
          <a:prstGeom prst="rect">
            <a:avLst/>
          </a:prstGeom>
          <a:solidFill>
            <a:srgbClr val="E8F1F3"/>
          </a:solidFill>
          <a:ln w="12700">
            <a:solidFill>
              <a:srgbClr val="DDE2E8"/>
            </a:solidFill>
            <a:prstDash val="solid"/>
          </a:ln>
        </p:spPr>
        <p:txBody>
          <a:bodyPr/>
          <a:lstStyle/>
          <a:p>
            <a:endParaRPr lang="en-US"/>
          </a:p>
        </p:txBody>
      </p:sp>
      <p:sp>
        <p:nvSpPr>
          <p:cNvPr id="17" name="Text 15"/>
          <p:cNvSpPr/>
          <p:nvPr/>
        </p:nvSpPr>
        <p:spPr>
          <a:xfrm>
            <a:off x="804672" y="3300984"/>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0E5E6B"/>
                </a:solidFill>
                <a:latin typeface="Arial" pitchFamily="34" charset="0"/>
                <a:ea typeface="Arial" pitchFamily="34" charset="-122"/>
                <a:cs typeface="Arial" pitchFamily="34" charset="-120"/>
              </a:rPr>
              <a:t>+1</a:t>
            </a:r>
            <a:endParaRPr lang="en-US" sz="2000" dirty="0"/>
          </a:p>
        </p:txBody>
      </p:sp>
      <p:sp>
        <p:nvSpPr>
          <p:cNvPr id="18" name="Shape 16"/>
          <p:cNvSpPr/>
          <p:nvPr/>
        </p:nvSpPr>
        <p:spPr>
          <a:xfrm>
            <a:off x="2194560" y="3300984"/>
            <a:ext cx="3840480" cy="786384"/>
          </a:xfrm>
          <a:prstGeom prst="rect">
            <a:avLst/>
          </a:prstGeom>
          <a:solidFill>
            <a:srgbClr val="FFFFFF"/>
          </a:solidFill>
          <a:ln w="12700">
            <a:solidFill>
              <a:srgbClr val="DDE2E8"/>
            </a:solidFill>
            <a:prstDash val="solid"/>
          </a:ln>
        </p:spPr>
        <p:txBody>
          <a:bodyPr/>
          <a:lstStyle/>
          <a:p>
            <a:endParaRPr lang="en-US"/>
          </a:p>
        </p:txBody>
      </p:sp>
      <p:sp>
        <p:nvSpPr>
          <p:cNvPr id="19" name="Text 17"/>
          <p:cNvSpPr/>
          <p:nvPr/>
        </p:nvSpPr>
        <p:spPr>
          <a:xfrm>
            <a:off x="2359152" y="3300984"/>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VERIDAH one level cranial</a:t>
            </a:r>
            <a:endParaRPr lang="en-US" sz="1350" dirty="0"/>
          </a:p>
        </p:txBody>
      </p:sp>
      <p:sp>
        <p:nvSpPr>
          <p:cNvPr id="20" name="Shape 18"/>
          <p:cNvSpPr/>
          <p:nvPr/>
        </p:nvSpPr>
        <p:spPr>
          <a:xfrm>
            <a:off x="6035040" y="3300984"/>
            <a:ext cx="5394960" cy="786384"/>
          </a:xfrm>
          <a:prstGeom prst="rect">
            <a:avLst/>
          </a:prstGeom>
          <a:solidFill>
            <a:srgbClr val="FFFFFF"/>
          </a:solidFill>
          <a:ln w="12700">
            <a:solidFill>
              <a:srgbClr val="DDE2E8"/>
            </a:solidFill>
            <a:prstDash val="solid"/>
          </a:ln>
        </p:spPr>
        <p:txBody>
          <a:bodyPr/>
          <a:lstStyle/>
          <a:p>
            <a:endParaRPr lang="en-US"/>
          </a:p>
        </p:txBody>
      </p:sp>
      <p:sp>
        <p:nvSpPr>
          <p:cNvPr id="21" name="Text 19"/>
          <p:cNvSpPr/>
          <p:nvPr/>
        </p:nvSpPr>
        <p:spPr>
          <a:xfrm>
            <a:off x="6199632" y="3300984"/>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Lumbarization — VERIDAH found L6, TotalSpineSeg did not</a:t>
            </a:r>
            <a:endParaRPr lang="en-US" sz="1350" dirty="0"/>
          </a:p>
        </p:txBody>
      </p:sp>
      <p:sp>
        <p:nvSpPr>
          <p:cNvPr id="22" name="Shape 20"/>
          <p:cNvSpPr/>
          <p:nvPr/>
        </p:nvSpPr>
        <p:spPr>
          <a:xfrm>
            <a:off x="640080" y="4087368"/>
            <a:ext cx="1554480" cy="786384"/>
          </a:xfrm>
          <a:prstGeom prst="rect">
            <a:avLst/>
          </a:prstGeom>
          <a:solidFill>
            <a:srgbClr val="F6EAE7"/>
          </a:solidFill>
          <a:ln w="12700">
            <a:solidFill>
              <a:srgbClr val="DDE2E8"/>
            </a:solidFill>
            <a:prstDash val="solid"/>
          </a:ln>
        </p:spPr>
        <p:txBody>
          <a:bodyPr/>
          <a:lstStyle/>
          <a:p>
            <a:endParaRPr lang="en-US"/>
          </a:p>
        </p:txBody>
      </p:sp>
      <p:sp>
        <p:nvSpPr>
          <p:cNvPr id="23" name="Text 21"/>
          <p:cNvSpPr/>
          <p:nvPr/>
        </p:nvSpPr>
        <p:spPr>
          <a:xfrm>
            <a:off x="804672" y="4087368"/>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B23A2E"/>
                </a:solidFill>
                <a:latin typeface="Arial" pitchFamily="34" charset="0"/>
                <a:ea typeface="Arial" pitchFamily="34" charset="-122"/>
                <a:cs typeface="Arial" pitchFamily="34" charset="-120"/>
              </a:rPr>
              <a:t>−1</a:t>
            </a:r>
            <a:endParaRPr lang="en-US" sz="2000" dirty="0"/>
          </a:p>
        </p:txBody>
      </p:sp>
      <p:sp>
        <p:nvSpPr>
          <p:cNvPr id="24" name="Shape 22"/>
          <p:cNvSpPr/>
          <p:nvPr/>
        </p:nvSpPr>
        <p:spPr>
          <a:xfrm>
            <a:off x="2194560" y="4087368"/>
            <a:ext cx="3840480" cy="786384"/>
          </a:xfrm>
          <a:prstGeom prst="rect">
            <a:avLst/>
          </a:prstGeom>
          <a:solidFill>
            <a:srgbClr val="FFFFFF"/>
          </a:solidFill>
          <a:ln w="12700">
            <a:solidFill>
              <a:srgbClr val="DDE2E8"/>
            </a:solidFill>
            <a:prstDash val="solid"/>
          </a:ln>
        </p:spPr>
        <p:txBody>
          <a:bodyPr/>
          <a:lstStyle/>
          <a:p>
            <a:endParaRPr lang="en-US"/>
          </a:p>
        </p:txBody>
      </p:sp>
      <p:sp>
        <p:nvSpPr>
          <p:cNvPr id="25" name="Text 23"/>
          <p:cNvSpPr/>
          <p:nvPr/>
        </p:nvSpPr>
        <p:spPr>
          <a:xfrm>
            <a:off x="2359152" y="4087368"/>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TotalSpineSeg one level cranial</a:t>
            </a:r>
            <a:endParaRPr lang="en-US" sz="1350" dirty="0"/>
          </a:p>
        </p:txBody>
      </p:sp>
      <p:sp>
        <p:nvSpPr>
          <p:cNvPr id="26" name="Shape 24"/>
          <p:cNvSpPr/>
          <p:nvPr/>
        </p:nvSpPr>
        <p:spPr>
          <a:xfrm>
            <a:off x="6035040" y="4087368"/>
            <a:ext cx="5394960" cy="786384"/>
          </a:xfrm>
          <a:prstGeom prst="rect">
            <a:avLst/>
          </a:prstGeom>
          <a:solidFill>
            <a:srgbClr val="FFFFFF"/>
          </a:solidFill>
          <a:ln w="12700">
            <a:solidFill>
              <a:srgbClr val="DDE2E8"/>
            </a:solidFill>
            <a:prstDash val="solid"/>
          </a:ln>
        </p:spPr>
        <p:txBody>
          <a:bodyPr/>
          <a:lstStyle/>
          <a:p>
            <a:endParaRPr lang="en-US"/>
          </a:p>
        </p:txBody>
      </p:sp>
      <p:sp>
        <p:nvSpPr>
          <p:cNvPr id="27" name="Text 25"/>
          <p:cNvSpPr/>
          <p:nvPr/>
        </p:nvSpPr>
        <p:spPr>
          <a:xfrm>
            <a:off x="6199632" y="4087368"/>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Sacralization — L5 was subsumed into the sacrum</a:t>
            </a:r>
            <a:endParaRPr lang="en-US" sz="1350" dirty="0"/>
          </a:p>
        </p:txBody>
      </p:sp>
      <p:sp>
        <p:nvSpPr>
          <p:cNvPr id="28" name="Shape 26"/>
          <p:cNvSpPr/>
          <p:nvPr/>
        </p:nvSpPr>
        <p:spPr>
          <a:xfrm>
            <a:off x="640080" y="4873752"/>
            <a:ext cx="1554480" cy="786384"/>
          </a:xfrm>
          <a:prstGeom prst="rect">
            <a:avLst/>
          </a:prstGeom>
          <a:solidFill>
            <a:srgbClr val="EEF1F4"/>
          </a:solidFill>
          <a:ln w="12700">
            <a:solidFill>
              <a:srgbClr val="DDE2E8"/>
            </a:solidFill>
            <a:prstDash val="solid"/>
          </a:ln>
        </p:spPr>
        <p:txBody>
          <a:bodyPr/>
          <a:lstStyle/>
          <a:p>
            <a:endParaRPr lang="en-US"/>
          </a:p>
        </p:txBody>
      </p:sp>
      <p:sp>
        <p:nvSpPr>
          <p:cNvPr id="29" name="Text 27"/>
          <p:cNvSpPr/>
          <p:nvPr/>
        </p:nvSpPr>
        <p:spPr>
          <a:xfrm>
            <a:off x="804672" y="4873752"/>
            <a:ext cx="1261872" cy="786384"/>
          </a:xfrm>
          <a:prstGeom prst="rect">
            <a:avLst/>
          </a:prstGeom>
          <a:noFill/>
          <a:ln/>
        </p:spPr>
        <p:txBody>
          <a:bodyPr wrap="square" lIns="0" tIns="0" rIns="0" bIns="0" rtlCol="0" anchor="ctr"/>
          <a:lstStyle/>
          <a:p>
            <a:pPr marL="0" indent="0" algn="ctr">
              <a:lnSpc>
                <a:spcPts val="1700"/>
              </a:lnSpc>
              <a:buNone/>
            </a:pPr>
            <a:r>
              <a:rPr lang="en-US" sz="2000" b="1" dirty="0">
                <a:solidFill>
                  <a:srgbClr val="051F43"/>
                </a:solidFill>
                <a:latin typeface="Arial" pitchFamily="34" charset="0"/>
                <a:ea typeface="Arial" pitchFamily="34" charset="-122"/>
                <a:cs typeface="Arial" pitchFamily="34" charset="-120"/>
              </a:rPr>
              <a:t>±2</a:t>
            </a:r>
            <a:endParaRPr lang="en-US" sz="2000" dirty="0"/>
          </a:p>
        </p:txBody>
      </p:sp>
      <p:sp>
        <p:nvSpPr>
          <p:cNvPr id="30" name="Shape 28"/>
          <p:cNvSpPr/>
          <p:nvPr/>
        </p:nvSpPr>
        <p:spPr>
          <a:xfrm>
            <a:off x="2194560" y="4873752"/>
            <a:ext cx="3840480" cy="786384"/>
          </a:xfrm>
          <a:prstGeom prst="rect">
            <a:avLst/>
          </a:prstGeom>
          <a:solidFill>
            <a:srgbClr val="FFFFFF"/>
          </a:solidFill>
          <a:ln w="12700">
            <a:solidFill>
              <a:srgbClr val="DDE2E8"/>
            </a:solidFill>
            <a:prstDash val="solid"/>
          </a:ln>
        </p:spPr>
        <p:txBody>
          <a:bodyPr/>
          <a:lstStyle/>
          <a:p>
            <a:endParaRPr lang="en-US"/>
          </a:p>
        </p:txBody>
      </p:sp>
      <p:sp>
        <p:nvSpPr>
          <p:cNvPr id="31" name="Text 29"/>
          <p:cNvSpPr/>
          <p:nvPr/>
        </p:nvSpPr>
        <p:spPr>
          <a:xfrm>
            <a:off x="2359152" y="4873752"/>
            <a:ext cx="354787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Two-level shift</a:t>
            </a:r>
            <a:endParaRPr lang="en-US" sz="1350" dirty="0"/>
          </a:p>
        </p:txBody>
      </p:sp>
      <p:sp>
        <p:nvSpPr>
          <p:cNvPr id="32" name="Shape 30"/>
          <p:cNvSpPr/>
          <p:nvPr/>
        </p:nvSpPr>
        <p:spPr>
          <a:xfrm>
            <a:off x="6035040" y="4873752"/>
            <a:ext cx="5394960" cy="786384"/>
          </a:xfrm>
          <a:prstGeom prst="rect">
            <a:avLst/>
          </a:prstGeom>
          <a:solidFill>
            <a:srgbClr val="FFFFFF"/>
          </a:solidFill>
          <a:ln w="12700">
            <a:solidFill>
              <a:srgbClr val="DDE2E8"/>
            </a:solidFill>
            <a:prstDash val="solid"/>
          </a:ln>
        </p:spPr>
        <p:txBody>
          <a:bodyPr/>
          <a:lstStyle/>
          <a:p>
            <a:endParaRPr lang="en-US"/>
          </a:p>
        </p:txBody>
      </p:sp>
      <p:sp>
        <p:nvSpPr>
          <p:cNvPr id="33" name="Text 31"/>
          <p:cNvSpPr/>
          <p:nvPr/>
        </p:nvSpPr>
        <p:spPr>
          <a:xfrm>
            <a:off x="6199632" y="4873752"/>
            <a:ext cx="5102352" cy="786384"/>
          </a:xfrm>
          <a:prstGeom prst="rect">
            <a:avLst/>
          </a:prstGeom>
          <a:noFill/>
          <a:ln/>
        </p:spPr>
        <p:txBody>
          <a:bodyPr wrap="square" lIns="0" tIns="0" rIns="0" bIns="0" rtlCol="0" anchor="ctr"/>
          <a:lstStyle/>
          <a:p>
            <a:pPr marL="0" indent="0" algn="l">
              <a:lnSpc>
                <a:spcPts val="1700"/>
              </a:lnSpc>
              <a:buNone/>
            </a:pPr>
            <a:r>
              <a:rPr lang="en-US" sz="1350" dirty="0">
                <a:solidFill>
                  <a:srgbClr val="1B2733"/>
                </a:solidFill>
                <a:latin typeface="Arial" pitchFamily="34" charset="0"/>
                <a:ea typeface="Arial" pitchFamily="34" charset="-122"/>
                <a:cs typeface="Arial" pitchFamily="34" charset="-120"/>
              </a:rPr>
              <a:t>Extreme lumbarization / sacralization</a:t>
            </a:r>
            <a:endParaRPr lang="en-US" sz="1350" dirty="0"/>
          </a:p>
        </p:txBody>
      </p:sp>
      <p:sp>
        <p:nvSpPr>
          <p:cNvPr id="34" name="Text 32"/>
          <p:cNvSpPr/>
          <p:nvPr/>
        </p:nvSpPr>
        <p:spPr>
          <a:xfrm>
            <a:off x="640080" y="5532120"/>
            <a:ext cx="10515600" cy="640080"/>
          </a:xfrm>
          <a:prstGeom prst="rect">
            <a:avLst/>
          </a:prstGeom>
          <a:noFill/>
          <a:ln/>
        </p:spPr>
        <p:txBody>
          <a:bodyPr wrap="square" rtlCol="0" anchor="t"/>
          <a:lstStyle/>
          <a:p>
            <a:pPr marL="0" indent="0" algn="l">
              <a:lnSpc>
                <a:spcPts val="1900"/>
              </a:lnSpc>
              <a:buNone/>
            </a:pPr>
            <a:r>
              <a:rPr lang="en-US" sz="1350" dirty="0">
                <a:solidFill>
                  <a:srgbClr val="5B6B7A"/>
                </a:solidFill>
                <a:latin typeface="Arial" pitchFamily="34" charset="0"/>
                <a:ea typeface="Arial" pitchFamily="34" charset="-122"/>
                <a:cs typeface="Arial" pitchFamily="34" charset="-120"/>
              </a:rPr>
              <a:t>If the disagreement goes undetected, </a:t>
            </a:r>
            <a:r>
              <a:rPr lang="en-US" sz="1350" b="1" dirty="0">
                <a:solidFill>
                  <a:srgbClr val="B23A2E"/>
                </a:solidFill>
                <a:latin typeface="Arial" pitchFamily="34" charset="0"/>
                <a:ea typeface="Arial" pitchFamily="34" charset="-122"/>
                <a:cs typeface="Arial" pitchFamily="34" charset="-120"/>
              </a:rPr>
              <a:t>Castellvi morphometrics are computed on the wrong vertebra</a:t>
            </a:r>
            <a:r>
              <a:rPr lang="en-US" sz="1350" dirty="0">
                <a:solidFill>
                  <a:srgbClr val="5B6B7A"/>
                </a:solidFill>
                <a:latin typeface="Arial" pitchFamily="34" charset="0"/>
                <a:ea typeface="Arial" pitchFamily="34" charset="-122"/>
                <a:cs typeface="Arial" pitchFamily="34" charset="-120"/>
              </a:rPr>
              <a:t> — the exact failure mode this pipeline exists to prevent.</a:t>
            </a:r>
            <a:endParaRPr lang="en-US" sz="1350" dirty="0"/>
          </a:p>
        </p:txBody>
      </p:sp>
      <p:sp>
        <p:nvSpPr>
          <p:cNvPr id="35" name="Shape 33"/>
          <p:cNvSpPr/>
          <p:nvPr/>
        </p:nvSpPr>
        <p:spPr>
          <a:xfrm rot="-240000">
            <a:off x="-548640" y="6400800"/>
            <a:ext cx="6035040" cy="822960"/>
          </a:xfrm>
          <a:prstGeom prst="rect">
            <a:avLst/>
          </a:prstGeom>
          <a:solidFill>
            <a:srgbClr val="DDE2E8"/>
          </a:solidFill>
          <a:ln/>
        </p:spPr>
        <p:txBody>
          <a:bodyPr/>
          <a:lstStyle/>
          <a:p>
            <a:endParaRPr lang="en-US"/>
          </a:p>
        </p:txBody>
      </p:sp>
      <p:sp>
        <p:nvSpPr>
          <p:cNvPr id="36" name="Shape 34"/>
          <p:cNvSpPr/>
          <p:nvPr/>
        </p:nvSpPr>
        <p:spPr>
          <a:xfrm rot="-240000">
            <a:off x="-548640" y="6565392"/>
            <a:ext cx="4937760" cy="274320"/>
          </a:xfrm>
          <a:prstGeom prst="rect">
            <a:avLst/>
          </a:prstGeom>
          <a:solidFill>
            <a:srgbClr val="051F43"/>
          </a:solidFill>
          <a:ln/>
        </p:spPr>
        <p:txBody>
          <a:bodyPr/>
          <a:lstStyle/>
          <a:p>
            <a:endParaRPr lang="en-US"/>
          </a:p>
        </p:txBody>
      </p:sp>
      <p:sp>
        <p:nvSpPr>
          <p:cNvPr id="37" name="Shape 35"/>
          <p:cNvSpPr/>
          <p:nvPr/>
        </p:nvSpPr>
        <p:spPr>
          <a:xfrm rot="-240000">
            <a:off x="-548640" y="6675120"/>
            <a:ext cx="3840480" cy="109728"/>
          </a:xfrm>
          <a:prstGeom prst="rect">
            <a:avLst/>
          </a:prstGeom>
          <a:solidFill>
            <a:srgbClr val="C9962E"/>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CLASSIFICATION</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Two-phase Castellvi typing at the verified level</a:t>
            </a:r>
            <a:endParaRPr lang="en-US" sz="3000" dirty="0"/>
          </a:p>
        </p:txBody>
      </p:sp>
      <p:sp>
        <p:nvSpPr>
          <p:cNvPr id="4" name="Shape 2"/>
          <p:cNvSpPr/>
          <p:nvPr/>
        </p:nvSpPr>
        <p:spPr>
          <a:xfrm>
            <a:off x="640080" y="1965960"/>
            <a:ext cx="5120640" cy="2331720"/>
          </a:xfrm>
          <a:prstGeom prst="rect">
            <a:avLst/>
          </a:prstGeom>
          <a:solidFill>
            <a:srgbClr val="EEF1F4"/>
          </a:solidFill>
          <a:ln w="12700">
            <a:solidFill>
              <a:srgbClr val="DDE2E8"/>
            </a:solidFill>
            <a:prstDash val="solid"/>
          </a:ln>
        </p:spPr>
        <p:txBody>
          <a:bodyPr/>
          <a:lstStyle/>
          <a:p>
            <a:endParaRPr lang="en-US"/>
          </a:p>
        </p:txBody>
      </p:sp>
      <p:pic>
        <p:nvPicPr>
          <p:cNvPr id="5" name="Image 0" descr="assets/ruler.png"/>
          <p:cNvPicPr>
            <a:picLocks noChangeAspect="1"/>
          </p:cNvPicPr>
          <p:nvPr/>
        </p:nvPicPr>
        <p:blipFill>
          <a:blip r:embed="rId3"/>
          <a:stretch>
            <a:fillRect/>
          </a:stretch>
        </p:blipFill>
        <p:spPr>
          <a:xfrm>
            <a:off x="914400" y="2240280"/>
            <a:ext cx="457200" cy="457200"/>
          </a:xfrm>
          <a:prstGeom prst="rect">
            <a:avLst/>
          </a:prstGeom>
        </p:spPr>
      </p:pic>
      <p:sp>
        <p:nvSpPr>
          <p:cNvPr id="6" name="Text 3"/>
          <p:cNvSpPr/>
          <p:nvPr/>
        </p:nvSpPr>
        <p:spPr>
          <a:xfrm>
            <a:off x="1554480" y="2240280"/>
            <a:ext cx="4023360" cy="457200"/>
          </a:xfrm>
          <a:prstGeom prst="rect">
            <a:avLst/>
          </a:prstGeom>
          <a:noFill/>
          <a:ln/>
        </p:spPr>
        <p:txBody>
          <a:bodyPr wrap="square" lIns="0" tIns="0" rIns="0" bIns="0" rtlCol="0" anchor="ctr"/>
          <a:lstStyle/>
          <a:p>
            <a:pPr marL="0" indent="0">
              <a:buNone/>
            </a:pPr>
            <a:r>
              <a:rPr lang="en-US" sz="1600" b="1" dirty="0">
                <a:solidFill>
                  <a:srgbClr val="051F43"/>
                </a:solidFill>
                <a:latin typeface="Arial" pitchFamily="34" charset="0"/>
                <a:ea typeface="Arial" pitchFamily="34" charset="-122"/>
                <a:cs typeface="Arial" pitchFamily="34" charset="-120"/>
              </a:rPr>
              <a:t>Phase 1 — Sagittal geometry</a:t>
            </a:r>
            <a:endParaRPr lang="en-US" sz="1600" dirty="0"/>
          </a:p>
        </p:txBody>
      </p:sp>
      <p:sp>
        <p:nvSpPr>
          <p:cNvPr id="7" name="Text 4"/>
          <p:cNvSpPr/>
          <p:nvPr/>
        </p:nvSpPr>
        <p:spPr>
          <a:xfrm>
            <a:off x="914400" y="2834640"/>
            <a:ext cx="4572000" cy="914400"/>
          </a:xfrm>
          <a:prstGeom prst="rect">
            <a:avLst/>
          </a:prstGeom>
          <a:noFill/>
          <a:ln/>
        </p:spPr>
        <p:txBody>
          <a:bodyPr wrap="square" rtlCol="0" anchor="t"/>
          <a:lstStyle/>
          <a:p>
            <a:pPr marL="0" indent="0">
              <a:lnSpc>
                <a:spcPts val="1900"/>
              </a:lnSpc>
              <a:buNone/>
            </a:pPr>
            <a:r>
              <a:rPr lang="en-US" sz="1300" dirty="0">
                <a:solidFill>
                  <a:srgbClr val="5B6B7A"/>
                </a:solidFill>
                <a:latin typeface="Arial" pitchFamily="34" charset="0"/>
                <a:ea typeface="Arial" pitchFamily="34" charset="-122"/>
                <a:cs typeface="Arial" pitchFamily="34" charset="-120"/>
              </a:rPr>
              <a:t>PCA measures transverse-process craniocaudal height; a Euclidean distance transform measures the gap to the sacrum.</a:t>
            </a:r>
            <a:endParaRPr lang="en-US" sz="1300" dirty="0"/>
          </a:p>
        </p:txBody>
      </p:sp>
      <p:sp>
        <p:nvSpPr>
          <p:cNvPr id="8" name="Shape 5"/>
          <p:cNvSpPr/>
          <p:nvPr/>
        </p:nvSpPr>
        <p:spPr>
          <a:xfrm>
            <a:off x="640080" y="3822192"/>
            <a:ext cx="5120640" cy="475488"/>
          </a:xfrm>
          <a:prstGeom prst="rect">
            <a:avLst/>
          </a:prstGeom>
          <a:solidFill>
            <a:srgbClr val="051F43"/>
          </a:solidFill>
          <a:ln/>
        </p:spPr>
        <p:txBody>
          <a:bodyPr/>
          <a:lstStyle/>
          <a:p>
            <a:endParaRPr lang="en-US"/>
          </a:p>
        </p:txBody>
      </p:sp>
      <p:sp>
        <p:nvSpPr>
          <p:cNvPr id="9" name="Text 6"/>
          <p:cNvSpPr/>
          <p:nvPr/>
        </p:nvSpPr>
        <p:spPr>
          <a:xfrm>
            <a:off x="914400" y="3822192"/>
            <a:ext cx="4754880" cy="475488"/>
          </a:xfrm>
          <a:prstGeom prst="rect">
            <a:avLst/>
          </a:prstGeom>
          <a:noFill/>
          <a:ln/>
        </p:spPr>
        <p:txBody>
          <a:bodyPr wrap="square" lIns="0" tIns="0" rIns="0" bIns="0" rtlCol="0" anchor="ctr"/>
          <a:lstStyle/>
          <a:p>
            <a:pPr marL="0" indent="0">
              <a:buNone/>
            </a:pPr>
            <a:r>
              <a:rPr lang="en-US" sz="1250" b="1" dirty="0">
                <a:solidFill>
                  <a:srgbClr val="E7C77A"/>
                </a:solidFill>
                <a:latin typeface="Consolas" pitchFamily="34" charset="0"/>
                <a:ea typeface="Consolas" pitchFamily="34" charset="-122"/>
                <a:cs typeface="Consolas" pitchFamily="34" charset="-120"/>
              </a:rPr>
              <a:t>Height ≥ 19 mm, gap &gt; 2 mm  →  Type I</a:t>
            </a:r>
            <a:endParaRPr lang="en-US" sz="1250" dirty="0"/>
          </a:p>
        </p:txBody>
      </p:sp>
      <p:sp>
        <p:nvSpPr>
          <p:cNvPr id="10" name="Shape 7"/>
          <p:cNvSpPr/>
          <p:nvPr/>
        </p:nvSpPr>
        <p:spPr>
          <a:xfrm>
            <a:off x="6126480" y="1965960"/>
            <a:ext cx="5120640" cy="2331720"/>
          </a:xfrm>
          <a:prstGeom prst="rect">
            <a:avLst/>
          </a:prstGeom>
          <a:solidFill>
            <a:srgbClr val="EEF1F4"/>
          </a:solidFill>
          <a:ln w="12700">
            <a:solidFill>
              <a:srgbClr val="DDE2E8"/>
            </a:solidFill>
            <a:prstDash val="solid"/>
          </a:ln>
        </p:spPr>
        <p:txBody>
          <a:bodyPr/>
          <a:lstStyle/>
          <a:p>
            <a:endParaRPr lang="en-US"/>
          </a:p>
        </p:txBody>
      </p:sp>
      <p:pic>
        <p:nvPicPr>
          <p:cNvPr id="11" name="Image 1" descr="assets/signal.png"/>
          <p:cNvPicPr>
            <a:picLocks noChangeAspect="1"/>
          </p:cNvPicPr>
          <p:nvPr/>
        </p:nvPicPr>
        <p:blipFill>
          <a:blip r:embed="rId4"/>
          <a:stretch>
            <a:fillRect/>
          </a:stretch>
        </p:blipFill>
        <p:spPr>
          <a:xfrm>
            <a:off x="6400800" y="2240280"/>
            <a:ext cx="457200" cy="457200"/>
          </a:xfrm>
          <a:prstGeom prst="rect">
            <a:avLst/>
          </a:prstGeom>
        </p:spPr>
      </p:pic>
      <p:sp>
        <p:nvSpPr>
          <p:cNvPr id="12" name="Text 8"/>
          <p:cNvSpPr/>
          <p:nvPr/>
        </p:nvSpPr>
        <p:spPr>
          <a:xfrm>
            <a:off x="7040880" y="2240280"/>
            <a:ext cx="4023360" cy="457200"/>
          </a:xfrm>
          <a:prstGeom prst="rect">
            <a:avLst/>
          </a:prstGeom>
          <a:noFill/>
          <a:ln/>
        </p:spPr>
        <p:txBody>
          <a:bodyPr wrap="square" lIns="0" tIns="0" rIns="0" bIns="0" rtlCol="0" anchor="ctr"/>
          <a:lstStyle/>
          <a:p>
            <a:pPr marL="0" indent="0">
              <a:buNone/>
            </a:pPr>
            <a:r>
              <a:rPr lang="en-US" sz="1600" b="1" dirty="0">
                <a:solidFill>
                  <a:srgbClr val="051F43"/>
                </a:solidFill>
                <a:latin typeface="Arial" pitchFamily="34" charset="0"/>
                <a:ea typeface="Arial" pitchFamily="34" charset="-122"/>
                <a:cs typeface="Arial" pitchFamily="34" charset="-120"/>
              </a:rPr>
              <a:t>Phase 2 — Axial T2w signal</a:t>
            </a:r>
            <a:endParaRPr lang="en-US" sz="1600" dirty="0"/>
          </a:p>
        </p:txBody>
      </p:sp>
      <p:sp>
        <p:nvSpPr>
          <p:cNvPr id="13" name="Text 9"/>
          <p:cNvSpPr/>
          <p:nvPr/>
        </p:nvSpPr>
        <p:spPr>
          <a:xfrm>
            <a:off x="6400800" y="2834640"/>
            <a:ext cx="4572000" cy="914400"/>
          </a:xfrm>
          <a:prstGeom prst="rect">
            <a:avLst/>
          </a:prstGeom>
          <a:noFill/>
          <a:ln/>
        </p:spPr>
        <p:txBody>
          <a:bodyPr wrap="square" rtlCol="0" anchor="t"/>
          <a:lstStyle/>
          <a:p>
            <a:pPr marL="0" indent="0">
              <a:lnSpc>
                <a:spcPts val="1900"/>
              </a:lnSpc>
              <a:buNone/>
            </a:pPr>
            <a:r>
              <a:rPr lang="en-US" sz="1300" dirty="0">
                <a:solidFill>
                  <a:srgbClr val="5B6B7A"/>
                </a:solidFill>
                <a:latin typeface="Arial" pitchFamily="34" charset="0"/>
                <a:ea typeface="Arial" pitchFamily="34" charset="-122"/>
                <a:cs typeface="Arial" pitchFamily="34" charset="-120"/>
              </a:rPr>
              <a:t>A 32×32 patch at the TP–sacrum junction is classified by intensity and uniformity to separate a pseudo-joint from a bony bridge.</a:t>
            </a:r>
            <a:endParaRPr lang="en-US" sz="1300" dirty="0"/>
          </a:p>
        </p:txBody>
      </p:sp>
      <p:sp>
        <p:nvSpPr>
          <p:cNvPr id="14" name="Shape 10"/>
          <p:cNvSpPr/>
          <p:nvPr/>
        </p:nvSpPr>
        <p:spPr>
          <a:xfrm>
            <a:off x="6126480" y="3822192"/>
            <a:ext cx="5120640" cy="475488"/>
          </a:xfrm>
          <a:prstGeom prst="rect">
            <a:avLst/>
          </a:prstGeom>
          <a:solidFill>
            <a:srgbClr val="051F43"/>
          </a:solidFill>
          <a:ln/>
        </p:spPr>
        <p:txBody>
          <a:bodyPr/>
          <a:lstStyle/>
          <a:p>
            <a:endParaRPr lang="en-US"/>
          </a:p>
        </p:txBody>
      </p:sp>
      <p:sp>
        <p:nvSpPr>
          <p:cNvPr id="15" name="Text 11"/>
          <p:cNvSpPr/>
          <p:nvPr/>
        </p:nvSpPr>
        <p:spPr>
          <a:xfrm>
            <a:off x="6400800" y="3822192"/>
            <a:ext cx="4754880" cy="475488"/>
          </a:xfrm>
          <a:prstGeom prst="rect">
            <a:avLst/>
          </a:prstGeom>
          <a:noFill/>
          <a:ln/>
        </p:spPr>
        <p:txBody>
          <a:bodyPr wrap="square" lIns="0" tIns="0" rIns="0" bIns="0" rtlCol="0" anchor="ctr"/>
          <a:lstStyle/>
          <a:p>
            <a:pPr marL="0" indent="0">
              <a:buNone/>
            </a:pPr>
            <a:r>
              <a:rPr lang="en-US" sz="1250" b="1" dirty="0">
                <a:solidFill>
                  <a:srgbClr val="E7C77A"/>
                </a:solidFill>
                <a:latin typeface="Consolas" pitchFamily="34" charset="0"/>
                <a:ea typeface="Consolas" pitchFamily="34" charset="-122"/>
                <a:cs typeface="Consolas" pitchFamily="34" charset="-120"/>
              </a:rPr>
              <a:t>Dark → Type II    ·    Bright → Type III</a:t>
            </a:r>
            <a:endParaRPr lang="en-US" sz="1250" dirty="0"/>
          </a:p>
        </p:txBody>
      </p:sp>
      <p:sp>
        <p:nvSpPr>
          <p:cNvPr id="16" name="Text 12"/>
          <p:cNvSpPr/>
          <p:nvPr/>
        </p:nvSpPr>
        <p:spPr>
          <a:xfrm>
            <a:off x="640080" y="4572000"/>
            <a:ext cx="10058400" cy="320040"/>
          </a:xfrm>
          <a:prstGeom prst="rect">
            <a:avLst/>
          </a:prstGeom>
          <a:noFill/>
          <a:ln/>
        </p:spPr>
        <p:txBody>
          <a:bodyPr wrap="square" rtlCol="0" anchor="ctr"/>
          <a:lstStyle/>
          <a:p>
            <a:pPr marL="0" indent="0">
              <a:buNone/>
            </a:pPr>
            <a:r>
              <a:rPr lang="en-US" sz="1400" b="1" dirty="0">
                <a:solidFill>
                  <a:srgbClr val="051F43"/>
                </a:solidFill>
                <a:latin typeface="Arial" pitchFamily="34" charset="0"/>
                <a:ea typeface="Arial" pitchFamily="34" charset="-122"/>
                <a:cs typeface="Arial" pitchFamily="34" charset="-120"/>
              </a:rPr>
              <a:t>Castellvi types</a:t>
            </a:r>
            <a:endParaRPr lang="en-US" sz="1400" dirty="0"/>
          </a:p>
        </p:txBody>
      </p:sp>
      <p:sp>
        <p:nvSpPr>
          <p:cNvPr id="17" name="Shape 13"/>
          <p:cNvSpPr/>
          <p:nvPr/>
        </p:nvSpPr>
        <p:spPr>
          <a:xfrm>
            <a:off x="6400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18" name="Text 14"/>
          <p:cNvSpPr/>
          <p:nvPr/>
        </p:nvSpPr>
        <p:spPr>
          <a:xfrm>
            <a:off x="7772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a:t>
            </a:r>
            <a:endParaRPr lang="en-US" sz="3000" dirty="0"/>
          </a:p>
        </p:txBody>
      </p:sp>
      <p:sp>
        <p:nvSpPr>
          <p:cNvPr id="19" name="Text 15"/>
          <p:cNvSpPr/>
          <p:nvPr/>
        </p:nvSpPr>
        <p:spPr>
          <a:xfrm>
            <a:off x="15544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Dysplastic TP ≥ 19 mm, no contact</a:t>
            </a:r>
            <a:endParaRPr lang="en-US" sz="1150" dirty="0"/>
          </a:p>
        </p:txBody>
      </p:sp>
      <p:sp>
        <p:nvSpPr>
          <p:cNvPr id="20" name="Shape 16"/>
          <p:cNvSpPr/>
          <p:nvPr/>
        </p:nvSpPr>
        <p:spPr>
          <a:xfrm>
            <a:off x="33832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21" name="Text 17"/>
          <p:cNvSpPr/>
          <p:nvPr/>
        </p:nvSpPr>
        <p:spPr>
          <a:xfrm>
            <a:off x="35204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II</a:t>
            </a:r>
            <a:endParaRPr lang="en-US" sz="3000" dirty="0"/>
          </a:p>
        </p:txBody>
      </p:sp>
      <p:sp>
        <p:nvSpPr>
          <p:cNvPr id="22" name="Text 18"/>
          <p:cNvSpPr/>
          <p:nvPr/>
        </p:nvSpPr>
        <p:spPr>
          <a:xfrm>
            <a:off x="42976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Pseudo-articulation with sacrum</a:t>
            </a:r>
            <a:endParaRPr lang="en-US" sz="1150" dirty="0"/>
          </a:p>
        </p:txBody>
      </p:sp>
      <p:sp>
        <p:nvSpPr>
          <p:cNvPr id="23" name="Shape 19"/>
          <p:cNvSpPr/>
          <p:nvPr/>
        </p:nvSpPr>
        <p:spPr>
          <a:xfrm>
            <a:off x="61264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24" name="Text 20"/>
          <p:cNvSpPr/>
          <p:nvPr/>
        </p:nvSpPr>
        <p:spPr>
          <a:xfrm>
            <a:off x="62636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III</a:t>
            </a:r>
            <a:endParaRPr lang="en-US" sz="3000" dirty="0"/>
          </a:p>
        </p:txBody>
      </p:sp>
      <p:sp>
        <p:nvSpPr>
          <p:cNvPr id="25" name="Text 21"/>
          <p:cNvSpPr/>
          <p:nvPr/>
        </p:nvSpPr>
        <p:spPr>
          <a:xfrm>
            <a:off x="70408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Complete bony fusion to ala</a:t>
            </a:r>
            <a:endParaRPr lang="en-US" sz="1150" dirty="0"/>
          </a:p>
        </p:txBody>
      </p:sp>
      <p:sp>
        <p:nvSpPr>
          <p:cNvPr id="26" name="Shape 22"/>
          <p:cNvSpPr/>
          <p:nvPr/>
        </p:nvSpPr>
        <p:spPr>
          <a:xfrm>
            <a:off x="8869680" y="4937760"/>
            <a:ext cx="2560320" cy="914400"/>
          </a:xfrm>
          <a:prstGeom prst="rect">
            <a:avLst/>
          </a:prstGeom>
          <a:solidFill>
            <a:srgbClr val="FFFFFF"/>
          </a:solidFill>
          <a:ln w="15875">
            <a:solidFill>
              <a:srgbClr val="C9962E"/>
            </a:solidFill>
            <a:prstDash val="solid"/>
          </a:ln>
        </p:spPr>
        <p:txBody>
          <a:bodyPr/>
          <a:lstStyle/>
          <a:p>
            <a:endParaRPr lang="en-US"/>
          </a:p>
        </p:txBody>
      </p:sp>
      <p:sp>
        <p:nvSpPr>
          <p:cNvPr id="27" name="Text 23"/>
          <p:cNvSpPr/>
          <p:nvPr/>
        </p:nvSpPr>
        <p:spPr>
          <a:xfrm>
            <a:off x="9006840" y="5029200"/>
            <a:ext cx="822960" cy="731520"/>
          </a:xfrm>
          <a:prstGeom prst="rect">
            <a:avLst/>
          </a:prstGeom>
          <a:noFill/>
          <a:ln/>
        </p:spPr>
        <p:txBody>
          <a:bodyPr wrap="square" lIns="0" tIns="0" rIns="0" bIns="0" rtlCol="0" anchor="ctr"/>
          <a:lstStyle/>
          <a:p>
            <a:pPr marL="0" indent="0" algn="ctr">
              <a:buNone/>
            </a:pPr>
            <a:r>
              <a:rPr lang="en-US" sz="3000" b="1" dirty="0">
                <a:solidFill>
                  <a:srgbClr val="0E5E6B"/>
                </a:solidFill>
                <a:latin typeface="Georgia" pitchFamily="34" charset="0"/>
                <a:ea typeface="Georgia" pitchFamily="34" charset="-122"/>
                <a:cs typeface="Georgia" pitchFamily="34" charset="-120"/>
              </a:rPr>
              <a:t>IV</a:t>
            </a:r>
            <a:endParaRPr lang="en-US" sz="3000" dirty="0"/>
          </a:p>
        </p:txBody>
      </p:sp>
      <p:sp>
        <p:nvSpPr>
          <p:cNvPr id="28" name="Text 24"/>
          <p:cNvSpPr/>
          <p:nvPr/>
        </p:nvSpPr>
        <p:spPr>
          <a:xfrm>
            <a:off x="9784080" y="5029200"/>
            <a:ext cx="1554480" cy="731520"/>
          </a:xfrm>
          <a:prstGeom prst="rect">
            <a:avLst/>
          </a:prstGeom>
          <a:noFill/>
          <a:ln/>
        </p:spPr>
        <p:txBody>
          <a:bodyPr wrap="square" lIns="0" tIns="0" rIns="0" bIns="0" rtlCol="0" anchor="ctr"/>
          <a:lstStyle/>
          <a:p>
            <a:pPr marL="0" indent="0">
              <a:lnSpc>
                <a:spcPts val="1400"/>
              </a:lnSpc>
              <a:buNone/>
            </a:pPr>
            <a:r>
              <a:rPr lang="en-US" sz="1150" dirty="0">
                <a:solidFill>
                  <a:srgbClr val="5B6B7A"/>
                </a:solidFill>
                <a:latin typeface="Arial" pitchFamily="34" charset="0"/>
                <a:ea typeface="Arial" pitchFamily="34" charset="-122"/>
                <a:cs typeface="Arial" pitchFamily="34" charset="-120"/>
              </a:rPr>
              <a:t>Mixed: II one side, III the other</a:t>
            </a:r>
            <a:endParaRPr lang="en-US" sz="1150" dirty="0"/>
          </a:p>
        </p:txBody>
      </p:sp>
      <p:pic>
        <p:nvPicPr>
          <p:cNvPr id="29" name="Image 2" descr="assets/seal.png"/>
          <p:cNvPicPr>
            <a:picLocks noChangeAspect="1"/>
          </p:cNvPicPr>
          <p:nvPr/>
        </p:nvPicPr>
        <p:blipFill>
          <a:blip r:embed="rId5"/>
          <a:stretch>
            <a:fillRect/>
          </a:stretch>
        </p:blipFill>
        <p:spPr>
          <a:xfrm>
            <a:off x="11475720" y="6053328"/>
            <a:ext cx="658368" cy="6583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1F43"/>
        </a:solidFill>
        <a:effectLst/>
      </p:bgPr>
    </p:bg>
    <p:spTree>
      <p:nvGrpSpPr>
        <p:cNvPr id="1" name=""/>
        <p:cNvGrpSpPr/>
        <p:nvPr/>
      </p:nvGrpSpPr>
      <p:grpSpPr>
        <a:xfrm>
          <a:off x="0" y="0"/>
          <a:ext cx="0" cy="0"/>
          <a:chOff x="0" y="0"/>
          <a:chExt cx="0" cy="0"/>
        </a:xfrm>
      </p:grpSpPr>
      <p:sp>
        <p:nvSpPr>
          <p:cNvPr id="2" name="Text 0"/>
          <p:cNvSpPr/>
          <p:nvPr/>
        </p:nvSpPr>
        <p:spPr>
          <a:xfrm>
            <a:off x="640080" y="640080"/>
            <a:ext cx="9144000" cy="274320"/>
          </a:xfrm>
          <a:prstGeom prst="rect">
            <a:avLst/>
          </a:prstGeom>
          <a:noFill/>
          <a:ln/>
        </p:spPr>
        <p:txBody>
          <a:bodyPr wrap="square" rtlCol="0" anchor="ctr"/>
          <a:lstStyle/>
          <a:p>
            <a:pPr marL="0" indent="0">
              <a:buNone/>
            </a:pPr>
            <a:r>
              <a:rPr lang="en-US" sz="1200" b="1" kern="0" spc="300" dirty="0">
                <a:solidFill>
                  <a:srgbClr val="C9962E"/>
                </a:solidFill>
                <a:latin typeface="Arial" pitchFamily="34" charset="0"/>
                <a:ea typeface="Arial" pitchFamily="34" charset="-122"/>
                <a:cs typeface="Arial" pitchFamily="34" charset="-120"/>
              </a:rPr>
              <a:t>GEOMETRY-GROUNDED ARBITRATION</a:t>
            </a:r>
            <a:endParaRPr lang="en-US" sz="1200" dirty="0"/>
          </a:p>
        </p:txBody>
      </p:sp>
      <p:sp>
        <p:nvSpPr>
          <p:cNvPr id="3" name="Text 1"/>
          <p:cNvSpPr/>
          <p:nvPr/>
        </p:nvSpPr>
        <p:spPr>
          <a:xfrm>
            <a:off x="640080" y="1005840"/>
            <a:ext cx="10972800" cy="731520"/>
          </a:xfrm>
          <a:prstGeom prst="rect">
            <a:avLst/>
          </a:prstGeom>
          <a:noFill/>
          <a:ln/>
        </p:spPr>
        <p:txBody>
          <a:bodyPr wrap="square" rtlCol="0" anchor="ctr"/>
          <a:lstStyle/>
          <a:p>
            <a:pPr marL="0" indent="0">
              <a:buNone/>
            </a:pPr>
            <a:r>
              <a:rPr lang="en-US" sz="2900" b="1" dirty="0">
                <a:solidFill>
                  <a:srgbClr val="FFFFFF"/>
                </a:solidFill>
                <a:latin typeface="Georgia" pitchFamily="34" charset="0"/>
                <a:ea typeface="Georgia" pitchFamily="34" charset="-122"/>
                <a:cs typeface="Georgia" pitchFamily="34" charset="-120"/>
              </a:rPr>
              <a:t>An independent referee when the models disagree</a:t>
            </a:r>
            <a:endParaRPr lang="en-US" sz="2900" dirty="0"/>
          </a:p>
        </p:txBody>
      </p:sp>
      <p:sp>
        <p:nvSpPr>
          <p:cNvPr id="4" name="Text 2"/>
          <p:cNvSpPr/>
          <p:nvPr/>
        </p:nvSpPr>
        <p:spPr>
          <a:xfrm>
            <a:off x="640080" y="1874520"/>
            <a:ext cx="6400800" cy="1554480"/>
          </a:xfrm>
          <a:prstGeom prst="rect">
            <a:avLst/>
          </a:prstGeom>
          <a:noFill/>
          <a:ln/>
        </p:spPr>
        <p:txBody>
          <a:bodyPr wrap="square" rtlCol="0" anchor="t"/>
          <a:lstStyle/>
          <a:p>
            <a:pPr marL="0" indent="0">
              <a:lnSpc>
                <a:spcPts val="2300"/>
              </a:lnSpc>
              <a:buNone/>
            </a:pPr>
            <a:r>
              <a:rPr lang="en-US" sz="1500" dirty="0">
                <a:solidFill>
                  <a:srgbClr val="C9D6E5"/>
                </a:solidFill>
                <a:latin typeface="Arial" pitchFamily="34" charset="0"/>
                <a:ea typeface="Arial" pitchFamily="34" charset="-122"/>
                <a:cs typeface="Arial" pitchFamily="34" charset="-120"/>
              </a:rPr>
              <a:t>A vertebral body sits at the midpoint of the two discs that bound it. Using disc centres detected entirely independently of voxel labels, the pipeline infers where each body must be and scores both models against that physics-based reference.</a:t>
            </a:r>
            <a:endParaRPr lang="en-US" sz="1500" dirty="0"/>
          </a:p>
        </p:txBody>
      </p:sp>
      <p:sp>
        <p:nvSpPr>
          <p:cNvPr id="5" name="Shape 3"/>
          <p:cNvSpPr/>
          <p:nvPr/>
        </p:nvSpPr>
        <p:spPr>
          <a:xfrm>
            <a:off x="640080" y="3520440"/>
            <a:ext cx="310896" cy="310896"/>
          </a:xfrm>
          <a:prstGeom prst="ellipse">
            <a:avLst/>
          </a:prstGeom>
          <a:solidFill>
            <a:srgbClr val="C9962E"/>
          </a:solidFill>
          <a:ln/>
        </p:spPr>
        <p:txBody>
          <a:bodyPr/>
          <a:lstStyle/>
          <a:p>
            <a:endParaRPr lang="en-US"/>
          </a:p>
        </p:txBody>
      </p:sp>
      <p:sp>
        <p:nvSpPr>
          <p:cNvPr id="6" name="Text 4"/>
          <p:cNvSpPr/>
          <p:nvPr/>
        </p:nvSpPr>
        <p:spPr>
          <a:xfrm>
            <a:off x="640080" y="3502152"/>
            <a:ext cx="310896" cy="347472"/>
          </a:xfrm>
          <a:prstGeom prst="rect">
            <a:avLst/>
          </a:prstGeom>
          <a:noFill/>
          <a:ln/>
        </p:spPr>
        <p:txBody>
          <a:bodyPr wrap="square" lIns="0" tIns="0" rIns="0" bIns="0" rtlCol="0" anchor="ctr"/>
          <a:lstStyle/>
          <a:p>
            <a:pPr marL="0" indent="0" algn="ctr">
              <a:buNone/>
            </a:pPr>
            <a:r>
              <a:rPr lang="en-US" sz="1500" b="1" dirty="0">
                <a:solidFill>
                  <a:srgbClr val="051F43"/>
                </a:solidFill>
                <a:latin typeface="Arial" pitchFamily="34" charset="0"/>
                <a:ea typeface="Arial" pitchFamily="34" charset="-122"/>
                <a:cs typeface="Arial" pitchFamily="34" charset="-120"/>
              </a:rPr>
              <a:t>✓</a:t>
            </a:r>
            <a:endParaRPr lang="en-US" sz="1500" dirty="0"/>
          </a:p>
        </p:txBody>
      </p:sp>
      <p:sp>
        <p:nvSpPr>
          <p:cNvPr id="7" name="Text 5"/>
          <p:cNvSpPr/>
          <p:nvPr/>
        </p:nvSpPr>
        <p:spPr>
          <a:xfrm>
            <a:off x="1097280" y="3474720"/>
            <a:ext cx="5852160" cy="822960"/>
          </a:xfrm>
          <a:prstGeom prst="rect">
            <a:avLst/>
          </a:prstGeom>
          <a:noFill/>
          <a:ln/>
        </p:spPr>
        <p:txBody>
          <a:bodyPr wrap="square" rtlCol="0" anchor="ctr"/>
          <a:lstStyle/>
          <a:p>
            <a:pPr marL="0" indent="0">
              <a:lnSpc>
                <a:spcPts val="1800"/>
              </a:lnSpc>
              <a:buNone/>
            </a:pPr>
            <a:r>
              <a:rPr lang="en-US" sz="1350" b="1" dirty="0">
                <a:solidFill>
                  <a:srgbClr val="FFFFFF"/>
                </a:solidFill>
                <a:latin typeface="Arial" pitchFamily="34" charset="0"/>
                <a:ea typeface="Arial" pitchFamily="34" charset="-122"/>
                <a:cs typeface="Arial" pitchFamily="34" charset="-120"/>
              </a:rPr>
              <a:t>Model-agnostic  —  </a:t>
            </a:r>
            <a:r>
              <a:rPr lang="en-US" sz="1350" dirty="0">
                <a:solidFill>
                  <a:srgbClr val="AEC2DA"/>
                </a:solidFill>
                <a:latin typeface="Arial" pitchFamily="34" charset="0"/>
                <a:ea typeface="Arial" pitchFamily="34" charset="-122"/>
                <a:cs typeface="Arial" pitchFamily="34" charset="-120"/>
              </a:rPr>
              <a:t>Disc peaks in world-space owe nothing to either segmentation's label boundaries.</a:t>
            </a:r>
            <a:endParaRPr lang="en-US" sz="1350" dirty="0"/>
          </a:p>
        </p:txBody>
      </p:sp>
      <p:sp>
        <p:nvSpPr>
          <p:cNvPr id="8" name="Shape 6"/>
          <p:cNvSpPr/>
          <p:nvPr/>
        </p:nvSpPr>
        <p:spPr>
          <a:xfrm>
            <a:off x="640080" y="4416552"/>
            <a:ext cx="310896" cy="310896"/>
          </a:xfrm>
          <a:prstGeom prst="ellipse">
            <a:avLst/>
          </a:prstGeom>
          <a:solidFill>
            <a:srgbClr val="C9962E"/>
          </a:solidFill>
          <a:ln/>
        </p:spPr>
        <p:txBody>
          <a:bodyPr/>
          <a:lstStyle/>
          <a:p>
            <a:endParaRPr lang="en-US"/>
          </a:p>
        </p:txBody>
      </p:sp>
      <p:sp>
        <p:nvSpPr>
          <p:cNvPr id="9" name="Text 7"/>
          <p:cNvSpPr/>
          <p:nvPr/>
        </p:nvSpPr>
        <p:spPr>
          <a:xfrm>
            <a:off x="640080" y="4398264"/>
            <a:ext cx="310896" cy="347472"/>
          </a:xfrm>
          <a:prstGeom prst="rect">
            <a:avLst/>
          </a:prstGeom>
          <a:noFill/>
          <a:ln/>
        </p:spPr>
        <p:txBody>
          <a:bodyPr wrap="square" lIns="0" tIns="0" rIns="0" bIns="0" rtlCol="0" anchor="ctr"/>
          <a:lstStyle/>
          <a:p>
            <a:pPr marL="0" indent="0" algn="ctr">
              <a:buNone/>
            </a:pPr>
            <a:r>
              <a:rPr lang="en-US" sz="1500" b="1" dirty="0">
                <a:solidFill>
                  <a:srgbClr val="051F43"/>
                </a:solidFill>
                <a:latin typeface="Arial" pitchFamily="34" charset="0"/>
                <a:ea typeface="Arial" pitchFamily="34" charset="-122"/>
                <a:cs typeface="Arial" pitchFamily="34" charset="-120"/>
              </a:rPr>
              <a:t>✓</a:t>
            </a:r>
            <a:endParaRPr lang="en-US" sz="1500" dirty="0"/>
          </a:p>
        </p:txBody>
      </p:sp>
      <p:sp>
        <p:nvSpPr>
          <p:cNvPr id="10" name="Text 8"/>
          <p:cNvSpPr/>
          <p:nvPr/>
        </p:nvSpPr>
        <p:spPr>
          <a:xfrm>
            <a:off x="1097280" y="4370832"/>
            <a:ext cx="5852160" cy="822960"/>
          </a:xfrm>
          <a:prstGeom prst="rect">
            <a:avLst/>
          </a:prstGeom>
          <a:noFill/>
          <a:ln/>
        </p:spPr>
        <p:txBody>
          <a:bodyPr wrap="square" rtlCol="0" anchor="ctr"/>
          <a:lstStyle/>
          <a:p>
            <a:pPr marL="0" indent="0">
              <a:lnSpc>
                <a:spcPts val="1800"/>
              </a:lnSpc>
              <a:buNone/>
            </a:pPr>
            <a:r>
              <a:rPr lang="en-US" sz="1350" b="1" dirty="0">
                <a:solidFill>
                  <a:srgbClr val="FFFFFF"/>
                </a:solidFill>
                <a:latin typeface="Arial" pitchFamily="34" charset="0"/>
                <a:ea typeface="Arial" pitchFamily="34" charset="-122"/>
                <a:cs typeface="Arial" pitchFamily="34" charset="-120"/>
              </a:rPr>
              <a:t>Decisive only when sure  —  </a:t>
            </a:r>
            <a:r>
              <a:rPr lang="en-US" sz="1350" dirty="0">
                <a:solidFill>
                  <a:srgbClr val="AEC2DA"/>
                </a:solidFill>
                <a:latin typeface="Arial" pitchFamily="34" charset="0"/>
                <a:ea typeface="Arial" pitchFamily="34" charset="-122"/>
                <a:cs typeface="Arial" pitchFamily="34" charset="-120"/>
              </a:rPr>
              <a:t>Overrides the Dice offset only when the distance margin exceeds 5 mm.</a:t>
            </a:r>
            <a:endParaRPr lang="en-US" sz="1350" dirty="0"/>
          </a:p>
        </p:txBody>
      </p:sp>
      <p:sp>
        <p:nvSpPr>
          <p:cNvPr id="11" name="Shape 9"/>
          <p:cNvSpPr/>
          <p:nvPr/>
        </p:nvSpPr>
        <p:spPr>
          <a:xfrm>
            <a:off x="640080" y="5312664"/>
            <a:ext cx="310896" cy="310896"/>
          </a:xfrm>
          <a:prstGeom prst="ellipse">
            <a:avLst/>
          </a:prstGeom>
          <a:solidFill>
            <a:srgbClr val="C9962E"/>
          </a:solidFill>
          <a:ln/>
        </p:spPr>
        <p:txBody>
          <a:bodyPr/>
          <a:lstStyle/>
          <a:p>
            <a:endParaRPr lang="en-US"/>
          </a:p>
        </p:txBody>
      </p:sp>
      <p:sp>
        <p:nvSpPr>
          <p:cNvPr id="12" name="Text 10"/>
          <p:cNvSpPr/>
          <p:nvPr/>
        </p:nvSpPr>
        <p:spPr>
          <a:xfrm>
            <a:off x="640080" y="5294376"/>
            <a:ext cx="310896" cy="347472"/>
          </a:xfrm>
          <a:prstGeom prst="rect">
            <a:avLst/>
          </a:prstGeom>
          <a:noFill/>
          <a:ln/>
        </p:spPr>
        <p:txBody>
          <a:bodyPr wrap="square" lIns="0" tIns="0" rIns="0" bIns="0" rtlCol="0" anchor="ctr"/>
          <a:lstStyle/>
          <a:p>
            <a:pPr marL="0" indent="0" algn="ctr">
              <a:buNone/>
            </a:pPr>
            <a:r>
              <a:rPr lang="en-US" sz="1500" b="1" dirty="0">
                <a:solidFill>
                  <a:srgbClr val="051F43"/>
                </a:solidFill>
                <a:latin typeface="Arial" pitchFamily="34" charset="0"/>
                <a:ea typeface="Arial" pitchFamily="34" charset="-122"/>
                <a:cs typeface="Arial" pitchFamily="34" charset="-120"/>
              </a:rPr>
              <a:t>✓</a:t>
            </a:r>
            <a:endParaRPr lang="en-US" sz="1500" dirty="0"/>
          </a:p>
        </p:txBody>
      </p:sp>
      <p:sp>
        <p:nvSpPr>
          <p:cNvPr id="13" name="Text 11"/>
          <p:cNvSpPr/>
          <p:nvPr/>
        </p:nvSpPr>
        <p:spPr>
          <a:xfrm>
            <a:off x="1097280" y="5266944"/>
            <a:ext cx="5852160" cy="822960"/>
          </a:xfrm>
          <a:prstGeom prst="rect">
            <a:avLst/>
          </a:prstGeom>
          <a:noFill/>
          <a:ln/>
        </p:spPr>
        <p:txBody>
          <a:bodyPr wrap="square" rtlCol="0" anchor="ctr"/>
          <a:lstStyle/>
          <a:p>
            <a:pPr marL="0" indent="0">
              <a:lnSpc>
                <a:spcPts val="1800"/>
              </a:lnSpc>
              <a:buNone/>
            </a:pPr>
            <a:r>
              <a:rPr lang="en-US" sz="1350" b="1" dirty="0">
                <a:solidFill>
                  <a:srgbClr val="FFFFFF"/>
                </a:solidFill>
                <a:latin typeface="Arial" pitchFamily="34" charset="0"/>
                <a:ea typeface="Arial" pitchFamily="34" charset="-122"/>
                <a:cs typeface="Arial" pitchFamily="34" charset="-120"/>
              </a:rPr>
              <a:t>Fails gracefully  —  </a:t>
            </a:r>
            <a:r>
              <a:rPr lang="en-US" sz="1350" dirty="0">
                <a:solidFill>
                  <a:srgbClr val="AEC2DA"/>
                </a:solidFill>
                <a:latin typeface="Arial" pitchFamily="34" charset="0"/>
                <a:ea typeface="Arial" pitchFamily="34" charset="-122"/>
                <a:cs typeface="Arial" pitchFamily="34" charset="-120"/>
              </a:rPr>
              <a:t>If discs are missing, arbitration is skipped and the offset result stands.</a:t>
            </a:r>
            <a:endParaRPr lang="en-US" sz="1350" dirty="0"/>
          </a:p>
        </p:txBody>
      </p:sp>
      <p:sp>
        <p:nvSpPr>
          <p:cNvPr id="14" name="Shape 12"/>
          <p:cNvSpPr/>
          <p:nvPr/>
        </p:nvSpPr>
        <p:spPr>
          <a:xfrm>
            <a:off x="7772400" y="1874520"/>
            <a:ext cx="3657600" cy="4297680"/>
          </a:xfrm>
          <a:prstGeom prst="rect">
            <a:avLst/>
          </a:prstGeom>
          <a:solidFill>
            <a:srgbClr val="0C2A52"/>
          </a:solidFill>
          <a:ln w="12700">
            <a:solidFill>
              <a:srgbClr val="C9962E"/>
            </a:solidFill>
            <a:prstDash val="solid"/>
          </a:ln>
        </p:spPr>
        <p:txBody>
          <a:bodyPr/>
          <a:lstStyle/>
          <a:p>
            <a:endParaRPr lang="en-US"/>
          </a:p>
        </p:txBody>
      </p:sp>
      <p:sp>
        <p:nvSpPr>
          <p:cNvPr id="15" name="Text 13"/>
          <p:cNvSpPr/>
          <p:nvPr/>
        </p:nvSpPr>
        <p:spPr>
          <a:xfrm>
            <a:off x="7772400" y="2011680"/>
            <a:ext cx="3657600" cy="320040"/>
          </a:xfrm>
          <a:prstGeom prst="rect">
            <a:avLst/>
          </a:prstGeom>
          <a:noFill/>
          <a:ln/>
        </p:spPr>
        <p:txBody>
          <a:bodyPr wrap="square" rtlCol="0" anchor="ctr"/>
          <a:lstStyle/>
          <a:p>
            <a:pPr marL="0" indent="0" algn="ctr">
              <a:buNone/>
            </a:pPr>
            <a:r>
              <a:rPr lang="en-US" sz="1050" b="1" kern="0" spc="150" dirty="0">
                <a:solidFill>
                  <a:srgbClr val="C9962E"/>
                </a:solidFill>
                <a:latin typeface="Arial" pitchFamily="34" charset="0"/>
                <a:ea typeface="Arial" pitchFamily="34" charset="-122"/>
                <a:cs typeface="Arial" pitchFamily="34" charset="-120"/>
              </a:rPr>
              <a:t>DISC MIDPOINT → INFERRED BODY</a:t>
            </a:r>
            <a:endParaRPr lang="en-US" sz="1050" dirty="0"/>
          </a:p>
        </p:txBody>
      </p:sp>
      <p:sp>
        <p:nvSpPr>
          <p:cNvPr id="16" name="Shape 14"/>
          <p:cNvSpPr/>
          <p:nvPr/>
        </p:nvSpPr>
        <p:spPr>
          <a:xfrm>
            <a:off x="8595360" y="2587752"/>
            <a:ext cx="2011680" cy="384048"/>
          </a:xfrm>
          <a:prstGeom prst="ellipse">
            <a:avLst/>
          </a:prstGeom>
          <a:solidFill>
            <a:srgbClr val="13314F"/>
          </a:solidFill>
          <a:ln w="12700">
            <a:solidFill>
              <a:srgbClr val="3E5C7E"/>
            </a:solidFill>
            <a:prstDash val="solid"/>
          </a:ln>
        </p:spPr>
        <p:txBody>
          <a:bodyPr/>
          <a:lstStyle/>
          <a:p>
            <a:endParaRPr lang="en-US"/>
          </a:p>
        </p:txBody>
      </p:sp>
      <p:sp>
        <p:nvSpPr>
          <p:cNvPr id="17" name="Text 15"/>
          <p:cNvSpPr/>
          <p:nvPr/>
        </p:nvSpPr>
        <p:spPr>
          <a:xfrm>
            <a:off x="8595360" y="2587752"/>
            <a:ext cx="2011680" cy="384048"/>
          </a:xfrm>
          <a:prstGeom prst="rect">
            <a:avLst/>
          </a:prstGeom>
          <a:noFill/>
          <a:ln/>
        </p:spPr>
        <p:txBody>
          <a:bodyPr wrap="square" lIns="0" tIns="0" rIns="0" bIns="0" rtlCol="0" anchor="ctr"/>
          <a:lstStyle/>
          <a:p>
            <a:pPr marL="0" indent="0" algn="ctr">
              <a:buNone/>
            </a:pPr>
            <a:r>
              <a:rPr lang="en-US" sz="1150" i="1" dirty="0">
                <a:solidFill>
                  <a:srgbClr val="AEC2DA"/>
                </a:solidFill>
                <a:latin typeface="Arial" pitchFamily="34" charset="0"/>
                <a:ea typeface="Arial" pitchFamily="34" charset="-122"/>
                <a:cs typeface="Arial" pitchFamily="34" charset="-120"/>
              </a:rPr>
              <a:t>L3 / L4 disc</a:t>
            </a:r>
            <a:endParaRPr lang="en-US" sz="1150" dirty="0"/>
          </a:p>
        </p:txBody>
      </p:sp>
      <p:sp>
        <p:nvSpPr>
          <p:cNvPr id="18" name="Shape 16"/>
          <p:cNvSpPr/>
          <p:nvPr/>
        </p:nvSpPr>
        <p:spPr>
          <a:xfrm>
            <a:off x="8183880" y="3227832"/>
            <a:ext cx="2834640" cy="530352"/>
          </a:xfrm>
          <a:prstGeom prst="rect">
            <a:avLst/>
          </a:prstGeom>
          <a:solidFill>
            <a:srgbClr val="C9962E"/>
          </a:solidFill>
          <a:ln/>
        </p:spPr>
        <p:txBody>
          <a:bodyPr/>
          <a:lstStyle/>
          <a:p>
            <a:endParaRPr lang="en-US"/>
          </a:p>
        </p:txBody>
      </p:sp>
      <p:sp>
        <p:nvSpPr>
          <p:cNvPr id="19" name="Text 17"/>
          <p:cNvSpPr/>
          <p:nvPr/>
        </p:nvSpPr>
        <p:spPr>
          <a:xfrm>
            <a:off x="8183880" y="3227832"/>
            <a:ext cx="2834640" cy="530352"/>
          </a:xfrm>
          <a:prstGeom prst="rect">
            <a:avLst/>
          </a:prstGeom>
          <a:noFill/>
          <a:ln/>
        </p:spPr>
        <p:txBody>
          <a:bodyPr wrap="square" lIns="0" tIns="0" rIns="0" bIns="0" rtlCol="0" anchor="ctr"/>
          <a:lstStyle/>
          <a:p>
            <a:pPr marL="0" indent="0" algn="ctr">
              <a:buNone/>
            </a:pPr>
            <a:r>
              <a:rPr lang="en-US" sz="1300" b="1" dirty="0">
                <a:solidFill>
                  <a:srgbClr val="051F43"/>
                </a:solidFill>
                <a:latin typeface="Arial" pitchFamily="34" charset="0"/>
                <a:ea typeface="Arial" pitchFamily="34" charset="-122"/>
                <a:cs typeface="Arial" pitchFamily="34" charset="-120"/>
              </a:rPr>
              <a:t>L4 vertebral body</a:t>
            </a:r>
            <a:endParaRPr lang="en-US" sz="1300" dirty="0"/>
          </a:p>
        </p:txBody>
      </p:sp>
      <p:sp>
        <p:nvSpPr>
          <p:cNvPr id="20" name="Shape 18"/>
          <p:cNvSpPr/>
          <p:nvPr/>
        </p:nvSpPr>
        <p:spPr>
          <a:xfrm>
            <a:off x="8595360" y="4014216"/>
            <a:ext cx="2011680" cy="384048"/>
          </a:xfrm>
          <a:prstGeom prst="ellipse">
            <a:avLst/>
          </a:prstGeom>
          <a:solidFill>
            <a:srgbClr val="13314F"/>
          </a:solidFill>
          <a:ln w="12700">
            <a:solidFill>
              <a:srgbClr val="3E5C7E"/>
            </a:solidFill>
            <a:prstDash val="solid"/>
          </a:ln>
        </p:spPr>
        <p:txBody>
          <a:bodyPr/>
          <a:lstStyle/>
          <a:p>
            <a:endParaRPr lang="en-US"/>
          </a:p>
        </p:txBody>
      </p:sp>
      <p:sp>
        <p:nvSpPr>
          <p:cNvPr id="21" name="Text 19"/>
          <p:cNvSpPr/>
          <p:nvPr/>
        </p:nvSpPr>
        <p:spPr>
          <a:xfrm>
            <a:off x="8595360" y="4014216"/>
            <a:ext cx="2011680" cy="384048"/>
          </a:xfrm>
          <a:prstGeom prst="rect">
            <a:avLst/>
          </a:prstGeom>
          <a:noFill/>
          <a:ln/>
        </p:spPr>
        <p:txBody>
          <a:bodyPr wrap="square" lIns="0" tIns="0" rIns="0" bIns="0" rtlCol="0" anchor="ctr"/>
          <a:lstStyle/>
          <a:p>
            <a:pPr marL="0" indent="0" algn="ctr">
              <a:buNone/>
            </a:pPr>
            <a:r>
              <a:rPr lang="en-US" sz="1150" i="1" dirty="0">
                <a:solidFill>
                  <a:srgbClr val="AEC2DA"/>
                </a:solidFill>
                <a:latin typeface="Arial" pitchFamily="34" charset="0"/>
                <a:ea typeface="Arial" pitchFamily="34" charset="-122"/>
                <a:cs typeface="Arial" pitchFamily="34" charset="-120"/>
              </a:rPr>
              <a:t>L4 / L5 disc</a:t>
            </a:r>
            <a:endParaRPr lang="en-US" sz="1150" dirty="0"/>
          </a:p>
        </p:txBody>
      </p:sp>
      <p:sp>
        <p:nvSpPr>
          <p:cNvPr id="22" name="Shape 20"/>
          <p:cNvSpPr/>
          <p:nvPr/>
        </p:nvSpPr>
        <p:spPr>
          <a:xfrm>
            <a:off x="8183880" y="4654296"/>
            <a:ext cx="2834640" cy="530352"/>
          </a:xfrm>
          <a:prstGeom prst="rect">
            <a:avLst/>
          </a:prstGeom>
          <a:solidFill>
            <a:srgbClr val="C9962E"/>
          </a:solidFill>
          <a:ln/>
        </p:spPr>
        <p:txBody>
          <a:bodyPr/>
          <a:lstStyle/>
          <a:p>
            <a:endParaRPr lang="en-US"/>
          </a:p>
        </p:txBody>
      </p:sp>
      <p:sp>
        <p:nvSpPr>
          <p:cNvPr id="23" name="Text 21"/>
          <p:cNvSpPr/>
          <p:nvPr/>
        </p:nvSpPr>
        <p:spPr>
          <a:xfrm>
            <a:off x="8183880" y="4654296"/>
            <a:ext cx="2834640" cy="530352"/>
          </a:xfrm>
          <a:prstGeom prst="rect">
            <a:avLst/>
          </a:prstGeom>
          <a:noFill/>
          <a:ln/>
        </p:spPr>
        <p:txBody>
          <a:bodyPr wrap="square" lIns="0" tIns="0" rIns="0" bIns="0" rtlCol="0" anchor="ctr"/>
          <a:lstStyle/>
          <a:p>
            <a:pPr marL="0" indent="0" algn="ctr">
              <a:buNone/>
            </a:pPr>
            <a:r>
              <a:rPr lang="en-US" sz="1300" b="1" dirty="0">
                <a:solidFill>
                  <a:srgbClr val="051F43"/>
                </a:solidFill>
                <a:latin typeface="Arial" pitchFamily="34" charset="0"/>
                <a:ea typeface="Arial" pitchFamily="34" charset="-122"/>
                <a:cs typeface="Arial" pitchFamily="34" charset="-120"/>
              </a:rPr>
              <a:t>L5 vertebral body</a:t>
            </a:r>
            <a:endParaRPr lang="en-US" sz="1300" dirty="0"/>
          </a:p>
        </p:txBody>
      </p:sp>
      <p:sp>
        <p:nvSpPr>
          <p:cNvPr id="24" name="Shape 22"/>
          <p:cNvSpPr/>
          <p:nvPr/>
        </p:nvSpPr>
        <p:spPr>
          <a:xfrm>
            <a:off x="8595360" y="5440680"/>
            <a:ext cx="2011680" cy="384048"/>
          </a:xfrm>
          <a:prstGeom prst="ellipse">
            <a:avLst/>
          </a:prstGeom>
          <a:solidFill>
            <a:srgbClr val="13314F"/>
          </a:solidFill>
          <a:ln w="12700">
            <a:solidFill>
              <a:srgbClr val="3E5C7E"/>
            </a:solidFill>
            <a:prstDash val="solid"/>
          </a:ln>
        </p:spPr>
        <p:txBody>
          <a:bodyPr/>
          <a:lstStyle/>
          <a:p>
            <a:endParaRPr lang="en-US"/>
          </a:p>
        </p:txBody>
      </p:sp>
      <p:sp>
        <p:nvSpPr>
          <p:cNvPr id="25" name="Text 23"/>
          <p:cNvSpPr/>
          <p:nvPr/>
        </p:nvSpPr>
        <p:spPr>
          <a:xfrm>
            <a:off x="8595360" y="5440680"/>
            <a:ext cx="2011680" cy="384048"/>
          </a:xfrm>
          <a:prstGeom prst="rect">
            <a:avLst/>
          </a:prstGeom>
          <a:noFill/>
          <a:ln/>
        </p:spPr>
        <p:txBody>
          <a:bodyPr wrap="square" lIns="0" tIns="0" rIns="0" bIns="0" rtlCol="0" anchor="ctr"/>
          <a:lstStyle/>
          <a:p>
            <a:pPr marL="0" indent="0" algn="ctr">
              <a:buNone/>
            </a:pPr>
            <a:r>
              <a:rPr lang="en-US" sz="1150" i="1" dirty="0">
                <a:solidFill>
                  <a:srgbClr val="AEC2DA"/>
                </a:solidFill>
                <a:latin typeface="Arial" pitchFamily="34" charset="0"/>
                <a:ea typeface="Arial" pitchFamily="34" charset="-122"/>
                <a:cs typeface="Arial" pitchFamily="34" charset="-120"/>
              </a:rPr>
              <a:t>L5 / S1 disc</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AT THE TABLE  ·  HANDS-ON DEMO</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An interactive 3D report for every study</a:t>
            </a:r>
            <a:endParaRPr lang="en-US" sz="3000" dirty="0"/>
          </a:p>
        </p:txBody>
      </p:sp>
      <p:sp>
        <p:nvSpPr>
          <p:cNvPr id="4" name="Text 2"/>
          <p:cNvSpPr/>
          <p:nvPr/>
        </p:nvSpPr>
        <p:spPr>
          <a:xfrm>
            <a:off x="640080" y="1691640"/>
            <a:ext cx="10789920" cy="457200"/>
          </a:xfrm>
          <a:prstGeom prst="rect">
            <a:avLst/>
          </a:prstGeom>
          <a:noFill/>
          <a:ln/>
        </p:spPr>
        <p:txBody>
          <a:bodyPr wrap="square" rtlCol="0" anchor="ctr"/>
          <a:lstStyle/>
          <a:p>
            <a:pPr marL="0" indent="0">
              <a:buNone/>
            </a:pPr>
            <a:r>
              <a:rPr lang="en-US" sz="1500" i="1" dirty="0">
                <a:solidFill>
                  <a:srgbClr val="0E5E6B"/>
                </a:solidFill>
                <a:latin typeface="Arial" pitchFamily="34" charset="0"/>
                <a:ea typeface="Arial" pitchFamily="34" charset="-122"/>
                <a:cs typeface="Arial" pitchFamily="34" charset="-120"/>
              </a:rPr>
              <a:t>Each case renders to a self-contained 3D viewer — come spin one through every camera preset.</a:t>
            </a:r>
            <a:endParaRPr lang="en-US" sz="1500" dirty="0"/>
          </a:p>
        </p:txBody>
      </p:sp>
      <p:sp>
        <p:nvSpPr>
          <p:cNvPr id="5" name="Shape 3"/>
          <p:cNvSpPr/>
          <p:nvPr/>
        </p:nvSpPr>
        <p:spPr>
          <a:xfrm>
            <a:off x="640080" y="2286000"/>
            <a:ext cx="5212080" cy="1051560"/>
          </a:xfrm>
          <a:prstGeom prst="rect">
            <a:avLst/>
          </a:prstGeom>
          <a:solidFill>
            <a:srgbClr val="EEF1F4"/>
          </a:solidFill>
          <a:ln/>
        </p:spPr>
        <p:txBody>
          <a:bodyPr/>
          <a:lstStyle/>
          <a:p>
            <a:endParaRPr lang="en-US"/>
          </a:p>
        </p:txBody>
      </p:sp>
      <p:sp>
        <p:nvSpPr>
          <p:cNvPr id="6" name="Shape 4"/>
          <p:cNvSpPr/>
          <p:nvPr/>
        </p:nvSpPr>
        <p:spPr>
          <a:xfrm>
            <a:off x="640080" y="2286000"/>
            <a:ext cx="82296" cy="1051560"/>
          </a:xfrm>
          <a:prstGeom prst="rect">
            <a:avLst/>
          </a:prstGeom>
          <a:solidFill>
            <a:srgbClr val="C9962E"/>
          </a:solidFill>
          <a:ln/>
        </p:spPr>
        <p:txBody>
          <a:bodyPr/>
          <a:lstStyle/>
          <a:p>
            <a:endParaRPr lang="en-US"/>
          </a:p>
        </p:txBody>
      </p:sp>
      <p:sp>
        <p:nvSpPr>
          <p:cNvPr id="7" name="Text 5"/>
          <p:cNvSpPr/>
          <p:nvPr/>
        </p:nvSpPr>
        <p:spPr>
          <a:xfrm>
            <a:off x="914400" y="240487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Phenotype banner</a:t>
            </a:r>
            <a:endParaRPr lang="en-US" sz="1450" dirty="0"/>
          </a:p>
        </p:txBody>
      </p:sp>
      <p:sp>
        <p:nvSpPr>
          <p:cNvPr id="8" name="Text 6"/>
          <p:cNvSpPr/>
          <p:nvPr/>
        </p:nvSpPr>
        <p:spPr>
          <a:xfrm>
            <a:off x="914400" y="274320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Colour-coded sacralization / lumbarization / normal call, front and centre.</a:t>
            </a:r>
            <a:endParaRPr lang="en-US" sz="1250" dirty="0"/>
          </a:p>
        </p:txBody>
      </p:sp>
      <p:sp>
        <p:nvSpPr>
          <p:cNvPr id="9" name="Shape 7"/>
          <p:cNvSpPr/>
          <p:nvPr/>
        </p:nvSpPr>
        <p:spPr>
          <a:xfrm>
            <a:off x="6126480" y="2286000"/>
            <a:ext cx="5212080" cy="1051560"/>
          </a:xfrm>
          <a:prstGeom prst="rect">
            <a:avLst/>
          </a:prstGeom>
          <a:solidFill>
            <a:srgbClr val="EEF1F4"/>
          </a:solidFill>
          <a:ln/>
        </p:spPr>
        <p:txBody>
          <a:bodyPr/>
          <a:lstStyle/>
          <a:p>
            <a:endParaRPr lang="en-US"/>
          </a:p>
        </p:txBody>
      </p:sp>
      <p:sp>
        <p:nvSpPr>
          <p:cNvPr id="10" name="Shape 8"/>
          <p:cNvSpPr/>
          <p:nvPr/>
        </p:nvSpPr>
        <p:spPr>
          <a:xfrm>
            <a:off x="6126480" y="2286000"/>
            <a:ext cx="82296" cy="1051560"/>
          </a:xfrm>
          <a:prstGeom prst="rect">
            <a:avLst/>
          </a:prstGeom>
          <a:solidFill>
            <a:srgbClr val="C9962E"/>
          </a:solidFill>
          <a:ln/>
        </p:spPr>
        <p:txBody>
          <a:bodyPr/>
          <a:lstStyle/>
          <a:p>
            <a:endParaRPr lang="en-US"/>
          </a:p>
        </p:txBody>
      </p:sp>
      <p:sp>
        <p:nvSpPr>
          <p:cNvPr id="11" name="Text 9"/>
          <p:cNvSpPr/>
          <p:nvPr/>
        </p:nvSpPr>
        <p:spPr>
          <a:xfrm>
            <a:off x="6400800" y="240487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TP height rulers</a:t>
            </a:r>
            <a:endParaRPr lang="en-US" sz="1450" dirty="0"/>
          </a:p>
        </p:txBody>
      </p:sp>
      <p:sp>
        <p:nvSpPr>
          <p:cNvPr id="12" name="Text 10"/>
          <p:cNvSpPr/>
          <p:nvPr/>
        </p:nvSpPr>
        <p:spPr>
          <a:xfrm>
            <a:off x="6400800" y="274320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PCA-derived craniocaudal extent drawn on the 3D mesh, flagged at ≥ 19 mm.</a:t>
            </a:r>
            <a:endParaRPr lang="en-US" sz="1250" dirty="0"/>
          </a:p>
        </p:txBody>
      </p:sp>
      <p:sp>
        <p:nvSpPr>
          <p:cNvPr id="13" name="Shape 11"/>
          <p:cNvSpPr/>
          <p:nvPr/>
        </p:nvSpPr>
        <p:spPr>
          <a:xfrm>
            <a:off x="640080" y="3474720"/>
            <a:ext cx="5212080" cy="1051560"/>
          </a:xfrm>
          <a:prstGeom prst="rect">
            <a:avLst/>
          </a:prstGeom>
          <a:solidFill>
            <a:srgbClr val="EEF1F4"/>
          </a:solidFill>
          <a:ln/>
        </p:spPr>
        <p:txBody>
          <a:bodyPr/>
          <a:lstStyle/>
          <a:p>
            <a:endParaRPr lang="en-US"/>
          </a:p>
        </p:txBody>
      </p:sp>
      <p:sp>
        <p:nvSpPr>
          <p:cNvPr id="14" name="Shape 12"/>
          <p:cNvSpPr/>
          <p:nvPr/>
        </p:nvSpPr>
        <p:spPr>
          <a:xfrm>
            <a:off x="640080" y="3474720"/>
            <a:ext cx="82296" cy="1051560"/>
          </a:xfrm>
          <a:prstGeom prst="rect">
            <a:avLst/>
          </a:prstGeom>
          <a:solidFill>
            <a:srgbClr val="C9962E"/>
          </a:solidFill>
          <a:ln/>
        </p:spPr>
        <p:txBody>
          <a:bodyPr/>
          <a:lstStyle/>
          <a:p>
            <a:endParaRPr lang="en-US"/>
          </a:p>
        </p:txBody>
      </p:sp>
      <p:sp>
        <p:nvSpPr>
          <p:cNvPr id="15" name="Text 13"/>
          <p:cNvSpPr/>
          <p:nvPr/>
        </p:nvSpPr>
        <p:spPr>
          <a:xfrm>
            <a:off x="914400" y="359359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TP–sacrum gap</a:t>
            </a:r>
            <a:endParaRPr lang="en-US" sz="1450" dirty="0"/>
          </a:p>
        </p:txBody>
      </p:sp>
      <p:sp>
        <p:nvSpPr>
          <p:cNvPr id="16" name="Text 14"/>
          <p:cNvSpPr/>
          <p:nvPr/>
        </p:nvSpPr>
        <p:spPr>
          <a:xfrm>
            <a:off x="914400" y="393192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Dashed contact line; turns red when the gap drops to ≤ 2 mm.</a:t>
            </a:r>
            <a:endParaRPr lang="en-US" sz="1250" dirty="0"/>
          </a:p>
        </p:txBody>
      </p:sp>
      <p:sp>
        <p:nvSpPr>
          <p:cNvPr id="17" name="Shape 15"/>
          <p:cNvSpPr/>
          <p:nvPr/>
        </p:nvSpPr>
        <p:spPr>
          <a:xfrm>
            <a:off x="6126480" y="3474720"/>
            <a:ext cx="5212080" cy="1051560"/>
          </a:xfrm>
          <a:prstGeom prst="rect">
            <a:avLst/>
          </a:prstGeom>
          <a:solidFill>
            <a:srgbClr val="EEF1F4"/>
          </a:solidFill>
          <a:ln/>
        </p:spPr>
        <p:txBody>
          <a:bodyPr/>
          <a:lstStyle/>
          <a:p>
            <a:endParaRPr lang="en-US"/>
          </a:p>
        </p:txBody>
      </p:sp>
      <p:sp>
        <p:nvSpPr>
          <p:cNvPr id="18" name="Shape 16"/>
          <p:cNvSpPr/>
          <p:nvPr/>
        </p:nvSpPr>
        <p:spPr>
          <a:xfrm>
            <a:off x="6126480" y="3474720"/>
            <a:ext cx="82296" cy="1051560"/>
          </a:xfrm>
          <a:prstGeom prst="rect">
            <a:avLst/>
          </a:prstGeom>
          <a:solidFill>
            <a:srgbClr val="C9962E"/>
          </a:solidFill>
          <a:ln/>
        </p:spPr>
        <p:txBody>
          <a:bodyPr/>
          <a:lstStyle/>
          <a:p>
            <a:endParaRPr lang="en-US"/>
          </a:p>
        </p:txBody>
      </p:sp>
      <p:sp>
        <p:nvSpPr>
          <p:cNvPr id="19" name="Text 17"/>
          <p:cNvSpPr/>
          <p:nvPr/>
        </p:nvSpPr>
        <p:spPr>
          <a:xfrm>
            <a:off x="6400800" y="359359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Body-shape readout</a:t>
            </a:r>
            <a:endParaRPr lang="en-US" sz="1450" dirty="0"/>
          </a:p>
        </p:txBody>
      </p:sp>
      <p:sp>
        <p:nvSpPr>
          <p:cNvPr id="20" name="Text 18"/>
          <p:cNvSpPr/>
          <p:nvPr/>
        </p:nvSpPr>
        <p:spPr>
          <a:xfrm>
            <a:off x="6400800" y="393192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H/AP ratio annotated against the published lumbar-vs-sacral thresholds.</a:t>
            </a:r>
            <a:endParaRPr lang="en-US" sz="1250" dirty="0"/>
          </a:p>
        </p:txBody>
      </p:sp>
      <p:sp>
        <p:nvSpPr>
          <p:cNvPr id="21" name="Shape 19"/>
          <p:cNvSpPr/>
          <p:nvPr/>
        </p:nvSpPr>
        <p:spPr>
          <a:xfrm>
            <a:off x="640080" y="4663440"/>
            <a:ext cx="5212080" cy="1051560"/>
          </a:xfrm>
          <a:prstGeom prst="rect">
            <a:avLst/>
          </a:prstGeom>
          <a:solidFill>
            <a:srgbClr val="EEF1F4"/>
          </a:solidFill>
          <a:ln/>
        </p:spPr>
        <p:txBody>
          <a:bodyPr/>
          <a:lstStyle/>
          <a:p>
            <a:endParaRPr lang="en-US"/>
          </a:p>
        </p:txBody>
      </p:sp>
      <p:sp>
        <p:nvSpPr>
          <p:cNvPr id="22" name="Shape 20"/>
          <p:cNvSpPr/>
          <p:nvPr/>
        </p:nvSpPr>
        <p:spPr>
          <a:xfrm>
            <a:off x="640080" y="4663440"/>
            <a:ext cx="82296" cy="1051560"/>
          </a:xfrm>
          <a:prstGeom prst="rect">
            <a:avLst/>
          </a:prstGeom>
          <a:solidFill>
            <a:srgbClr val="C9962E"/>
          </a:solidFill>
          <a:ln/>
        </p:spPr>
        <p:txBody>
          <a:bodyPr/>
          <a:lstStyle/>
          <a:p>
            <a:endParaRPr lang="en-US"/>
          </a:p>
        </p:txBody>
      </p:sp>
      <p:sp>
        <p:nvSpPr>
          <p:cNvPr id="23" name="Text 21"/>
          <p:cNvSpPr/>
          <p:nvPr/>
        </p:nvSpPr>
        <p:spPr>
          <a:xfrm>
            <a:off x="914400" y="478231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DHI disc strip</a:t>
            </a:r>
            <a:endParaRPr lang="en-US" sz="1450" dirty="0"/>
          </a:p>
        </p:txBody>
      </p:sp>
      <p:sp>
        <p:nvSpPr>
          <p:cNvPr id="24" name="Text 22"/>
          <p:cNvSpPr/>
          <p:nvPr/>
        </p:nvSpPr>
        <p:spPr>
          <a:xfrm>
            <a:off x="914400" y="512064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Disc heights above and below the transitional vertebra, graded by colour.</a:t>
            </a:r>
            <a:endParaRPr lang="en-US" sz="1250" dirty="0"/>
          </a:p>
        </p:txBody>
      </p:sp>
      <p:sp>
        <p:nvSpPr>
          <p:cNvPr id="25" name="Shape 23"/>
          <p:cNvSpPr/>
          <p:nvPr/>
        </p:nvSpPr>
        <p:spPr>
          <a:xfrm>
            <a:off x="6126480" y="4663440"/>
            <a:ext cx="5212080" cy="1051560"/>
          </a:xfrm>
          <a:prstGeom prst="rect">
            <a:avLst/>
          </a:prstGeom>
          <a:solidFill>
            <a:srgbClr val="EEF1F4"/>
          </a:solidFill>
          <a:ln/>
        </p:spPr>
        <p:txBody>
          <a:bodyPr/>
          <a:lstStyle/>
          <a:p>
            <a:endParaRPr lang="en-US"/>
          </a:p>
        </p:txBody>
      </p:sp>
      <p:sp>
        <p:nvSpPr>
          <p:cNvPr id="26" name="Shape 24"/>
          <p:cNvSpPr/>
          <p:nvPr/>
        </p:nvSpPr>
        <p:spPr>
          <a:xfrm>
            <a:off x="6126480" y="4663440"/>
            <a:ext cx="82296" cy="1051560"/>
          </a:xfrm>
          <a:prstGeom prst="rect">
            <a:avLst/>
          </a:prstGeom>
          <a:solidFill>
            <a:srgbClr val="C9962E"/>
          </a:solidFill>
          <a:ln/>
        </p:spPr>
        <p:txBody>
          <a:bodyPr/>
          <a:lstStyle/>
          <a:p>
            <a:endParaRPr lang="en-US"/>
          </a:p>
        </p:txBody>
      </p:sp>
      <p:sp>
        <p:nvSpPr>
          <p:cNvPr id="27" name="Text 25"/>
          <p:cNvSpPr/>
          <p:nvPr/>
        </p:nvSpPr>
        <p:spPr>
          <a:xfrm>
            <a:off x="6400800" y="4782312"/>
            <a:ext cx="4754880" cy="365760"/>
          </a:xfrm>
          <a:prstGeom prst="rect">
            <a:avLst/>
          </a:prstGeom>
          <a:noFill/>
          <a:ln/>
        </p:spPr>
        <p:txBody>
          <a:bodyPr wrap="square" lIns="0" tIns="0" rIns="0" bIns="0" rtlCol="0" anchor="ctr"/>
          <a:lstStyle/>
          <a:p>
            <a:pPr marL="0" indent="0">
              <a:buNone/>
            </a:pPr>
            <a:r>
              <a:rPr lang="en-US" sz="1450" b="1" dirty="0">
                <a:solidFill>
                  <a:srgbClr val="051F43"/>
                </a:solidFill>
                <a:latin typeface="Arial" pitchFamily="34" charset="0"/>
                <a:ea typeface="Arial" pitchFamily="34" charset="-122"/>
                <a:cs typeface="Arial" pitchFamily="34" charset="-120"/>
              </a:rPr>
              <a:t>Reasoning panels</a:t>
            </a:r>
            <a:endParaRPr lang="en-US" sz="1450" dirty="0"/>
          </a:p>
        </p:txBody>
      </p:sp>
      <p:sp>
        <p:nvSpPr>
          <p:cNvPr id="28" name="Text 26"/>
          <p:cNvSpPr/>
          <p:nvPr/>
        </p:nvSpPr>
        <p:spPr>
          <a:xfrm>
            <a:off x="6400800" y="5120640"/>
            <a:ext cx="4754880" cy="548640"/>
          </a:xfrm>
          <a:prstGeom prst="rect">
            <a:avLst/>
          </a:prstGeom>
          <a:noFill/>
          <a:ln/>
        </p:spPr>
        <p:txBody>
          <a:bodyPr wrap="square" lIns="0" tIns="0" rIns="0" bIns="0" rtlCol="0" anchor="t"/>
          <a:lstStyle/>
          <a:p>
            <a:pPr marL="0" indent="0">
              <a:lnSpc>
                <a:spcPts val="1600"/>
              </a:lnSpc>
              <a:buNone/>
            </a:pPr>
            <a:r>
              <a:rPr lang="en-US" sz="1250" dirty="0">
                <a:solidFill>
                  <a:srgbClr val="5B6B7A"/>
                </a:solidFill>
                <a:latin typeface="Arial" pitchFamily="34" charset="0"/>
                <a:ea typeface="Arial" pitchFamily="34" charset="-122"/>
                <a:cs typeface="Arial" pitchFamily="34" charset="-120"/>
              </a:rPr>
              <a:t>Every criterion that fired, written out in radiologic language.</a:t>
            </a:r>
            <a:endParaRPr lang="en-US" sz="1250" dirty="0"/>
          </a:p>
        </p:txBody>
      </p:sp>
      <p:pic>
        <p:nvPicPr>
          <p:cNvPr id="29" name="Image 0" descr="assets/seal.png"/>
          <p:cNvPicPr>
            <a:picLocks noChangeAspect="1"/>
          </p:cNvPicPr>
          <p:nvPr/>
        </p:nvPicPr>
        <p:blipFill>
          <a:blip r:embed="rId3"/>
          <a:stretch>
            <a:fillRect/>
          </a:stretch>
        </p:blipFill>
        <p:spPr>
          <a:xfrm>
            <a:off x="11475720" y="6053328"/>
            <a:ext cx="658368" cy="6583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CF1DBC2E-9033-8B3A-C938-1C6137B00041}"/>
              </a:ext>
            </a:extLst>
          </p:cNvPr>
          <p:cNvPicPr>
            <a:picLocks noChangeAspect="1"/>
          </p:cNvPicPr>
          <p:nvPr/>
        </p:nvPicPr>
        <p:blipFill>
          <a:blip r:embed="rId2"/>
          <a:srcRect l="2826" r="16714" b="-1"/>
          <a:stretch>
            <a:fillRect/>
          </a:stretch>
        </p:blipFill>
        <p:spPr>
          <a:xfrm>
            <a:off x="20" y="1282"/>
            <a:ext cx="12191980" cy="6856718"/>
          </a:xfrm>
          <a:prstGeom prst="rect">
            <a:avLst/>
          </a:prstGeom>
        </p:spPr>
      </p:pic>
    </p:spTree>
    <p:extLst>
      <p:ext uri="{BB962C8B-B14F-4D97-AF65-F5344CB8AC3E}">
        <p14:creationId xmlns:p14="http://schemas.microsoft.com/office/powerpoint/2010/main" val="1785115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0C1ED4-C2C2-B7D0-B642-A1B9AE203DEC}"/>
              </a:ext>
            </a:extLst>
          </p:cNvPr>
          <p:cNvPicPr>
            <a:picLocks noChangeAspect="1"/>
          </p:cNvPicPr>
          <p:nvPr/>
        </p:nvPicPr>
        <p:blipFill>
          <a:blip r:embed="rId2"/>
          <a:stretch>
            <a:fillRect/>
          </a:stretch>
        </p:blipFill>
        <p:spPr>
          <a:xfrm>
            <a:off x="643467" y="1084409"/>
            <a:ext cx="10905066" cy="4689180"/>
          </a:xfrm>
          <a:prstGeom prst="rect">
            <a:avLst/>
          </a:prstGeom>
        </p:spPr>
      </p:pic>
    </p:spTree>
    <p:extLst>
      <p:ext uri="{BB962C8B-B14F-4D97-AF65-F5344CB8AC3E}">
        <p14:creationId xmlns:p14="http://schemas.microsoft.com/office/powerpoint/2010/main" val="3894258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0C3A59-8FE7-86CB-BCBE-790D62842182}"/>
              </a:ext>
            </a:extLst>
          </p:cNvPr>
          <p:cNvPicPr>
            <a:picLocks noChangeAspect="1"/>
          </p:cNvPicPr>
          <p:nvPr/>
        </p:nvPicPr>
        <p:blipFill>
          <a:blip r:embed="rId2"/>
          <a:stretch>
            <a:fillRect/>
          </a:stretch>
        </p:blipFill>
        <p:spPr>
          <a:xfrm>
            <a:off x="643467" y="1166198"/>
            <a:ext cx="10905066" cy="4525603"/>
          </a:xfrm>
          <a:prstGeom prst="rect">
            <a:avLst/>
          </a:prstGeom>
        </p:spPr>
      </p:pic>
    </p:spTree>
    <p:extLst>
      <p:ext uri="{BB962C8B-B14F-4D97-AF65-F5344CB8AC3E}">
        <p14:creationId xmlns:p14="http://schemas.microsoft.com/office/powerpoint/2010/main" val="2996435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4CD5CC-8687-624D-D9AE-6F6B643DBD8D}"/>
              </a:ext>
            </a:extLst>
          </p:cNvPr>
          <p:cNvPicPr>
            <a:picLocks noChangeAspect="1"/>
          </p:cNvPicPr>
          <p:nvPr/>
        </p:nvPicPr>
        <p:blipFill>
          <a:blip r:embed="rId2"/>
          <a:stretch>
            <a:fillRect/>
          </a:stretch>
        </p:blipFill>
        <p:spPr>
          <a:xfrm>
            <a:off x="643467" y="1016255"/>
            <a:ext cx="10905066" cy="4825488"/>
          </a:xfrm>
          <a:prstGeom prst="rect">
            <a:avLst/>
          </a:prstGeom>
        </p:spPr>
      </p:pic>
    </p:spTree>
    <p:extLst>
      <p:ext uri="{BB962C8B-B14F-4D97-AF65-F5344CB8AC3E}">
        <p14:creationId xmlns:p14="http://schemas.microsoft.com/office/powerpoint/2010/main" val="3949093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CA1C4E-0A53-91F5-90DE-2BA0849B3556}"/>
              </a:ext>
            </a:extLst>
          </p:cNvPr>
          <p:cNvPicPr>
            <a:picLocks noChangeAspect="1"/>
          </p:cNvPicPr>
          <p:nvPr/>
        </p:nvPicPr>
        <p:blipFill>
          <a:blip r:embed="rId2"/>
          <a:stretch>
            <a:fillRect/>
          </a:stretch>
        </p:blipFill>
        <p:spPr>
          <a:xfrm>
            <a:off x="643467" y="1220725"/>
            <a:ext cx="10905066" cy="4416548"/>
          </a:xfrm>
          <a:prstGeom prst="rect">
            <a:avLst/>
          </a:prstGeom>
        </p:spPr>
      </p:pic>
    </p:spTree>
    <p:extLst>
      <p:ext uri="{BB962C8B-B14F-4D97-AF65-F5344CB8AC3E}">
        <p14:creationId xmlns:p14="http://schemas.microsoft.com/office/powerpoint/2010/main" val="593573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rtlCol="0" anchor="ctr"/>
          <a:lstStyle/>
          <a:p>
            <a:pPr marL="0" indent="0" algn="l">
              <a:buNone/>
            </a:pPr>
            <a:r>
              <a:rPr lang="en-US" sz="1200" b="1" kern="0" spc="300" dirty="0">
                <a:solidFill>
                  <a:srgbClr val="C9962E"/>
                </a:solidFill>
                <a:latin typeface="Arial" pitchFamily="34" charset="0"/>
                <a:ea typeface="Arial" pitchFamily="34" charset="-122"/>
                <a:cs typeface="Arial" pitchFamily="34" charset="-120"/>
              </a:rPr>
              <a:t>WHERE IT STANDS</a:t>
            </a:r>
            <a:endParaRPr lang="en-US" sz="1200" dirty="0"/>
          </a:p>
        </p:txBody>
      </p:sp>
      <p:sp>
        <p:nvSpPr>
          <p:cNvPr id="3" name="Text 1"/>
          <p:cNvSpPr/>
          <p:nvPr/>
        </p:nvSpPr>
        <p:spPr>
          <a:xfrm>
            <a:off x="640080" y="841248"/>
            <a:ext cx="10607040" cy="868680"/>
          </a:xfrm>
          <a:prstGeom prst="rect">
            <a:avLst/>
          </a:prstGeom>
          <a:noFill/>
          <a:ln/>
        </p:spPr>
        <p:txBody>
          <a:bodyPr wrap="square" rtlCol="0" anchor="t"/>
          <a:lstStyle/>
          <a:p>
            <a:pPr marL="0" indent="0" algn="l">
              <a:lnSpc>
                <a:spcPts val="3200"/>
              </a:lnSpc>
              <a:buNone/>
            </a:pPr>
            <a:r>
              <a:rPr lang="en-US" sz="3000" b="1" dirty="0">
                <a:solidFill>
                  <a:srgbClr val="051F43"/>
                </a:solidFill>
                <a:latin typeface="Georgia" pitchFamily="34" charset="0"/>
                <a:ea typeface="Georgia" pitchFamily="34" charset="-122"/>
                <a:cs typeface="Georgia" pitchFamily="34" charset="-120"/>
              </a:rPr>
              <a:t>An honest accuracy assessment</a:t>
            </a:r>
            <a:endParaRPr lang="en-US" sz="3000" dirty="0"/>
          </a:p>
        </p:txBody>
      </p:sp>
      <p:sp>
        <p:nvSpPr>
          <p:cNvPr id="4" name="Text 2"/>
          <p:cNvSpPr/>
          <p:nvPr/>
        </p:nvSpPr>
        <p:spPr>
          <a:xfrm>
            <a:off x="640080" y="1691640"/>
            <a:ext cx="10789920" cy="365760"/>
          </a:xfrm>
          <a:prstGeom prst="rect">
            <a:avLst/>
          </a:prstGeom>
          <a:noFill/>
          <a:ln/>
        </p:spPr>
        <p:txBody>
          <a:bodyPr wrap="square" rtlCol="0" anchor="ctr"/>
          <a:lstStyle/>
          <a:p>
            <a:pPr marL="0" indent="0">
              <a:buNone/>
            </a:pPr>
            <a:r>
              <a:rPr lang="en-US" sz="1350" i="1" dirty="0">
                <a:solidFill>
                  <a:srgbClr val="5B6B7A"/>
                </a:solidFill>
                <a:latin typeface="Arial" pitchFamily="34" charset="0"/>
                <a:ea typeface="Arial" pitchFamily="34" charset="-122"/>
                <a:cs typeface="Arial" pitchFamily="34" charset="-120"/>
              </a:rPr>
              <a:t>Literature-derived estimates — thresholds are not yet calibrated against CT ground truth.</a:t>
            </a:r>
            <a:endParaRPr lang="en-US" sz="1350" dirty="0"/>
          </a:p>
        </p:txBody>
      </p:sp>
      <p:sp>
        <p:nvSpPr>
          <p:cNvPr id="5" name="Text 3"/>
          <p:cNvSpPr/>
          <p:nvPr/>
        </p:nvSpPr>
        <p:spPr>
          <a:xfrm>
            <a:off x="640080" y="1947672"/>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Lumbarization phenotype</a:t>
            </a:r>
            <a:endParaRPr lang="en-US" sz="1250" dirty="0"/>
          </a:p>
        </p:txBody>
      </p:sp>
      <p:sp>
        <p:nvSpPr>
          <p:cNvPr id="6" name="Shape 4"/>
          <p:cNvSpPr/>
          <p:nvPr/>
        </p:nvSpPr>
        <p:spPr>
          <a:xfrm>
            <a:off x="640080" y="2240280"/>
            <a:ext cx="6583680" cy="457200"/>
          </a:xfrm>
          <a:prstGeom prst="rect">
            <a:avLst/>
          </a:prstGeom>
          <a:solidFill>
            <a:srgbClr val="EEF1F4"/>
          </a:solidFill>
          <a:ln/>
        </p:spPr>
        <p:txBody>
          <a:bodyPr/>
          <a:lstStyle/>
          <a:p>
            <a:endParaRPr lang="en-US"/>
          </a:p>
        </p:txBody>
      </p:sp>
      <p:sp>
        <p:nvSpPr>
          <p:cNvPr id="7" name="Shape 5"/>
          <p:cNvSpPr/>
          <p:nvPr/>
        </p:nvSpPr>
        <p:spPr>
          <a:xfrm>
            <a:off x="640080" y="2240280"/>
            <a:ext cx="5266944" cy="457200"/>
          </a:xfrm>
          <a:prstGeom prst="rect">
            <a:avLst/>
          </a:prstGeom>
          <a:solidFill>
            <a:srgbClr val="0E5E6B"/>
          </a:solidFill>
          <a:ln/>
        </p:spPr>
        <p:txBody>
          <a:bodyPr/>
          <a:lstStyle/>
          <a:p>
            <a:endParaRPr lang="en-US"/>
          </a:p>
        </p:txBody>
      </p:sp>
      <p:sp>
        <p:nvSpPr>
          <p:cNvPr id="8" name="Text 6"/>
          <p:cNvSpPr/>
          <p:nvPr/>
        </p:nvSpPr>
        <p:spPr>
          <a:xfrm>
            <a:off x="7360920" y="2240280"/>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~80%</a:t>
            </a:r>
            <a:endParaRPr lang="en-US" sz="1600" dirty="0"/>
          </a:p>
        </p:txBody>
      </p:sp>
      <p:sp>
        <p:nvSpPr>
          <p:cNvPr id="9" name="Text 7"/>
          <p:cNvSpPr/>
          <p:nvPr/>
        </p:nvSpPr>
        <p:spPr>
          <a:xfrm>
            <a:off x="640080" y="2734056"/>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Correct level identification</a:t>
            </a:r>
            <a:endParaRPr lang="en-US" sz="1250" dirty="0"/>
          </a:p>
        </p:txBody>
      </p:sp>
      <p:sp>
        <p:nvSpPr>
          <p:cNvPr id="10" name="Shape 8"/>
          <p:cNvSpPr/>
          <p:nvPr/>
        </p:nvSpPr>
        <p:spPr>
          <a:xfrm>
            <a:off x="640080" y="3026664"/>
            <a:ext cx="6583680" cy="457200"/>
          </a:xfrm>
          <a:prstGeom prst="rect">
            <a:avLst/>
          </a:prstGeom>
          <a:solidFill>
            <a:srgbClr val="EEF1F4"/>
          </a:solidFill>
          <a:ln/>
        </p:spPr>
        <p:txBody>
          <a:bodyPr/>
          <a:lstStyle/>
          <a:p>
            <a:endParaRPr lang="en-US"/>
          </a:p>
        </p:txBody>
      </p:sp>
      <p:sp>
        <p:nvSpPr>
          <p:cNvPr id="11" name="Shape 9"/>
          <p:cNvSpPr/>
          <p:nvPr/>
        </p:nvSpPr>
        <p:spPr>
          <a:xfrm>
            <a:off x="640080" y="3026664"/>
            <a:ext cx="5596128" cy="457200"/>
          </a:xfrm>
          <a:prstGeom prst="rect">
            <a:avLst/>
          </a:prstGeom>
          <a:solidFill>
            <a:srgbClr val="0E5E6B"/>
          </a:solidFill>
          <a:ln/>
        </p:spPr>
        <p:txBody>
          <a:bodyPr/>
          <a:lstStyle/>
          <a:p>
            <a:endParaRPr lang="en-US"/>
          </a:p>
        </p:txBody>
      </p:sp>
      <p:sp>
        <p:nvSpPr>
          <p:cNvPr id="12" name="Text 10"/>
          <p:cNvSpPr/>
          <p:nvPr/>
        </p:nvSpPr>
        <p:spPr>
          <a:xfrm>
            <a:off x="7360920" y="3026664"/>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~85%</a:t>
            </a:r>
            <a:endParaRPr lang="en-US" sz="1600" dirty="0"/>
          </a:p>
        </p:txBody>
      </p:sp>
      <p:sp>
        <p:nvSpPr>
          <p:cNvPr id="13" name="Text 11"/>
          <p:cNvSpPr/>
          <p:nvPr/>
        </p:nvSpPr>
        <p:spPr>
          <a:xfrm>
            <a:off x="640080" y="3520440"/>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Any LSTV detected</a:t>
            </a:r>
            <a:endParaRPr lang="en-US" sz="1250" dirty="0"/>
          </a:p>
        </p:txBody>
      </p:sp>
      <p:sp>
        <p:nvSpPr>
          <p:cNvPr id="14" name="Shape 12"/>
          <p:cNvSpPr/>
          <p:nvPr/>
        </p:nvSpPr>
        <p:spPr>
          <a:xfrm>
            <a:off x="640080" y="3813048"/>
            <a:ext cx="6583680" cy="457200"/>
          </a:xfrm>
          <a:prstGeom prst="rect">
            <a:avLst/>
          </a:prstGeom>
          <a:solidFill>
            <a:srgbClr val="EEF1F4"/>
          </a:solidFill>
          <a:ln/>
        </p:spPr>
        <p:txBody>
          <a:bodyPr/>
          <a:lstStyle/>
          <a:p>
            <a:endParaRPr lang="en-US"/>
          </a:p>
        </p:txBody>
      </p:sp>
      <p:sp>
        <p:nvSpPr>
          <p:cNvPr id="15" name="Shape 13"/>
          <p:cNvSpPr/>
          <p:nvPr/>
        </p:nvSpPr>
        <p:spPr>
          <a:xfrm>
            <a:off x="640080" y="3813048"/>
            <a:ext cx="5266944" cy="457200"/>
          </a:xfrm>
          <a:prstGeom prst="rect">
            <a:avLst/>
          </a:prstGeom>
          <a:solidFill>
            <a:srgbClr val="0E5E6B"/>
          </a:solidFill>
          <a:ln/>
        </p:spPr>
        <p:txBody>
          <a:bodyPr/>
          <a:lstStyle/>
          <a:p>
            <a:endParaRPr lang="en-US"/>
          </a:p>
        </p:txBody>
      </p:sp>
      <p:sp>
        <p:nvSpPr>
          <p:cNvPr id="16" name="Text 14"/>
          <p:cNvSpPr/>
          <p:nvPr/>
        </p:nvSpPr>
        <p:spPr>
          <a:xfrm>
            <a:off x="7360920" y="3813048"/>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~80%</a:t>
            </a:r>
            <a:endParaRPr lang="en-US" sz="1600" dirty="0"/>
          </a:p>
        </p:txBody>
      </p:sp>
      <p:sp>
        <p:nvSpPr>
          <p:cNvPr id="17" name="Text 15"/>
          <p:cNvSpPr/>
          <p:nvPr/>
        </p:nvSpPr>
        <p:spPr>
          <a:xfrm>
            <a:off x="640080" y="4306824"/>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Castellvi type (given level)</a:t>
            </a:r>
            <a:endParaRPr lang="en-US" sz="1250" dirty="0"/>
          </a:p>
        </p:txBody>
      </p:sp>
      <p:sp>
        <p:nvSpPr>
          <p:cNvPr id="18" name="Shape 16"/>
          <p:cNvSpPr/>
          <p:nvPr/>
        </p:nvSpPr>
        <p:spPr>
          <a:xfrm>
            <a:off x="640080" y="4599432"/>
            <a:ext cx="6583680" cy="457200"/>
          </a:xfrm>
          <a:prstGeom prst="rect">
            <a:avLst/>
          </a:prstGeom>
          <a:solidFill>
            <a:srgbClr val="EEF1F4"/>
          </a:solidFill>
          <a:ln/>
        </p:spPr>
        <p:txBody>
          <a:bodyPr/>
          <a:lstStyle/>
          <a:p>
            <a:endParaRPr lang="en-US"/>
          </a:p>
        </p:txBody>
      </p:sp>
      <p:sp>
        <p:nvSpPr>
          <p:cNvPr id="19" name="Shape 17"/>
          <p:cNvSpPr/>
          <p:nvPr/>
        </p:nvSpPr>
        <p:spPr>
          <a:xfrm>
            <a:off x="640080" y="4599432"/>
            <a:ext cx="4937760" cy="457200"/>
          </a:xfrm>
          <a:prstGeom prst="rect">
            <a:avLst/>
          </a:prstGeom>
          <a:solidFill>
            <a:srgbClr val="0E5E6B"/>
          </a:solidFill>
          <a:ln/>
        </p:spPr>
        <p:txBody>
          <a:bodyPr/>
          <a:lstStyle/>
          <a:p>
            <a:endParaRPr lang="en-US"/>
          </a:p>
        </p:txBody>
      </p:sp>
      <p:sp>
        <p:nvSpPr>
          <p:cNvPr id="20" name="Text 18"/>
          <p:cNvSpPr/>
          <p:nvPr/>
        </p:nvSpPr>
        <p:spPr>
          <a:xfrm>
            <a:off x="7360920" y="4599432"/>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~75%</a:t>
            </a:r>
            <a:endParaRPr lang="en-US" sz="1600" dirty="0"/>
          </a:p>
        </p:txBody>
      </p:sp>
      <p:sp>
        <p:nvSpPr>
          <p:cNvPr id="21" name="Text 19"/>
          <p:cNvSpPr/>
          <p:nvPr/>
        </p:nvSpPr>
        <p:spPr>
          <a:xfrm>
            <a:off x="640080" y="5093208"/>
            <a:ext cx="6583680" cy="274320"/>
          </a:xfrm>
          <a:prstGeom prst="rect">
            <a:avLst/>
          </a:prstGeom>
          <a:noFill/>
          <a:ln/>
        </p:spPr>
        <p:txBody>
          <a:bodyPr wrap="square" lIns="0" tIns="0" rIns="0" bIns="0" rtlCol="0" anchor="ctr"/>
          <a:lstStyle/>
          <a:p>
            <a:pPr marL="0" indent="0">
              <a:buNone/>
            </a:pPr>
            <a:r>
              <a:rPr lang="en-US" sz="1250" b="1" dirty="0">
                <a:solidFill>
                  <a:srgbClr val="1B2733"/>
                </a:solidFill>
                <a:latin typeface="Arial" pitchFamily="34" charset="0"/>
                <a:ea typeface="Arial" pitchFamily="34" charset="-122"/>
                <a:cs typeface="Arial" pitchFamily="34" charset="-120"/>
              </a:rPr>
              <a:t>Sacralization phenotype</a:t>
            </a:r>
            <a:endParaRPr lang="en-US" sz="1250" dirty="0"/>
          </a:p>
        </p:txBody>
      </p:sp>
      <p:sp>
        <p:nvSpPr>
          <p:cNvPr id="22" name="Shape 20"/>
          <p:cNvSpPr/>
          <p:nvPr/>
        </p:nvSpPr>
        <p:spPr>
          <a:xfrm>
            <a:off x="640080" y="5385816"/>
            <a:ext cx="6583680" cy="457200"/>
          </a:xfrm>
          <a:prstGeom prst="rect">
            <a:avLst/>
          </a:prstGeom>
          <a:solidFill>
            <a:srgbClr val="EEF1F4"/>
          </a:solidFill>
          <a:ln/>
        </p:spPr>
        <p:txBody>
          <a:bodyPr/>
          <a:lstStyle/>
          <a:p>
            <a:endParaRPr lang="en-US"/>
          </a:p>
        </p:txBody>
      </p:sp>
      <p:sp>
        <p:nvSpPr>
          <p:cNvPr id="23" name="Shape 21"/>
          <p:cNvSpPr/>
          <p:nvPr/>
        </p:nvSpPr>
        <p:spPr>
          <a:xfrm>
            <a:off x="640080" y="5385816"/>
            <a:ext cx="4740250" cy="457200"/>
          </a:xfrm>
          <a:prstGeom prst="rect">
            <a:avLst/>
          </a:prstGeom>
          <a:solidFill>
            <a:srgbClr val="0E5E6B"/>
          </a:solidFill>
          <a:ln/>
        </p:spPr>
        <p:txBody>
          <a:bodyPr/>
          <a:lstStyle/>
          <a:p>
            <a:endParaRPr lang="en-US"/>
          </a:p>
        </p:txBody>
      </p:sp>
      <p:sp>
        <p:nvSpPr>
          <p:cNvPr id="24" name="Text 22"/>
          <p:cNvSpPr/>
          <p:nvPr/>
        </p:nvSpPr>
        <p:spPr>
          <a:xfrm>
            <a:off x="7360920" y="5385816"/>
            <a:ext cx="914400" cy="457200"/>
          </a:xfrm>
          <a:prstGeom prst="rect">
            <a:avLst/>
          </a:prstGeom>
          <a:noFill/>
          <a:ln/>
        </p:spPr>
        <p:txBody>
          <a:bodyPr wrap="square" lIns="0" tIns="0" rIns="0" bIns="0" rtlCol="0" anchor="ctr"/>
          <a:lstStyle/>
          <a:p>
            <a:pPr marL="0" indent="0">
              <a:buNone/>
            </a:pPr>
            <a:r>
              <a:rPr lang="en-US" sz="1600" b="1" dirty="0">
                <a:solidFill>
                  <a:srgbClr val="0E5E6B"/>
                </a:solidFill>
                <a:latin typeface="Georgia" pitchFamily="34" charset="0"/>
                <a:ea typeface="Georgia" pitchFamily="34" charset="-122"/>
                <a:cs typeface="Georgia" pitchFamily="34" charset="-120"/>
              </a:rPr>
              <a:t>~72%</a:t>
            </a:r>
            <a:endParaRPr lang="en-US" sz="1600" dirty="0"/>
          </a:p>
        </p:txBody>
      </p:sp>
      <p:sp>
        <p:nvSpPr>
          <p:cNvPr id="25" name="Shape 23"/>
          <p:cNvSpPr/>
          <p:nvPr/>
        </p:nvSpPr>
        <p:spPr>
          <a:xfrm>
            <a:off x="8595360" y="1965960"/>
            <a:ext cx="2971800" cy="4023360"/>
          </a:xfrm>
          <a:prstGeom prst="rect">
            <a:avLst/>
          </a:prstGeom>
          <a:solidFill>
            <a:srgbClr val="051F43"/>
          </a:solidFill>
          <a:ln/>
        </p:spPr>
        <p:txBody>
          <a:bodyPr/>
          <a:lstStyle/>
          <a:p>
            <a:endParaRPr lang="en-US"/>
          </a:p>
        </p:txBody>
      </p:sp>
      <p:pic>
        <p:nvPicPr>
          <p:cNvPr id="26" name="Image 0" descr="assets/warn.png"/>
          <p:cNvPicPr>
            <a:picLocks noChangeAspect="1"/>
          </p:cNvPicPr>
          <p:nvPr/>
        </p:nvPicPr>
        <p:blipFill>
          <a:blip r:embed="rId3"/>
          <a:stretch>
            <a:fillRect/>
          </a:stretch>
        </p:blipFill>
        <p:spPr>
          <a:xfrm>
            <a:off x="8869680" y="2240280"/>
            <a:ext cx="457200" cy="457200"/>
          </a:xfrm>
          <a:prstGeom prst="rect">
            <a:avLst/>
          </a:prstGeom>
        </p:spPr>
      </p:pic>
      <p:sp>
        <p:nvSpPr>
          <p:cNvPr id="27" name="Text 24"/>
          <p:cNvSpPr/>
          <p:nvPr/>
        </p:nvSpPr>
        <p:spPr>
          <a:xfrm>
            <a:off x="9418320" y="2240280"/>
            <a:ext cx="2011680" cy="45720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The honest caveat</a:t>
            </a:r>
            <a:endParaRPr lang="en-US" sz="1500" dirty="0"/>
          </a:p>
        </p:txBody>
      </p:sp>
      <p:sp>
        <p:nvSpPr>
          <p:cNvPr id="28" name="Text 25"/>
          <p:cNvSpPr/>
          <p:nvPr/>
        </p:nvSpPr>
        <p:spPr>
          <a:xfrm>
            <a:off x="8869680" y="2880360"/>
            <a:ext cx="2423160" cy="1371600"/>
          </a:xfrm>
          <a:prstGeom prst="rect">
            <a:avLst/>
          </a:prstGeom>
          <a:noFill/>
          <a:ln/>
        </p:spPr>
        <p:txBody>
          <a:bodyPr wrap="square" rtlCol="0" anchor="t"/>
          <a:lstStyle/>
          <a:p>
            <a:pPr marL="0" indent="0">
              <a:lnSpc>
                <a:spcPts val="1900"/>
              </a:lnSpc>
              <a:buNone/>
            </a:pPr>
            <a:r>
              <a:rPr lang="en-US" sz="1300" dirty="0">
                <a:solidFill>
                  <a:srgbClr val="C9D6E5"/>
                </a:solidFill>
                <a:latin typeface="Arial" pitchFamily="34" charset="0"/>
                <a:ea typeface="Arial" pitchFamily="34" charset="-122"/>
                <a:cs typeface="Arial" pitchFamily="34" charset="-120"/>
              </a:rPr>
              <a:t>The anomalous spines we most need to classify are exactly where both segmentation models are least reliable.</a:t>
            </a:r>
            <a:endParaRPr lang="en-US" sz="1300" dirty="0"/>
          </a:p>
        </p:txBody>
      </p:sp>
      <p:sp>
        <p:nvSpPr>
          <p:cNvPr id="29" name="Shape 26"/>
          <p:cNvSpPr/>
          <p:nvPr/>
        </p:nvSpPr>
        <p:spPr>
          <a:xfrm>
            <a:off x="8869680" y="4251960"/>
            <a:ext cx="2423160" cy="32004"/>
          </a:xfrm>
          <a:prstGeom prst="rect">
            <a:avLst/>
          </a:prstGeom>
          <a:solidFill>
            <a:srgbClr val="C9962E"/>
          </a:solidFill>
          <a:ln/>
        </p:spPr>
        <p:txBody>
          <a:bodyPr/>
          <a:lstStyle/>
          <a:p>
            <a:endParaRPr lang="en-US"/>
          </a:p>
        </p:txBody>
      </p:sp>
      <p:sp>
        <p:nvSpPr>
          <p:cNvPr id="30" name="Text 27"/>
          <p:cNvSpPr/>
          <p:nvPr/>
        </p:nvSpPr>
        <p:spPr>
          <a:xfrm>
            <a:off x="8869680" y="4434840"/>
            <a:ext cx="2423160" cy="1463040"/>
          </a:xfrm>
          <a:prstGeom prst="rect">
            <a:avLst/>
          </a:prstGeom>
          <a:noFill/>
          <a:ln/>
        </p:spPr>
        <p:txBody>
          <a:bodyPr wrap="square" rtlCol="0" anchor="t"/>
          <a:lstStyle/>
          <a:p>
            <a:pPr marL="0" indent="0">
              <a:lnSpc>
                <a:spcPts val="1900"/>
              </a:lnSpc>
              <a:buNone/>
            </a:pPr>
            <a:r>
              <a:rPr lang="en-US" sz="1300" b="1" dirty="0">
                <a:solidFill>
                  <a:srgbClr val="E7C77A"/>
                </a:solidFill>
                <a:latin typeface="Arial" pitchFamily="34" charset="0"/>
                <a:ea typeface="Arial" pitchFamily="34" charset="-122"/>
                <a:cs typeface="Arial" pitchFamily="34" charset="-120"/>
              </a:rPr>
              <a:t>The ask: </a:t>
            </a:r>
            <a:r>
              <a:rPr lang="en-US" sz="1300" dirty="0">
                <a:solidFill>
                  <a:srgbClr val="FFFFFF"/>
                </a:solidFill>
                <a:latin typeface="Arial" pitchFamily="34" charset="0"/>
                <a:ea typeface="Arial" pitchFamily="34" charset="-122"/>
                <a:cs typeface="Arial" pitchFamily="34" charset="-120"/>
              </a:rPr>
              <a:t>20–30 CT-confirmed cases would calibrate every threshold and yield a real sensitivity / specificity estimate.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51F43"/>
        </a:solidFill>
        <a:effectLst/>
      </p:bgPr>
    </p:bg>
    <p:spTree>
      <p:nvGrpSpPr>
        <p:cNvPr id="1" name=""/>
        <p:cNvGrpSpPr/>
        <p:nvPr/>
      </p:nvGrpSpPr>
      <p:grpSpPr>
        <a:xfrm>
          <a:off x="0" y="0"/>
          <a:ext cx="0" cy="0"/>
          <a:chOff x="0" y="0"/>
          <a:chExt cx="0" cy="0"/>
        </a:xfrm>
      </p:grpSpPr>
      <p:sp>
        <p:nvSpPr>
          <p:cNvPr id="2" name="Shape 0"/>
          <p:cNvSpPr/>
          <p:nvPr/>
        </p:nvSpPr>
        <p:spPr>
          <a:xfrm rot="-180000">
            <a:off x="-914400" y="5212080"/>
            <a:ext cx="14630400" cy="3200400"/>
          </a:xfrm>
          <a:prstGeom prst="rect">
            <a:avLst/>
          </a:prstGeom>
          <a:solidFill>
            <a:srgbClr val="0C2A52"/>
          </a:solidFill>
          <a:ln/>
        </p:spPr>
        <p:txBody>
          <a:bodyPr/>
          <a:lstStyle/>
          <a:p>
            <a:endParaRPr lang="en-US"/>
          </a:p>
        </p:txBody>
      </p:sp>
      <p:sp>
        <p:nvSpPr>
          <p:cNvPr id="3" name="Shape 1"/>
          <p:cNvSpPr/>
          <p:nvPr/>
        </p:nvSpPr>
        <p:spPr>
          <a:xfrm rot="-180000">
            <a:off x="-914400" y="5715000"/>
            <a:ext cx="14630400" cy="91440"/>
          </a:xfrm>
          <a:prstGeom prst="rect">
            <a:avLst/>
          </a:prstGeom>
          <a:solidFill>
            <a:srgbClr val="C9962E"/>
          </a:solidFill>
          <a:ln/>
        </p:spPr>
        <p:txBody>
          <a:bodyPr/>
          <a:lstStyle/>
          <a:p>
            <a:endParaRPr lang="en-US"/>
          </a:p>
        </p:txBody>
      </p:sp>
      <p:pic>
        <p:nvPicPr>
          <p:cNvPr id="4" name="Image 0" descr="assets/seal.png"/>
          <p:cNvPicPr>
            <a:picLocks noChangeAspect="1"/>
          </p:cNvPicPr>
          <p:nvPr/>
        </p:nvPicPr>
        <p:blipFill>
          <a:blip r:embed="rId3"/>
          <a:stretch>
            <a:fillRect/>
          </a:stretch>
        </p:blipFill>
        <p:spPr>
          <a:xfrm>
            <a:off x="10241280" y="548640"/>
            <a:ext cx="1371600" cy="1371600"/>
          </a:xfrm>
          <a:prstGeom prst="rect">
            <a:avLst/>
          </a:prstGeom>
        </p:spPr>
      </p:pic>
      <p:sp>
        <p:nvSpPr>
          <p:cNvPr id="5" name="Text 2"/>
          <p:cNvSpPr/>
          <p:nvPr/>
        </p:nvSpPr>
        <p:spPr>
          <a:xfrm>
            <a:off x="640080" y="777240"/>
            <a:ext cx="8229600" cy="320040"/>
          </a:xfrm>
          <a:prstGeom prst="rect">
            <a:avLst/>
          </a:prstGeom>
          <a:noFill/>
          <a:ln/>
        </p:spPr>
        <p:txBody>
          <a:bodyPr wrap="square" rtlCol="0" anchor="ctr"/>
          <a:lstStyle/>
          <a:p>
            <a:pPr marL="0" indent="0">
              <a:buNone/>
            </a:pPr>
            <a:r>
              <a:rPr lang="en-US" sz="1300" b="1" kern="0" spc="300" dirty="0">
                <a:solidFill>
                  <a:srgbClr val="C9962E"/>
                </a:solidFill>
                <a:latin typeface="Arial" pitchFamily="34" charset="0"/>
                <a:ea typeface="Arial" pitchFamily="34" charset="-122"/>
                <a:cs typeface="Arial" pitchFamily="34" charset="-120"/>
              </a:rPr>
              <a:t>VISIT THE TABLE</a:t>
            </a:r>
            <a:endParaRPr lang="en-US" sz="1300" dirty="0"/>
          </a:p>
        </p:txBody>
      </p:sp>
      <p:sp>
        <p:nvSpPr>
          <p:cNvPr id="6" name="Text 3"/>
          <p:cNvSpPr/>
          <p:nvPr/>
        </p:nvSpPr>
        <p:spPr>
          <a:xfrm>
            <a:off x="640080" y="1188720"/>
            <a:ext cx="9326880" cy="1280160"/>
          </a:xfrm>
          <a:prstGeom prst="rect">
            <a:avLst/>
          </a:prstGeom>
          <a:noFill/>
          <a:ln/>
        </p:spPr>
        <p:txBody>
          <a:bodyPr wrap="square" rtlCol="0" anchor="t"/>
          <a:lstStyle/>
          <a:p>
            <a:pPr marL="0" indent="0">
              <a:lnSpc>
                <a:spcPts val="4000"/>
              </a:lnSpc>
              <a:buNone/>
            </a:pPr>
            <a:r>
              <a:rPr lang="en-US" sz="3300" b="1" dirty="0">
                <a:solidFill>
                  <a:srgbClr val="FFFFFF"/>
                </a:solidFill>
                <a:latin typeface="Georgia" pitchFamily="34" charset="0"/>
                <a:ea typeface="Georgia" pitchFamily="34" charset="-122"/>
                <a:cs typeface="Georgia" pitchFamily="34" charset="-120"/>
              </a:rPr>
              <a:t>Spin a spine, break the offset model, tell me where it fails.</a:t>
            </a:r>
            <a:endParaRPr lang="en-US" sz="3300" dirty="0"/>
          </a:p>
        </p:txBody>
      </p:sp>
      <p:pic>
        <p:nvPicPr>
          <p:cNvPr id="7" name="Image 1" descr="assets/github_w.png"/>
          <p:cNvPicPr>
            <a:picLocks noChangeAspect="1"/>
          </p:cNvPicPr>
          <p:nvPr/>
        </p:nvPicPr>
        <p:blipFill>
          <a:blip r:embed="rId4"/>
          <a:stretch>
            <a:fillRect/>
          </a:stretch>
        </p:blipFill>
        <p:spPr>
          <a:xfrm>
            <a:off x="685800" y="3063240"/>
            <a:ext cx="457200" cy="457200"/>
          </a:xfrm>
          <a:prstGeom prst="rect">
            <a:avLst/>
          </a:prstGeom>
        </p:spPr>
      </p:pic>
      <p:sp>
        <p:nvSpPr>
          <p:cNvPr id="8" name="Text 4">
            <a:hlinkClick r:id="" action="ppaction://noaction"/>
          </p:cNvPr>
          <p:cNvSpPr/>
          <p:nvPr/>
        </p:nvSpPr>
        <p:spPr>
          <a:xfrm>
            <a:off x="1325880" y="3017520"/>
            <a:ext cx="7315200" cy="640080"/>
          </a:xfrm>
          <a:prstGeom prst="rect">
            <a:avLst/>
          </a:prstGeom>
          <a:noFill/>
          <a:ln/>
        </p:spPr>
        <p:txBody>
          <a:bodyPr wrap="square" rtlCol="0" anchor="t"/>
          <a:lstStyle/>
          <a:p>
            <a:pPr marL="0" indent="0">
              <a:lnSpc>
                <a:spcPts val="2000"/>
              </a:lnSpc>
              <a:buNone/>
            </a:pPr>
            <a:r>
              <a:rPr lang="en-US" sz="1600" b="1" u="sng" dirty="0">
                <a:solidFill>
                  <a:srgbClr val="FFFFFF"/>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Open-source pipeline</a:t>
            </a:r>
            <a:endParaRPr lang="en-US" sz="1600" dirty="0"/>
          </a:p>
          <a:p>
            <a:pPr marL="0" indent="0">
              <a:lnSpc>
                <a:spcPts val="2000"/>
              </a:lnSpc>
              <a:buNone/>
            </a:pPr>
            <a:r>
              <a:rPr lang="en-US" sz="1400" u="sng" dirty="0">
                <a:solidFill>
                  <a:srgbClr val="E7C77A"/>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github.com/Gregory-Schwing-MD-PhD/lstv-detector</a:t>
            </a:r>
            <a:endParaRPr lang="en-US" sz="1600" dirty="0"/>
          </a:p>
        </p:txBody>
      </p:sp>
      <p:pic>
        <p:nvPicPr>
          <p:cNvPr id="9" name="Image 2" descr="assets/users.png"/>
          <p:cNvPicPr>
            <a:picLocks noChangeAspect="1"/>
          </p:cNvPicPr>
          <p:nvPr/>
        </p:nvPicPr>
        <p:blipFill>
          <a:blip r:embed="rId5"/>
          <a:stretch>
            <a:fillRect/>
          </a:stretch>
        </p:blipFill>
        <p:spPr>
          <a:xfrm>
            <a:off x="685800" y="3977640"/>
            <a:ext cx="457200" cy="457200"/>
          </a:xfrm>
          <a:prstGeom prst="rect">
            <a:avLst/>
          </a:prstGeom>
        </p:spPr>
      </p:pic>
      <p:sp>
        <p:nvSpPr>
          <p:cNvPr id="10" name="Text 5"/>
          <p:cNvSpPr/>
          <p:nvPr/>
        </p:nvSpPr>
        <p:spPr>
          <a:xfrm>
            <a:off x="1325880" y="3931920"/>
            <a:ext cx="8229600" cy="640080"/>
          </a:xfrm>
          <a:prstGeom prst="rect">
            <a:avLst/>
          </a:prstGeom>
          <a:noFill/>
          <a:ln/>
        </p:spPr>
        <p:txBody>
          <a:bodyPr wrap="square" rtlCol="0" anchor="t"/>
          <a:lstStyle/>
          <a:p>
            <a:pPr marL="0" indent="0">
              <a:lnSpc>
                <a:spcPts val="2000"/>
              </a:lnSpc>
              <a:buNone/>
            </a:pPr>
            <a:r>
              <a:rPr lang="en-US" sz="1600" b="1" dirty="0">
                <a:solidFill>
                  <a:srgbClr val="FFFFFF"/>
                </a:solidFill>
                <a:latin typeface="Arial" pitchFamily="34" charset="0"/>
                <a:ea typeface="Arial" pitchFamily="34" charset="-122"/>
                <a:cs typeface="Arial" pitchFamily="34" charset="-120"/>
              </a:rPr>
              <a:t>Open Spine Consortium</a:t>
            </a:r>
            <a:endParaRPr lang="en-US" sz="1600" dirty="0"/>
          </a:p>
          <a:p>
            <a:pPr marL="0" indent="0">
              <a:lnSpc>
                <a:spcPts val="2000"/>
              </a:lnSpc>
              <a:buNone/>
            </a:pPr>
            <a:r>
              <a:rPr lang="en-US" sz="1400" dirty="0">
                <a:solidFill>
                  <a:srgbClr val="AEC2DA"/>
                </a:solidFill>
                <a:latin typeface="Arial" pitchFamily="34" charset="0"/>
                <a:ea typeface="Arial" pitchFamily="34" charset="-122"/>
                <a:cs typeface="Arial" pitchFamily="34" charset="-120"/>
              </a:rPr>
              <a:t>Collaborative, open spine-CT analysis — contributors welcome</a:t>
            </a:r>
            <a:endParaRPr lang="en-US" sz="1600" dirty="0"/>
          </a:p>
        </p:txBody>
      </p:sp>
      <p:pic>
        <p:nvPicPr>
          <p:cNvPr id="11" name="Image 3" descr="assets/mail.png"/>
          <p:cNvPicPr>
            <a:picLocks noChangeAspect="1"/>
          </p:cNvPicPr>
          <p:nvPr/>
        </p:nvPicPr>
        <p:blipFill>
          <a:blip r:embed="rId6"/>
          <a:stretch>
            <a:fillRect/>
          </a:stretch>
        </p:blipFill>
        <p:spPr>
          <a:xfrm>
            <a:off x="685800" y="4892040"/>
            <a:ext cx="457200" cy="457200"/>
          </a:xfrm>
          <a:prstGeom prst="rect">
            <a:avLst/>
          </a:prstGeom>
        </p:spPr>
      </p:pic>
      <p:sp>
        <p:nvSpPr>
          <p:cNvPr id="12" name="Text 6">
            <a:hlinkClick r:id="" action="ppaction://noaction"/>
          </p:cNvPr>
          <p:cNvSpPr/>
          <p:nvPr/>
        </p:nvSpPr>
        <p:spPr>
          <a:xfrm>
            <a:off x="1325880" y="4846320"/>
            <a:ext cx="10058400" cy="640080"/>
          </a:xfrm>
          <a:prstGeom prst="rect">
            <a:avLst/>
          </a:prstGeom>
          <a:noFill/>
          <a:ln/>
        </p:spPr>
        <p:txBody>
          <a:bodyPr wrap="square" rtlCol="0" anchor="t"/>
          <a:lstStyle/>
          <a:p>
            <a:pPr marL="0" indent="0">
              <a:lnSpc>
                <a:spcPts val="2000"/>
              </a:lnSpc>
              <a:buNone/>
            </a:pPr>
            <a:r>
              <a:rPr lang="en-US" sz="1600" b="1" u="sng" dirty="0">
                <a:solidFill>
                  <a:srgbClr val="FFFFFF"/>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Gregory J. Schwing, MD, PhD</a:t>
            </a:r>
            <a:endParaRPr lang="en-US" sz="1600" dirty="0"/>
          </a:p>
          <a:p>
            <a:pPr marL="0" indent="0">
              <a:lnSpc>
                <a:spcPts val="2000"/>
              </a:lnSpc>
              <a:buNone/>
            </a:pPr>
            <a:r>
              <a:rPr lang="en-US" sz="1400" u="sng" dirty="0">
                <a:solidFill>
                  <a:srgbClr val="AEC2DA"/>
                </a:solidFill>
                <a:latin typeface="Arial" pitchFamily="34" charset="0"/>
                <a:ea typeface="Arial" pitchFamily="34" charset="-122"/>
                <a:cs typeface="Arial" pitchFamily="34" charset="-120"/>
                <a:hlinkClick r:id="" action="ppaction://noaction">
                  <a:extLst>
                    <a:ext uri="{A12FA001-AC4F-418D-AE19-62706E023703}">
                      <ahyp:hlinkClr xmlns:ahyp="http://schemas.microsoft.com/office/drawing/2018/hyperlinkcolor" val="tx"/>
                    </a:ext>
                  </a:extLst>
                </a:hlinkClick>
              </a:rPr>
              <a:t>go2432@wayne.edu  ·  Wayne State University · Neurosurgery / Spine Imaging &amp; AI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944</Words>
  <Application>Microsoft Office PowerPoint</Application>
  <PresentationFormat>Widescreen</PresentationFormat>
  <Paragraphs>144</Paragraphs>
  <Slides>15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Harnessing Algorithmic Disagreement for Automated LSTV Detection</dc:title>
  <dc:subject>PptxGenJS Presentation</dc:subject>
  <dc:creator>Gregory J. Schwing, MD, PhD</dc:creator>
  <cp:lastModifiedBy>Gregory Schwing</cp:lastModifiedBy>
  <cp:revision>8</cp:revision>
  <dcterms:created xsi:type="dcterms:W3CDTF">2026-05-30T22:14:53Z</dcterms:created>
  <dcterms:modified xsi:type="dcterms:W3CDTF">2026-05-31T17:27:16Z</dcterms:modified>
</cp:coreProperties>
</file>