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7" r:id="rId2"/>
  </p:sldIdLst>
  <p:sldSz cx="43891200" cy="329184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1D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29F83B-BB22-E640-BF2A-2108D885CFAA}" v="2" dt="2026-08-30T19:59:46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2"/>
  </p:normalViewPr>
  <p:slideViewPr>
    <p:cSldViewPr snapToGrid="0">
      <p:cViewPr>
        <p:scale>
          <a:sx n="91" d="100"/>
          <a:sy n="91" d="100"/>
        </p:scale>
        <p:origin x="-6848" y="-13928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5b9c1fc7e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1" name="Google Shape;61;g5b9c1fc7ee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496200" y="4765280"/>
            <a:ext cx="40899000" cy="131367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496160" y="18138400"/>
            <a:ext cx="40899000" cy="50727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496160" y="13765440"/>
            <a:ext cx="40899000" cy="5387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Autofit/>
          </a:bodyPr>
          <a:lstStyle>
            <a:lvl1pPr marL="457200" lvl="0" indent="-838200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marL="914400" lvl="1" indent="-70485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2pPr>
            <a:lvl3pPr marL="1371600" lvl="2" indent="-704850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3pPr>
            <a:lvl4pPr marL="1828800" lvl="3" indent="-704850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4pPr>
            <a:lvl5pPr marL="2286000" lvl="4" indent="-70485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5pPr>
            <a:lvl6pPr marL="2743200" lvl="5" indent="-704850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6pPr>
            <a:lvl7pPr marL="3200400" lvl="6" indent="-704850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7pPr>
            <a:lvl8pPr marL="3657600" lvl="7" indent="-70485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8pPr>
            <a:lvl9pPr marL="4114800" lvl="8" indent="-704850">
              <a:spcBef>
                <a:spcPts val="8500"/>
              </a:spcBef>
              <a:spcAft>
                <a:spcPts val="8500"/>
              </a:spcAft>
              <a:buSzPts val="75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191994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Autofit/>
          </a:bodyPr>
          <a:lstStyle>
            <a:lvl1pPr marL="457200" lvl="0" indent="-70485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1pPr>
            <a:lvl2pPr marL="914400" lvl="1" indent="-635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8500"/>
              </a:spcBef>
              <a:spcAft>
                <a:spcPts val="850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23195520" y="7375840"/>
            <a:ext cx="191994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Autofit/>
          </a:bodyPr>
          <a:lstStyle>
            <a:lvl1pPr marL="457200" lvl="0" indent="-70485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1pPr>
            <a:lvl2pPr marL="914400" lvl="1" indent="-635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8500"/>
              </a:spcBef>
              <a:spcAft>
                <a:spcPts val="850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1496160" y="3555840"/>
            <a:ext cx="13478400" cy="48366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1496160" y="8893440"/>
            <a:ext cx="13478400" cy="203481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Autofit/>
          </a:bodyPr>
          <a:lstStyle>
            <a:lvl1pPr marL="457200" lvl="0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1pPr>
            <a:lvl2pPr marL="914400" lvl="1" indent="-635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8500"/>
              </a:spcBef>
              <a:spcAft>
                <a:spcPts val="850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2353200" y="2880960"/>
            <a:ext cx="30565500" cy="261810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1pPr>
            <a:lvl2pPr lvl="1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2pPr>
            <a:lvl3pPr lvl="2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3pPr>
            <a:lvl4pPr lvl="3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4pPr>
            <a:lvl5pPr lvl="4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5pPr>
            <a:lvl6pPr lvl="5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6pPr>
            <a:lvl7pPr lvl="6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7pPr>
            <a:lvl8pPr lvl="7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8pPr>
            <a:lvl9pPr lvl="8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1945600" y="-800"/>
            <a:ext cx="21945600" cy="3291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487600" tIns="487600" rIns="487600" bIns="487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1274400" y="7892320"/>
            <a:ext cx="19416900" cy="94866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1274400" y="17939680"/>
            <a:ext cx="19416900" cy="79047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23709600" y="4634080"/>
            <a:ext cx="18417600" cy="236487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marL="457200" lvl="0" indent="-838200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marL="914400" lvl="1" indent="-70485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2pPr>
            <a:lvl3pPr marL="1371600" lvl="2" indent="-704850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3pPr>
            <a:lvl4pPr marL="1828800" lvl="3" indent="-704850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4pPr>
            <a:lvl5pPr marL="2286000" lvl="4" indent="-70485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5pPr>
            <a:lvl6pPr marL="2743200" lvl="5" indent="-704850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6pPr>
            <a:lvl7pPr marL="3200400" lvl="6" indent="-704850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7pPr>
            <a:lvl8pPr marL="3657600" lvl="7" indent="-70485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8pPr>
            <a:lvl9pPr marL="4114800" lvl="8" indent="-704850">
              <a:spcBef>
                <a:spcPts val="8500"/>
              </a:spcBef>
              <a:spcAft>
                <a:spcPts val="8500"/>
              </a:spcAft>
              <a:buSzPts val="75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1496160" y="27075680"/>
            <a:ext cx="28794300" cy="38727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1496160" y="7079200"/>
            <a:ext cx="40899000" cy="125664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1496160" y="20174240"/>
            <a:ext cx="40899000" cy="83250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Autofit/>
          </a:bodyPr>
          <a:lstStyle>
            <a:lvl1pPr marL="457200" lvl="0" indent="-838200" algn="ctr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marL="914400" lvl="1" indent="-704850" algn="ctr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2pPr>
            <a:lvl3pPr marL="1371600" lvl="2" indent="-704850" algn="ctr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3pPr>
            <a:lvl4pPr marL="1828800" lvl="3" indent="-704850" algn="ctr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4pPr>
            <a:lvl5pPr marL="2286000" lvl="4" indent="-704850" algn="ctr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5pPr>
            <a:lvl6pPr marL="2743200" lvl="5" indent="-704850" algn="ctr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6pPr>
            <a:lvl7pPr marL="3200400" lvl="6" indent="-704850" algn="ctr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7pPr>
            <a:lvl8pPr marL="3657600" lvl="7" indent="-704850" algn="ctr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8pPr>
            <a:lvl9pPr marL="4114800" lvl="8" indent="-704850" algn="ctr">
              <a:spcBef>
                <a:spcPts val="8500"/>
              </a:spcBef>
              <a:spcAft>
                <a:spcPts val="8500"/>
              </a:spcAft>
              <a:buSzPts val="75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2A52-A9E3-4409-A9CD-C78A51077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551F4F-3FFE-0D13-00E2-4BC8A329405B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29691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t" anchorCtr="0">
            <a:noAutofit/>
          </a:bodyPr>
          <a:lstStyle>
            <a:lvl1pPr marL="457200" lvl="0" indent="-838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Char char="●"/>
              <a:defRPr sz="9600">
                <a:solidFill>
                  <a:schemeClr val="dk2"/>
                </a:solidFill>
              </a:defRPr>
            </a:lvl1pPr>
            <a:lvl2pPr marL="914400" lvl="1" indent="-70485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2pPr>
            <a:lvl3pPr marL="1371600" lvl="2" indent="-70485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3pPr>
            <a:lvl4pPr marL="1828800" lvl="3" indent="-70485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●"/>
              <a:defRPr sz="7500">
                <a:solidFill>
                  <a:schemeClr val="dk2"/>
                </a:solidFill>
              </a:defRPr>
            </a:lvl4pPr>
            <a:lvl5pPr marL="2286000" lvl="4" indent="-70485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5pPr>
            <a:lvl6pPr marL="2743200" lvl="5" indent="-70485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6pPr>
            <a:lvl7pPr marL="3200400" lvl="6" indent="-70485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●"/>
              <a:defRPr sz="7500">
                <a:solidFill>
                  <a:schemeClr val="dk2"/>
                </a:solidFill>
              </a:defRPr>
            </a:lvl7pPr>
            <a:lvl8pPr marL="3657600" lvl="7" indent="-70485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8pPr>
            <a:lvl9pPr marL="4114800" lvl="8" indent="-704850">
              <a:lnSpc>
                <a:spcPct val="115000"/>
              </a:lnSpc>
              <a:spcBef>
                <a:spcPts val="8500"/>
              </a:spcBef>
              <a:spcAft>
                <a:spcPts val="850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 algn="r">
              <a:buNone/>
              <a:defRPr sz="5300">
                <a:solidFill>
                  <a:schemeClr val="dk2"/>
                </a:solidFill>
              </a:defRPr>
            </a:lvl1pPr>
            <a:lvl2pPr lvl="1" algn="r">
              <a:buNone/>
              <a:defRPr sz="5300">
                <a:solidFill>
                  <a:schemeClr val="dk2"/>
                </a:solidFill>
              </a:defRPr>
            </a:lvl2pPr>
            <a:lvl3pPr lvl="2" algn="r">
              <a:buNone/>
              <a:defRPr sz="5300">
                <a:solidFill>
                  <a:schemeClr val="dk2"/>
                </a:solidFill>
              </a:defRPr>
            </a:lvl3pPr>
            <a:lvl4pPr lvl="3" algn="r">
              <a:buNone/>
              <a:defRPr sz="5300">
                <a:solidFill>
                  <a:schemeClr val="dk2"/>
                </a:solidFill>
              </a:defRPr>
            </a:lvl4pPr>
            <a:lvl5pPr lvl="4" algn="r">
              <a:buNone/>
              <a:defRPr sz="5300">
                <a:solidFill>
                  <a:schemeClr val="dk2"/>
                </a:solidFill>
              </a:defRPr>
            </a:lvl5pPr>
            <a:lvl6pPr lvl="5" algn="r">
              <a:buNone/>
              <a:defRPr sz="5300">
                <a:solidFill>
                  <a:schemeClr val="dk2"/>
                </a:solidFill>
              </a:defRPr>
            </a:lvl6pPr>
            <a:lvl7pPr lvl="6" algn="r">
              <a:buNone/>
              <a:defRPr sz="5300">
                <a:solidFill>
                  <a:schemeClr val="dk2"/>
                </a:solidFill>
              </a:defRPr>
            </a:lvl7pPr>
            <a:lvl8pPr lvl="7" algn="r">
              <a:buNone/>
              <a:defRPr sz="5300">
                <a:solidFill>
                  <a:schemeClr val="dk2"/>
                </a:solidFill>
              </a:defRPr>
            </a:lvl8pPr>
            <a:lvl9pPr lvl="8" algn="r">
              <a:buNone/>
              <a:defRPr sz="5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13444278" y="468252"/>
            <a:ext cx="17099699" cy="31891933"/>
          </a:xfrm>
          <a:prstGeom prst="rect">
            <a:avLst/>
          </a:prstGeom>
          <a:solidFill>
            <a:srgbClr val="191D63"/>
          </a:solidFill>
          <a:ln>
            <a:noFill/>
          </a:ln>
        </p:spPr>
        <p:txBody>
          <a:bodyPr spcFirstLastPara="1" wrap="square" lIns="2743200" tIns="3657600" rIns="2743200" bIns="3657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>
                <a:solidFill>
                  <a:srgbClr val="FFFFFF"/>
                </a:solidFill>
              </a:rPr>
              <a:t>Distributed, open-source training produces significant improvements across all six domains of computational spine imaging expertise in medical students, establishing OSC as a scalable model for research engagement.</a:t>
            </a:r>
            <a:endParaRPr sz="9600" b="1">
              <a:solidFill>
                <a:srgbClr val="FFFFFF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71586" y="468252"/>
            <a:ext cx="12660117" cy="32039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sz="5000" b="1"/>
              <a:t>Beyond the Cadaver Lab: The </a:t>
            </a:r>
            <a:r>
              <a:rPr lang="en-US" sz="5000" b="1" err="1"/>
              <a:t>OpenSpineConsortium</a:t>
            </a:r>
            <a:r>
              <a:rPr lang="en-US" sz="5000" b="1"/>
              <a:t> as an Asynchronous, Open-Source Framework for Medical Student Engagement in Computational Spine Imaging Research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US" sz="3000" b="1">
                <a:solidFill>
                  <a:schemeClr val="bg2"/>
                </a:solidFill>
              </a:rPr>
              <a:t>Gregory Schwing, MD, PhD</a:t>
            </a:r>
            <a:r>
              <a:rPr lang="en-US" sz="3000" b="1" baseline="30000">
                <a:solidFill>
                  <a:schemeClr val="bg2"/>
                </a:solidFill>
              </a:rPr>
              <a:t>1</a:t>
            </a:r>
            <a:r>
              <a:rPr lang="en-US" sz="3000" b="1">
                <a:solidFill>
                  <a:schemeClr val="bg2"/>
                </a:solidFill>
              </a:rPr>
              <a:t>, Muaaz Akhtar, BS</a:t>
            </a:r>
            <a:r>
              <a:rPr lang="en-US" sz="3000" b="1" baseline="30000">
                <a:solidFill>
                  <a:schemeClr val="bg2"/>
                </a:solidFill>
              </a:rPr>
              <a:t>2</a:t>
            </a:r>
            <a:r>
              <a:rPr lang="en-US" sz="3000" b="1">
                <a:solidFill>
                  <a:schemeClr val="bg2"/>
                </a:solidFill>
              </a:rPr>
              <a:t>, Ryan Christian, BS</a:t>
            </a:r>
            <a:r>
              <a:rPr lang="en-US" sz="3000" b="1" baseline="30000">
                <a:solidFill>
                  <a:schemeClr val="bg2"/>
                </a:solidFill>
              </a:rPr>
              <a:t>2</a:t>
            </a:r>
            <a:r>
              <a:rPr lang="en-US" sz="3000" b="1">
                <a:solidFill>
                  <a:schemeClr val="bg2"/>
                </a:solidFill>
              </a:rPr>
              <a:t>, Sephora </a:t>
            </a:r>
            <a:r>
              <a:rPr lang="en-US" sz="3000" b="1" err="1">
                <a:solidFill>
                  <a:schemeClr val="bg2"/>
                </a:solidFill>
              </a:rPr>
              <a:t>Dafinescu</a:t>
            </a:r>
            <a:r>
              <a:rPr lang="en-US" sz="3000" b="1">
                <a:solidFill>
                  <a:schemeClr val="bg2"/>
                </a:solidFill>
              </a:rPr>
              <a:t>, BS</a:t>
            </a:r>
            <a:r>
              <a:rPr lang="en-US" sz="3000" b="1" baseline="30000">
                <a:solidFill>
                  <a:schemeClr val="bg2"/>
                </a:solidFill>
              </a:rPr>
              <a:t>2</a:t>
            </a:r>
            <a:r>
              <a:rPr lang="en-US" sz="3000" b="1">
                <a:solidFill>
                  <a:schemeClr val="bg2"/>
                </a:solidFill>
              </a:rPr>
              <a:t>, Blaise </a:t>
            </a:r>
            <a:r>
              <a:rPr lang="en-US" sz="3000" b="1" err="1">
                <a:solidFill>
                  <a:schemeClr val="bg2"/>
                </a:solidFill>
              </a:rPr>
              <a:t>DesChamps</a:t>
            </a:r>
            <a:r>
              <a:rPr lang="en-US" sz="3000" b="1">
                <a:solidFill>
                  <a:schemeClr val="bg2"/>
                </a:solidFill>
              </a:rPr>
              <a:t>, BS</a:t>
            </a:r>
            <a:r>
              <a:rPr lang="en-US" sz="3000" b="1" baseline="30000">
                <a:solidFill>
                  <a:schemeClr val="bg2"/>
                </a:solidFill>
              </a:rPr>
              <a:t>2</a:t>
            </a:r>
            <a:r>
              <a:rPr lang="en-US" sz="3000" b="1">
                <a:solidFill>
                  <a:schemeClr val="bg2"/>
                </a:solidFill>
              </a:rPr>
              <a:t>, Jason Fahmy, BS</a:t>
            </a:r>
            <a:r>
              <a:rPr lang="en-US" sz="3000" b="1" baseline="30000">
                <a:solidFill>
                  <a:schemeClr val="bg2"/>
                </a:solidFill>
              </a:rPr>
              <a:t>2</a:t>
            </a:r>
            <a:r>
              <a:rPr lang="en-US" sz="3000" b="1">
                <a:solidFill>
                  <a:schemeClr val="bg2"/>
                </a:solidFill>
              </a:rPr>
              <a:t>, Dane Hubers, BS</a:t>
            </a:r>
            <a:r>
              <a:rPr lang="en-US" sz="3000" b="1" baseline="30000">
                <a:solidFill>
                  <a:schemeClr val="bg2"/>
                </a:solidFill>
              </a:rPr>
              <a:t>2</a:t>
            </a:r>
            <a:r>
              <a:rPr lang="en-US" sz="3000" b="1">
                <a:solidFill>
                  <a:schemeClr val="bg2"/>
                </a:solidFill>
              </a:rPr>
              <a:t>, Margret </a:t>
            </a:r>
            <a:r>
              <a:rPr lang="en-US" sz="3000" b="1" err="1">
                <a:solidFill>
                  <a:schemeClr val="bg2"/>
                </a:solidFill>
              </a:rPr>
              <a:t>Khoushi</a:t>
            </a:r>
            <a:r>
              <a:rPr lang="en-US" sz="3000" b="1">
                <a:solidFill>
                  <a:schemeClr val="bg2"/>
                </a:solidFill>
              </a:rPr>
              <a:t>, BS</a:t>
            </a:r>
            <a:r>
              <a:rPr lang="en-US" sz="3000" b="1" baseline="30000">
                <a:solidFill>
                  <a:schemeClr val="bg2"/>
                </a:solidFill>
              </a:rPr>
              <a:t>2</a:t>
            </a:r>
            <a:r>
              <a:rPr lang="en-US" sz="3000" b="1">
                <a:solidFill>
                  <a:schemeClr val="bg2"/>
                </a:solidFill>
              </a:rPr>
              <a:t>, Jerick Kim, BS</a:t>
            </a:r>
            <a:r>
              <a:rPr lang="en-US" sz="3000" b="1" baseline="30000">
                <a:solidFill>
                  <a:schemeClr val="bg2"/>
                </a:solidFill>
              </a:rPr>
              <a:t>2</a:t>
            </a:r>
            <a:r>
              <a:rPr lang="en-US" sz="3000" b="1">
                <a:solidFill>
                  <a:schemeClr val="bg2"/>
                </a:solidFill>
              </a:rPr>
              <a:t>, Faris Mahjoub, BS</a:t>
            </a:r>
            <a:r>
              <a:rPr lang="en-US" sz="3000" b="1" baseline="30000">
                <a:solidFill>
                  <a:schemeClr val="bg2"/>
                </a:solidFill>
              </a:rPr>
              <a:t>2</a:t>
            </a:r>
            <a:r>
              <a:rPr lang="en-US" sz="3000" b="1">
                <a:solidFill>
                  <a:schemeClr val="bg2"/>
                </a:solidFill>
              </a:rPr>
              <a:t>, Hassan Saad, BS</a:t>
            </a:r>
            <a:r>
              <a:rPr lang="en-US" sz="3000" b="1" baseline="30000">
                <a:solidFill>
                  <a:schemeClr val="bg2"/>
                </a:solidFill>
              </a:rPr>
              <a:t>2</a:t>
            </a:r>
            <a:r>
              <a:rPr lang="en-US" sz="3000" b="1">
                <a:solidFill>
                  <a:schemeClr val="bg2"/>
                </a:solidFill>
              </a:rPr>
              <a:t>, Ashley Schehr, BS</a:t>
            </a:r>
            <a:r>
              <a:rPr lang="en-US" sz="3000" b="1" baseline="30000">
                <a:solidFill>
                  <a:schemeClr val="bg2"/>
                </a:solidFill>
              </a:rPr>
              <a:t>2</a:t>
            </a:r>
            <a:r>
              <a:rPr lang="en-US" sz="3000" b="1">
                <a:solidFill>
                  <a:schemeClr val="bg2"/>
                </a:solidFill>
              </a:rPr>
              <a:t>, Mia Sooch, BA</a:t>
            </a:r>
            <a:r>
              <a:rPr lang="en-US" sz="3000" b="1" baseline="30000">
                <a:solidFill>
                  <a:schemeClr val="bg2"/>
                </a:solidFill>
              </a:rPr>
              <a:t>2</a:t>
            </a:r>
            <a:r>
              <a:rPr lang="en-US" sz="3000" b="1">
                <a:solidFill>
                  <a:schemeClr val="bg2"/>
                </a:solidFill>
              </a:rPr>
              <a:t>, Alexandra Thomas, BS</a:t>
            </a:r>
            <a:r>
              <a:rPr lang="en-US" sz="3000" b="1" baseline="30000">
                <a:solidFill>
                  <a:schemeClr val="bg2"/>
                </a:solidFill>
              </a:rPr>
              <a:t>2</a:t>
            </a:r>
            <a:r>
              <a:rPr lang="en-US" sz="3000" b="1">
                <a:solidFill>
                  <a:schemeClr val="bg2"/>
                </a:solidFill>
              </a:rPr>
              <a:t>, Namrata </a:t>
            </a:r>
            <a:r>
              <a:rPr lang="en-US" sz="3000" b="1" err="1">
                <a:solidFill>
                  <a:schemeClr val="bg2"/>
                </a:solidFill>
              </a:rPr>
              <a:t>Vedagarbha</a:t>
            </a:r>
            <a:r>
              <a:rPr lang="en-US" sz="3000" b="1">
                <a:solidFill>
                  <a:schemeClr val="bg2"/>
                </a:solidFill>
              </a:rPr>
              <a:t>, BS</a:t>
            </a:r>
            <a:r>
              <a:rPr lang="en-US" sz="3000" b="1" baseline="30000">
                <a:solidFill>
                  <a:schemeClr val="bg2"/>
                </a:solidFill>
              </a:rPr>
              <a:t>2</a:t>
            </a:r>
            <a:r>
              <a:rPr lang="en-US" sz="3000" b="1">
                <a:solidFill>
                  <a:schemeClr val="bg2"/>
                </a:solidFill>
              </a:rPr>
              <a:t>, Joshua Weiss, BS</a:t>
            </a:r>
            <a:r>
              <a:rPr lang="en-US" sz="3000" b="1" baseline="30000">
                <a:solidFill>
                  <a:schemeClr val="bg2"/>
                </a:solidFill>
              </a:rPr>
              <a:t>2</a:t>
            </a:r>
            <a:r>
              <a:rPr lang="en-US" sz="3000" b="1">
                <a:solidFill>
                  <a:schemeClr val="bg2"/>
                </a:solidFill>
              </a:rPr>
              <a:t>, Razanne Zaghloul, BS</a:t>
            </a:r>
            <a:r>
              <a:rPr lang="en-US" sz="3000" b="1" baseline="30000">
                <a:solidFill>
                  <a:schemeClr val="bg2"/>
                </a:solidFill>
              </a:rPr>
              <a:t>2</a:t>
            </a:r>
            <a:endParaRPr lang="en-US" sz="3000" b="1">
              <a:solidFill>
                <a:schemeClr val="bg2"/>
              </a:solidFill>
            </a:endParaRPr>
          </a:p>
          <a:p>
            <a:pPr lvl="0">
              <a:spcBef>
                <a:spcPts val="1000"/>
              </a:spcBef>
            </a:pPr>
            <a:r>
              <a:rPr lang="en" sz="2600" baseline="30000">
                <a:solidFill>
                  <a:srgbClr val="666666"/>
                </a:solidFill>
              </a:rPr>
              <a:t>1</a:t>
            </a:r>
            <a:r>
              <a:rPr lang="en" sz="2600">
                <a:solidFill>
                  <a:srgbClr val="666666"/>
                </a:solidFill>
              </a:rPr>
              <a:t>Department of Surgery, Detroit Medical Center, Detroit MI</a:t>
            </a:r>
          </a:p>
          <a:p>
            <a:pPr lvl="0">
              <a:spcBef>
                <a:spcPts val="1000"/>
              </a:spcBef>
            </a:pPr>
            <a:r>
              <a:rPr lang="en" sz="2600" baseline="30000">
                <a:solidFill>
                  <a:srgbClr val="666666"/>
                </a:solidFill>
              </a:rPr>
              <a:t>2</a:t>
            </a:r>
            <a:r>
              <a:rPr lang="en" sz="2600">
                <a:solidFill>
                  <a:srgbClr val="666666"/>
                </a:solidFill>
              </a:rPr>
              <a:t>School of Medicine, Wayne State University, Detroit MI</a:t>
            </a:r>
          </a:p>
          <a:p>
            <a:pPr lvl="0">
              <a:spcBef>
                <a:spcPts val="1000"/>
              </a:spcBef>
            </a:pPr>
            <a:endParaRPr sz="3000"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chemeClr val="dk1"/>
                </a:solidFill>
              </a:rPr>
              <a:t>INTRODUCTION</a:t>
            </a:r>
            <a:endParaRPr sz="2800">
              <a:solidFill>
                <a:schemeClr val="dk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Research experience is heavily weighted in competitive specialties, yet preclinical schedules constrain student bandwidth.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Prior work shows students acquire coding skills quickly and that imaging-based curricula engage them in scholarship, but programs are institution-bound and rarely couple anatomical learning with authentic computational contribution.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1"/>
                </a:solidFill>
              </a:rPr>
              <a:t>OBJECTIVES</a:t>
            </a:r>
            <a:endParaRPr lang="en-US" sz="2800">
              <a:solidFill>
                <a:schemeClr val="dk1"/>
              </a:solidFill>
            </a:endParaRPr>
          </a:p>
          <a:p>
            <a:pPr marL="508000" indent="-457200"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" sz="2800">
                <a:solidFill>
                  <a:schemeClr val="dk1"/>
                </a:solidFill>
              </a:rPr>
              <a:t>To </a:t>
            </a:r>
            <a:r>
              <a:rPr lang="en-US" sz="2800"/>
              <a:t>combine open-source spine imaging datasets, Python coding, and a consortium model targeting a clinically high-impact anatomic region. </a:t>
            </a:r>
          </a:p>
          <a:p>
            <a:pPr marL="508000" indent="-457200"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chemeClr val="dk1"/>
                </a:solidFill>
              </a:rPr>
              <a:t>METHODS</a:t>
            </a:r>
            <a:endParaRPr sz="2800">
              <a:solidFill>
                <a:schemeClr val="dk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err="1"/>
              <a:t>OpenSpineConsortium</a:t>
            </a:r>
            <a:r>
              <a:rPr lang="en-US" sz="2800"/>
              <a:t> (OSC) is a distributed, open-source collaborative unifying public imaging collections into documented, openly licensed datasets, supporting anatomy-aware machine learning for the spine and pelvis.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For medical students, this translated into analyzing spine CTs, annotating anatomical structures, and learning to automatically extract clinically useful parameters.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Onboarding covers spine anatomy, segmentation, Python, and reproducible workflows. Students completed scoped sub-projects with senior-trainee mentorship.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A post-participation survey assessed self-reported skill gains, scholarly output, and specialty interest.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5080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endParaRPr sz="2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rgbClr val="66666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4E0142-BC43-12CF-90A6-36A7FC793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4278" y="28187375"/>
            <a:ext cx="17051172" cy="4274924"/>
          </a:xfrm>
          <a:prstGeom prst="rect">
            <a:avLst/>
          </a:prstGeom>
        </p:spPr>
      </p:pic>
      <p:sp>
        <p:nvSpPr>
          <p:cNvPr id="17" name="Google Shape;65;p14">
            <a:extLst>
              <a:ext uri="{FF2B5EF4-FFF2-40B4-BE49-F238E27FC236}">
                <a16:creationId xmlns:a16="http://schemas.microsoft.com/office/drawing/2014/main" id="{08F1DD30-3F74-F653-9998-A923AD1E8913}"/>
              </a:ext>
            </a:extLst>
          </p:cNvPr>
          <p:cNvSpPr txBox="1"/>
          <p:nvPr/>
        </p:nvSpPr>
        <p:spPr>
          <a:xfrm>
            <a:off x="30636053" y="53678"/>
            <a:ext cx="13255147" cy="32408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sz="2800">
              <a:solidFill>
                <a:schemeClr val="dk1"/>
              </a:solidFill>
            </a:endParaRPr>
          </a:p>
          <a:p>
            <a:pPr lvl="0"/>
            <a:r>
              <a:rPr lang="en-US" sz="4000" b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en-US" sz="400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Ten sub-projects span 16 contributors.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Self-reported comfort (five-point scale) improved significantly across all six domains (Wilcoxon, all p&lt;0.05), with the largest gains in CT spine interpretation (1.8 to 3.3, p&lt;0.001), anatomic landmark/pathology identification (2.0 to 3.2, p&lt;0.001), and Python coding (1.3 to 2.6, p&lt;0.001).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Conference submission, abstract writing, and literature reading also improved significantly.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Nine of 16 reported increased interest in neurosurgery and 11 of 16 in research-oriented careers.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All 16 would recommend OSC.</a:t>
            </a: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3200" b="1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4000" b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  <a:endParaRPr lang="en-US" sz="400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OSC produced significant gains in spine anatomy, computational proficiency, and scientific communication alongside 10 scholarly projects.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This supports a scalable, low-cost model bridging anatomic education, computational training, and authentic contribution within medical school's time constraints.</a:t>
            </a:r>
          </a:p>
          <a:p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rgbClr val="666666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CA5323-8805-CBBD-998C-33C92F0FE5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19661" y="6028739"/>
            <a:ext cx="12575429" cy="41515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6AC48F-9840-AD47-CD9F-50A8F61C6FE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1" t="6932" r="5744" b="4611"/>
          <a:stretch>
            <a:fillRect/>
          </a:stretch>
        </p:blipFill>
        <p:spPr bwMode="auto">
          <a:xfrm>
            <a:off x="40712" y="20061749"/>
            <a:ext cx="12849737" cy="682161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A7A4877-0ECB-92A2-ECBC-C67994927E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93592" y="10301995"/>
            <a:ext cx="10760710" cy="8458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780CBB1-1CED-E0D5-DB58-69620B34C94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76"/>
          <a:stretch>
            <a:fillRect/>
          </a:stretch>
        </p:blipFill>
        <p:spPr>
          <a:xfrm>
            <a:off x="30585463" y="11097560"/>
            <a:ext cx="13046397" cy="559696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3BAA193-25EA-C04E-4336-848222977F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95450" y="16644984"/>
            <a:ext cx="6978497" cy="559696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4385783-D0B6-8304-89A0-F4D9D6067EC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811"/>
          <a:stretch>
            <a:fillRect/>
          </a:stretch>
        </p:blipFill>
        <p:spPr>
          <a:xfrm>
            <a:off x="37180351" y="16669756"/>
            <a:ext cx="6383467" cy="559696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5DC873D-378B-9CCC-F55D-B8712399F16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2062" b="1905"/>
          <a:stretch>
            <a:fillRect/>
          </a:stretch>
        </p:blipFill>
        <p:spPr>
          <a:xfrm>
            <a:off x="30587526" y="22241951"/>
            <a:ext cx="13163071" cy="549645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757CF99-E64C-5262-74D3-D02469EE6E4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789629" y="27838919"/>
            <a:ext cx="7368635" cy="41755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700BDC5-0A11-FB54-EA9A-0F197A5E74D4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2156" b="1070"/>
          <a:stretch>
            <a:fillRect/>
          </a:stretch>
        </p:blipFill>
        <p:spPr>
          <a:xfrm>
            <a:off x="140603" y="26805457"/>
            <a:ext cx="13027657" cy="56446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661ECB-B616-A373-9FE8-FC31BC66DAA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546066" y="456102"/>
            <a:ext cx="13275377" cy="28188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e51cdec9-811d-471d-bbe6-dd3d8d54c28b}" enabled="0" method="" siteId="{e51cdec9-811d-471d-bbe6-dd3d8d54c2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468</Words>
  <Application>Microsoft Office PowerPoint</Application>
  <PresentationFormat>Custom</PresentationFormat>
  <Paragraphs>77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2</cp:revision>
  <cp:lastPrinted>2026-08-13T03:07:46Z</cp:lastPrinted>
  <dcterms:modified xsi:type="dcterms:W3CDTF">2026-09-01T15:53:38Z</dcterms:modified>
</cp:coreProperties>
</file>