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hyperlink" Target="https://github.com/OpenSpineConsortium/spinopelvic-seg" TargetMode="External"/><Relationship Id="rId4" Type="http://schemas.openxmlformats.org/officeDocument/2006/relationships/hyperlink" Target="https://huggingface.co/OpenSpineConsortium/spinopelvic-seg-checkpoin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Results from: Not All Spines Are Created Equal, NeurIPS 2026, Evaluations and Datasets track (accepted)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0" y="152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0000" y="152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Surgeons count vertebrae. On a transitional spine the count is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245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000" y="245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The planning CT is read more and more through an automatic segmenter; the most widely used one has no sixth lumbar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338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338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it does on a transitional spine, measured on a public benchmark built for the purpose: 802 patients, 33 transitional, Castellvi graded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431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000" y="431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A released single-shot spine-and-pelvis segmenter: what it repairs, and what it does not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5240000"/>
            <a:ext cx="520000" cy="52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000" y="5240000"/>
            <a:ext cx="9450000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1D63"/>
                </a:solidFill>
              </a:rPr>
              <a:t>What is missing: enough transitional patients' scans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Strong et al. 2022, Figure 3: fluoroscopy with a needle at the T10 pedicle, levels counted from the sacru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447602" cy="3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00000"/>
            <a:ext cx="4447602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7602" y="1420000"/>
            <a:ext cx="5402398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7602" y="4970000"/>
            <a:ext cx="5402398" cy="10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Every check in use today counts the levels again, and a recount fails the same way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The truth is on CT, where the whole column can be counted and the junction graded (Castellvi 1984)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10. CTSpinoPelvic1K, doi.org/10.5281/zenodo.22139642.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Published costs of wrong-site surgery and of the checks that prevent i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De Silva 2016 Figure 1 and Manbachi 2018 Figure 6: level labels carried from the planning CT onto the fil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Published level-checking methods and what each is scored agains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So the level is decided on the planning CT, and more and more by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11. Otake Y, et al. Phys Med Biol 2012;57:5485.   12. De Silva T, et al. Spine 2016.   13. Manbachi A, et al. Ann Biomed Eng 2018;46:1548.   14. Peh WCG, et al. 1999.   15. Zhang R, et al. J Xray Sci Technol 2023.   16.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the labels slide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Published: Not All Spines Are Created Equal, NeurIPS 2026, Evaluations and Datasets track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public benchmark, transitional spines graded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900000" cy="3973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73584"/>
            <a:ext cx="3900000" cy="826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Two-reader consensus Castellvi grade, all 33 transitional patients (NeurIPS 2026, Table 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50000" y="1420000"/>
            <a:ext cx="5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CTSpinoPelvic1K: 1,153 CT records of 802 patients, spine and pelvis in one mask (CTSpine1K and CTPelvic1K, one screening cohort)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33 transitional patients in six phenotypes: 14 lumbarization, 9 four-lumbar sacralization, 6 full, 2 semi, 2 ambiguous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Castellvi graded by two radiology residents: 27 of 33 agreed (κ 0.74), six settled by consensus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16 of 33 are IIIb, all nine four-lumbar spines among them; only 2 are Type I, so this is the conspicuous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19. Deng Y, et al. CTSpine1K, 2021.   20. Liu P, et al. CTPelvic1K, 2021.   21. Castellvi AE, et al. Spine 1984;9:493.   22. CTSpinoPelvic1K, doi.org/10.5281/zenodo.22139642.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the benchmark was built</a:t>
            </a:r>
          </a:p>
        </p:txBody>
      </p:sp>
      <p:pic>
        <p:nvPicPr>
          <p:cNvPr id="3" name="Picture 2" descr="Flow of the dataset construction, from the source CT and label sets to 802 released record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2715715" cy="4860000"/>
          </a:xfrm>
          <a:prstGeom prst="rect">
            <a:avLst/>
          </a:prstGeom>
        </p:spPr>
      </p:pic>
      <p:pic>
        <p:nvPicPr>
          <p:cNvPr id="4" name="Picture 3" descr="Surgical hardware labelled as its own classes: hip arthroplasty, femoral-neck screws, sacroiliac screws, interbody cag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15" y="1420000"/>
            <a:ext cx="7134285" cy="1538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5715" y="3018902"/>
            <a:ext cx="713428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Surgical hardware as its own classes, 11 records (MDPA Fig. S1). Bar, 5 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5715" y="3458902"/>
            <a:ext cx="7134285" cy="2821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Two public label sets matched to the CT series each was drawn on; neither source recorded which of the two scans it used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112 spine and 13 pelvic corrections to the source labels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Release gates: geometry and sides from the affine, then every measure in its physiological range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802 records, 33 with a consensus Castellvi grade; public on Zenodo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Figures: CTSpinoPelvic1K dataset article (arXiv 2609.22760, Medical Physics, submitted), Fig. 1 and Fig. S1.   CTSpinoPelvic1K, doi.org/10.5281/zenodo.22139642.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Its spinopelvic measures match published CT</a:t>
            </a:r>
          </a:p>
        </p:txBody>
      </p:sp>
      <p:pic>
        <p:nvPicPr>
          <p:cNvPr id="3" name="Picture 2" descr="Distributions of pelvic incidence, sacral slope and pelvic tilt over 756 records with standing and published CT reference lin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2121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3581182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756 of 802 records passing the geometric gates. Dashed, standing radiograph (Vialle 2005); dotted, published supine CT (MDPA Fig. S2).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50000" y="3961182"/>
          <a:ext cx="63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1800000"/>
                <a:gridCol w="1400000"/>
                <a:gridCol w="1400000"/>
              </a:tblGrid>
              <a:tr h="32500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dataset, supine (n = 756)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Veilleux 2020 (n = 200)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Hasegawa 2018 (n = 24)</a:t>
                      </a:r>
                    </a:p>
                  </a:txBody>
                  <a:tcPr>
                    <a:solidFill>
                      <a:srgbClr val="191D63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Pelvic incidence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52.1 ± 11.1°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52.1°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53.4°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Sacral slope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36.6 ± 10.6°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36.5°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34.1°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91D63"/>
                          </a:solidFill>
                        </a:rPr>
                        <a:t>Pelvic tilt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15.5 ± 7.9°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15.6°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91D63"/>
                          </a:solidFill>
                        </a:rPr>
                        <a:t>19.2°</a:t>
                      </a:r>
                    </a:p>
                  </a:txBody>
                  <a:tcPr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50000" y="3961182"/>
            <a:ext cx="3550000" cy="23188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Pelvic incidence is a fixed property of the pelvis, so it tests the labels: 52.1° here and in Veilleux's automated supine CT series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Sacral slope and tilt, which depend on posture, sit within 0.1° of the same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Veilleux NJ, et al. J Bone Joint Surg Am 2020;102:e130.   Hasegawa K, et al. BMC Musculoskelet Disord 2018;19:437.   Vialle R, et al. J Bone Joint Surg Am 2005;87:260.   Dataset article: arXiv 2609.22760, Table III and Fig. S2.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segmenter fails by phenotype, one level at a time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200000" cy="3120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620584"/>
            <a:ext cx="5200000" cy="1679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Per-level Dice of the unmodified whole-body segmenter by phenotype; n is patients (NeurIPS 2026, Table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50000" y="1420000"/>
            <a:ext cx="46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anatomy (768 patients): L1–L5 Dice 0.92–0.94, its published level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Lumbarization (14): falls level by level, L3 0.69, L4 0.39, L5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Four lumbar bodies (9): every label one level off, 0.265 at L1, 0.001 at L4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Per patient, L5 Dice below 0.5 in 10 of 14 lumbarizations and 9 of 9 four-lumbar spines, against 9 of 750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0000" y="5200000"/>
            <a:ext cx="46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The mechanism and how often it occurs; no wrong-level event is attributed to a segmenter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17. Wasserthal J, et al. Radiol Artif Intell 2023;5:e230024.   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released model: spine and pelvis in one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Abdominopelvic CT at 0.80 × 0.75 × 0.75 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5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One network, one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5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nnU-Net, 3-D full resolution; a 256 × 320 × 320 patch holds lumbar spine and pelvis (≈100 GB, one H200)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0000" y="1570000"/>
            <a:ext cx="2700000" cy="9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Nine classes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000" y="2550000"/>
            <a:ext cx="2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L1–L4, last lumbar (L5 and L6 merged), sacrum, both hips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2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527500" y="186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0000" y="3770000"/>
            <a:ext cx="10150000" cy="2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The last lumbar body is one class, L5 and L6 together, the merge VERIDAH uses for its classifier (Möller 2026)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Trained on all 1,153 records: unlabelled regions are ignored, so spine-only and pelvis-only records still teach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Transitional records oversampled to a quarter of the training samples; 5-fold cross-validation; 174 records held out, 7 of them transitional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91D63"/>
                </a:solidFill>
              </a:rPr>
              <a:t>Weights, trainer and inference code are 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23. Isensee F, et al. Nat Methods 2021;18:203.   24. Möller H, et al. VERIDAH, 2026.   25. Schwing GJ, et al. Not All Spines Are Created Equal: How CT Segmenters Fail on Lumbosacral Transitional Vertebrae. NeurIPS 2026 (accepted).   Code: github.com/OpenSpineConsortium/spinopelvic-seg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the merge repairs: the junction and the sacrum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900000" cy="3278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78438"/>
            <a:ext cx="4900000" cy="15215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Dice, the unmodified whole-body segmenter against the released model (NeurIPS 2026, Tables 1, 5 and 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0000" y="1420000"/>
            <a:ext cx="49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Lumbosacral junction on lumbarization: 0.357 (whole-body segmenter, 3 patients) to 0.946 (the one held-out patient whose truth holds L5 and sacrum)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Last lumbar emitted on 3 of 3 held-out lumbarizations and 167 of 167 normal records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Sacrum: 0.817 to 0.969 (113 held-out records with a sacral mask)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Normal L1–L4: 0.95–0.97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000" y="5200000"/>
            <a:ext cx="49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Different test sets: the whole-body segmenter zero-shot on the cohort, ours on the held-out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does not repair</a:t>
            </a:r>
          </a:p>
        </p:txBody>
      </p:sp>
      <p:pic>
        <p:nvPicPr>
          <p:cNvPr id="3" name="Picture 2" descr="Figure; see the caption on the slid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700000" cy="3337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37258"/>
            <a:ext cx="4700000" cy="14627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unmerged control: share of true-L6 voxels called L5, mean of the last 100 of 500 epochs (NeurIPS 2026, section 8.1).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0000" y="1420000"/>
            <a:ext cx="51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same network with an explicit L6 class and L6 oversampling still called most true L6 voxels L5; L6 Dice 0.01–0.13 against 0.91–0.95 for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merge moves the collision up: on a four-lumbar spine (one held-out patient) 82.7 % of true L4 voxels were called last lumbar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On lumbarization the upper labels still slide: L2 0.61, L3 0.38, L4 0.21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0000" y="5200000"/>
            <a:ext cx="51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C70B7"/>
                </a:solidFill>
              </a:rPr>
              <a:t>A patch never holds both ends of the spine: telling four lumbar bodies from five needs a component that sees the whole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One cohort: US screening CT, ages 45–75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Phenotypes come from the source annotations, not image reads; Castellvi is a two-resident consensus with no senior read; 2 of 33 are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Seven transitional patients held out; the junction is scorable on one lumbarization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mechanism, not an outcome: no reader study, no planning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75000" y="1420000"/>
            <a:ext cx="4925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5000" y="2070000"/>
            <a:ext cx="4925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More transitional patients: VerSe labels L6 in 460 CTs without a pelvis; completing the sacrum with this segmenter gives a 1,613-volume spinopelvic cohort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This segmenter upstream of VERIDAH's sequence predictor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A senior read of all 33, and a screen of the normal cohort for Type 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91D63"/>
                </a:solidFill>
              </a:rPr>
              <a:t>Released since the paper (v11): one record per patient, per-level ribs and femora, both Castellvi reads and their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18. Schwing GJ, et al. Not All Spines Are Created Equal: How CT Segmenters Fail on Lumbosacral Transitional Vertebrae. NeurIPS 2026 (accepted).   26. Sekuboyina A, et al. VerSe. Med Image Anal 2021;73:102166.   22. CTSpinoPelvic1K, doi.org/10.5281/zenodo.22139642.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10150000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The most widely used CT segmenter has no L6: on lumbarization it shifts the lumbar labels one level, confidently, with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CTSpinoPelvic1K makes that failure measurable: 802 patients, 33 transitional, Castellvi graded, public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Merging L5 and L6 in training restores the junction and the sacrum; adding an L6 class does not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0">
                <a:solidFill>
                  <a:srgbClr val="191D63"/>
                </a:solidFill>
              </a:rPr>
              <a:t>Telling four lumbar bodies from five in one pass is still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0000" y="4870000"/>
            <a:ext cx="10150000" cy="8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FFFFFF"/>
                </a:solidFill>
              </a:rPr>
              <a:t>Report any spine model by phenotype, with each stratum's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8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retrospective, public de-identified data; small transitional strata, each reported with its n; not a cleared device.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(doi.org/10.5281/zenodo.22139642), built on CTSpine1K, CTPelvic1K and The Cancer Imaging Archive;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Paper: Not All Spines Are Created Equal, NeurIPS 2026, Evaluations and Datasets track (accepted)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pen Spine Consortium logo.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Weights and code: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github.com/OpenSpineConsortium/spinopelvic-seg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huggingface.co/OpenSpineConsortium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8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2026-04-16T17:17:21Z</dcterms:created>
  <dcterms:modified xsi:type="dcterms:W3CDTF">2026-04-21T16:28:45Z</dcterms:modified>
</cp:coreProperties>
</file>