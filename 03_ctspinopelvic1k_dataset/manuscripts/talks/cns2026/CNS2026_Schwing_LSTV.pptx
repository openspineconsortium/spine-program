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59" r:id="rId25"/>
    <p:sldId id="560" r:id="rId26"/>
    <p:sldId id="561" r:id="rId24"/>
    <p:sldId id="562" r:id="rId23"/>
    <p:sldId id="563" r:id="rId22"/>
    <p:sldId id="564" r:id="rId21"/>
    <p:sldId id="565" r:id="rId20"/>
    <p:sldId id="566" r:id="rId19"/>
    <p:sldId id="567" r:id="rId18"/>
    <p:sldId id="568" r:id="rId17"/>
    <p:sldId id="569" r:id="rId16"/>
    <p:sldId id="570" r:id="rId15"/>
    <p:sldId id="571" r:id="rId14"/>
    <p:sldId id="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31.xml"/><Relationship Id="rId14" Type="http://schemas.openxmlformats.org/officeDocument/2006/relationships/slide" Target="slides/slide30.xml"/><Relationship Id="rId15" Type="http://schemas.openxmlformats.org/officeDocument/2006/relationships/slide" Target="slides/slide29.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22.xml"/><Relationship Id="rId23" Type="http://schemas.openxmlformats.org/officeDocument/2006/relationships/slide" Target="slides/slide21.xml"/><Relationship Id="rId24" Type="http://schemas.openxmlformats.org/officeDocument/2006/relationships/slide" Target="slides/slide20.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a:solidFill>
                  <a:srgbClr val="000000"/>
                </a:solidFill>
                <a:latin typeface="Arial"/>
              </a:rPr>
              <a:t>Detroit Medical Center / Wayne State University  ·  OpenSpineConsortium</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a:solidFill>
                  <a:srgbClr val="000000"/>
                </a:solidFill>
                <a:latin typeface="Arial"/>
              </a:rPr>
              <a:t>Naming a Lumbar Level Without Counting From C2: CTSpinoPelvic1K and a One-Shot Detector for Transitional Anatomy</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a:solidFill>
                  <a:srgbClr val="000000"/>
                </a:solidFill>
                <a:latin typeface="Arial"/>
              </a:rPr>
              <a:t>Gregory J. Schwing, MD, PhD¹   ·   Ashley Schehr²   ·   the OpenSpineConsortium annotators²   ·   Miraziz Ismoilov, MD³   ·   Nizar Alnabahneh, MD³</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a:solidFill>
                  <a:srgbClr val="595959"/>
                </a:solidFill>
                <a:latin typeface="Arial"/>
              </a:rPr>
              <a:t>¹ Department of Surgery, Detroit Medical Center / Wayne State University, Detroit, MI</a:t>
            </a:r>
          </a:p>
          <a:p>
            <a:r>
              <a:rPr sz="1150">
                <a:solidFill>
                  <a:srgbClr val="595959"/>
                </a:solidFill>
                <a:latin typeface="Arial"/>
              </a:rPr>
              <a:t>² Wayne State University School of Medicine   ·   ³ Department of Radiology, Detroit Medical Center / Wayne State University</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a:solidFill>
                  <a:srgbClr val="095945"/>
                </a:solidFill>
                <a:latin typeface="Arial"/>
              </a:rPr>
              <a:t>Abstract [number pending]   ·   [session pending]</a:t>
            </a:r>
          </a:p>
          <a:p>
            <a:r>
              <a:rPr sz="1300">
                <a:solidFill>
                  <a:srgbClr val="095945"/>
                </a:solidFill>
                <a:latin typeface="Arial"/>
              </a:rPr>
              <a:t>CNS 2026, Washington, DC</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0881360" cy="3108960"/>
          </a:xfrm>
          <a:prstGeom prst="rect">
            <a:avLst/>
          </a:prstGeom>
          <a:noFill/>
        </p:spPr>
        <p:txBody>
          <a:bodyPr wrap="square" anchor="t" lIns="0" rIns="0" tIns="0" bIns="0">
            <a:spAutoFit/>
          </a:bodyPr>
          <a:lstStyle/>
          <a:p>
            <a:pPr algn="l">
              <a:spcBef>
                <a:spcPts val="0"/>
              </a:spcBef>
              <a:spcAft>
                <a:spcPts val="1400"/>
              </a:spcAft>
            </a:pPr>
            <a:r>
              <a:rPr sz="1800">
                <a:solidFill>
                  <a:srgbClr val="000000"/>
                </a:solidFill>
                <a:latin typeface="Arial"/>
              </a:rPr>
              <a:t>The authors have no relevant financial relationships to disclose.</a:t>
            </a:r>
          </a:p>
          <a:p>
            <a:r>
              <a:rPr sz="1800">
                <a:solidFill>
                  <a:srgbClr val="000000"/>
                </a:solidFill>
                <a:latin typeface="Arial"/>
              </a:rPr>
              <a:t>All imaging is public and de-identified (TCIA CT COLONOGRAPHY); the WSU IRB determined the work is not human-participant research (2 September 2026).</a:t>
            </a:r>
          </a:p>
          <a:p>
            <a:r>
              <a:rPr sz="1800">
                <a:solidFill>
                  <a:srgbClr val="000000"/>
                </a:solidFill>
                <a:latin typeface="Arial"/>
              </a:rPr>
              <a:t>Dataset, code and weights are released under open licences; nothing presented is a medical device.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Where this is going</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problem — a lumbar level is named by counting from C2, and the study a lumbar case is planned on has no C2</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dataset — 802 CT records with spine, pelvis, ribs, femora and hardware in one frame, and a class for every anomaly</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claim — identity is local: shape alone separates T12 from L1 at AUC 0.99 in the same patient</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model — a one-shot network that never counts, plus a decoder that turns its probabilities into a posterior over the readings</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What it says about development, and about the operating 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count fails exactly where the anatomy is transitional</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000000" cy="384048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Wrong-level spine surgery runs at about one in 3,100 spinal procedures, and the cause most often cited is transitional anatomy.¹</a:t>
            </a:r>
          </a:p>
          <a:p>
            <a:r>
              <a:rPr sz="1800">
                <a:solidFill>
                  <a:srgbClr val="000000"/>
                </a:solidFill>
                <a:latin typeface="Arial"/>
              </a:rPr>
              <a:t>A lumbosacral transitional vertebra is present in roughly one patient in ten; a thoracolumbar variant (a stump twelfth rib, a lumbar rib, a thirteenth thoracic vertebra) in more.</a:t>
            </a:r>
          </a:p>
          <a:p>
            <a:r>
              <a:rPr sz="1800">
                <a:solidFill>
                  <a:srgbClr val="000000"/>
                </a:solidFill>
                <a:latin typeface="Arial"/>
              </a:rPr>
              <a:t>The gold standard names a level by counting caudally from C2 on whole-spine imaging. A lumbar surgical case is planned on a lumbar study, T12 to S1. C2 is never in it.</a:t>
            </a:r>
          </a:p>
          <a:p>
            <a:r>
              <a:rPr sz="1800">
                <a:solidFill>
                  <a:srgbClr val="000000"/>
                </a:solidFill>
                <a:latin typeface="Arial"/>
              </a:rPr>
              <a:t>So the name rests on local morphology, and the question is whether morphology is enough.</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1. Epstein NE. Surg Neurol Int 2021;12:286.   Field of view of 802 abdominopelvic CTs: the thoracic column enters from above; C2 never.</a:t>
            </a:r>
          </a:p>
        </p:txBody>
      </p:sp>
      <p:pic>
        <p:nvPicPr>
          <p:cNvPr id="33" name="Picture 32" descr="fig_fov.png"/>
          <p:cNvPicPr>
            <a:picLocks noChangeAspect="1"/>
          </p:cNvPicPr>
          <p:nvPr/>
        </p:nvPicPr>
        <p:blipFill>
          <a:blip r:embed="rId5"/>
          <a:stretch>
            <a:fillRect/>
          </a:stretch>
        </p:blipFill>
        <p:spPr>
          <a:xfrm>
            <a:off x="6500000" y="1371600"/>
            <a:ext cx="5300000" cy="168775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same count, three anatomies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Four rib-free bodies above the sacrum</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An L1 that carries a lumbar rib and is counted as thoracic,</a:t>
            </a:r>
          </a:p>
          <a:p>
            <a:r>
              <a:rPr sz="1700">
                <a:solidFill>
                  <a:srgbClr val="000000"/>
                </a:solidFill>
                <a:latin typeface="Arial"/>
              </a:rPr>
              <a:t>or an L5 assimilated to the sacrum (sacralization).</a:t>
            </a:r>
          </a:p>
          <a:p>
            <a:r>
              <a:rPr sz="1700">
                <a:solidFill>
                  <a:srgbClr val="000000"/>
                </a:solidFill>
                <a:latin typeface="Arial"/>
              </a:rPr>
              <a:t>Same count. Opposite surgical anatomy.</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Six rib-free bodies above the sacrum</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 true sixth lumbar vertebra (A),</a:t>
            </a:r>
          </a:p>
          <a:p>
            <a:r>
              <a:rPr sz="1700">
                <a:solidFill>
                  <a:srgbClr val="000000"/>
                </a:solidFill>
                <a:latin typeface="Arial"/>
              </a:rPr>
              <a:t>a T12 whose ribs are aplastic, counted as lumbar (B),</a:t>
            </a:r>
          </a:p>
          <a:p>
            <a:r>
              <a:rPr sz="1700">
                <a:solidFill>
                  <a:srgbClr val="000000"/>
                </a:solidFill>
                <a:latin typeface="Arial"/>
              </a:rPr>
              <a:t>or a first sacral segment that separated (C, lumbarization).</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Can the vertebra's own shape, its ribs and its junction say which one it is, without the count?</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2. Konin GP, Walz DM. AJNR 2010;31:1778–1786.   3. Poolman TM, et al. J Anat 2023;243:311–318.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CTSpinoPelvic1K: two anchors on every record, and a class for every anomaly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802 abdominopelvic CT records from TCIA CT COLONOGRAPHY, joining CTSpine1K's vertebrae and CTPelvic1K's pelvis on one series, which neither source had done.</a:t>
            </a:r>
          </a:p>
          <a:p>
            <a:r>
              <a:rPr sz="1800">
                <a:solidFill>
                  <a:srgbClr val="000000"/>
                </a:solidFill>
                <a:latin typeface="Arial"/>
              </a:rPr>
              <a:t>Added on every record: per-level ribs (thirteen per side), femora, a separate S1, and surgical hardware as its own class.</a:t>
            </a:r>
          </a:p>
          <a:p>
            <a:r>
              <a:rPr sz="1800">
                <a:solidFill>
                  <a:srgbClr val="000000"/>
                </a:solidFill>
                <a:latin typeface="Arial"/>
              </a:rPr>
              <a:t>Lumbar levels are anchored on the lowest rib-bearing vertebra and on S1, not on a count. L6, T13, lumbar ribs and stump ribs are recorded as themselves.</a:t>
            </a:r>
          </a:p>
          <a:p>
            <a:r>
              <a:rPr sz="1800">
                <a:solidFill>
                  <a:srgbClr val="000000"/>
                </a:solidFill>
                <a:latin typeface="Arial"/>
              </a:rPr>
              <a:t>33 records carry a two-reader Castellvi grade. Sixteen carry a lumbar rib; 98 a stump twelfth rib; 18 a sixth lumbar body.</a:t>
            </a:r>
          </a:p>
          <a:p>
            <a:r>
              <a:rPr sz="1800">
                <a:solidFill>
                  <a:srgbClr val="000000"/>
                </a:solidFill>
                <a:latin typeface="Arial"/>
              </a:rPr>
              <a:t>v10 archived on Zenodo (10.5281/zenodo.22139642); build archive 10.5281/zenodo.22647933; submitted to Medical Physics.</a:t>
            </a:r>
          </a:p>
        </p:txBody>
      </p:sp>
      <p:pic>
        <p:nvPicPr>
          <p:cNvPr id="27" name="Picture 26" descr="fig_anchors.png"/>
          <p:cNvPicPr>
            <a:picLocks noChangeAspect="1"/>
          </p:cNvPicPr>
          <p:nvPr/>
        </p:nvPicPr>
        <p:blipFill>
          <a:blip r:embed="rId6"/>
          <a:stretch>
            <a:fillRect/>
          </a:stretch>
        </p:blipFill>
        <p:spPr>
          <a:xfrm>
            <a:off x="411480" y="1371600"/>
            <a:ext cx="5600000" cy="148070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Validated at three layers before any number was believed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Geometry first: 802 of 802 records pass the invariants (one component per bone, sided structures on their side, labels on their CT grid).</a:t>
            </a:r>
          </a:p>
          <a:p>
            <a:r>
              <a:rPr sz="1600">
                <a:solidFill>
                  <a:srgbClr val="000000"/>
                </a:solidFill>
                <a:latin typeface="Arial"/>
              </a:rPr>
              <a:t>Rib–vertebra incidence across 5,749 evaluable ribs: 2 residual offsets, 0.035 percent.</a:t>
            </a:r>
          </a:p>
          <a:p>
            <a:r>
              <a:rPr sz="1600">
                <a:solidFill>
                  <a:srgbClr val="000000"/>
                </a:solidFill>
                <a:latin typeface="Arial"/>
              </a:rPr>
              <a:t>Derived spinopelvic measures match published reference values.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Every measurement in this talk was written to a file by a script that can be re-run on the released data.</a:t>
            </a:r>
          </a:p>
        </p:txBody>
      </p:sp>
      <p:pic>
        <p:nvPicPr>
          <p:cNvPr id="28" name="Picture 27" descr="fig_validation.png"/>
          <p:cNvPicPr>
            <a:picLocks noChangeAspect="1"/>
          </p:cNvPicPr>
          <p:nvPr/>
        </p:nvPicPr>
        <p:blipFill>
          <a:blip r:embed="rId6"/>
          <a:stretch>
            <a:fillRect/>
          </a:stretch>
        </p:blipFill>
        <p:spPr>
          <a:xfrm>
            <a:off x="256032" y="1554480"/>
            <a:ext cx="7900000" cy="16360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 network that never counts, and a decoder that reasons about the sequence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One-shot segmenter</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nnU-Net ResEnc-L, 24 classes: T10–T13, L1–L6,</a:t>
            </a:r>
          </a:p>
          <a:p>
            <a:r>
              <a:rPr sz="1300">
                <a:solidFill>
                  <a:srgbClr val="595959"/>
                </a:solidFill>
                <a:latin typeface="Arial"/>
              </a:rPr>
              <a:t>sacrum, ribs 1–11, rib 12, rib 13, lumbar rib, hips, femur</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Instances + type probabilities</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per vertebra: P(thoracic), P(lumbar), P(sacral)</a:t>
            </a:r>
          </a:p>
          <a:p>
            <a:r>
              <a:rPr sz="1300">
                <a:solidFill>
                  <a:srgbClr val="595959"/>
                </a:solidFill>
                <a:latin typeface="Arial"/>
              </a:rPr>
              <a:t>from the softmax; rib contact per body</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Monotone decode</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thoracic above lumbar above sacrum;</a:t>
            </a:r>
          </a:p>
          <a:p>
            <a:r>
              <a:rPr sz="1300">
                <a:solidFill>
                  <a:srgbClr val="595959"/>
                </a:solidFill>
                <a:latin typeface="Arial"/>
              </a:rPr>
              <a:t>posterior over the rib-free count and over A / B / C</a:t>
            </a:r>
          </a:p>
        </p:txBody>
      </p:sp>
      <p:sp>
        <p:nvSpPr>
          <p:cNvPr id="33" name="TextBox 32"/>
          <p:cNvSpPr txBox="1"/>
          <p:nvPr/>
        </p:nvSpPr>
        <p:spPr>
          <a:xfrm>
            <a:off x="256032" y="3703320"/>
            <a:ext cx="11521440" cy="201168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Every class is a local appearance. To call a voxel L1 rather than T12 the network has to read the body's own shape and facets; to call a rib lumbar rather than twelfth it has to read the vertebra beneath it. That is the morphology classifier and the segmenter trained as one model.</a:t>
            </a:r>
          </a:p>
          <a:p>
            <a:r>
              <a:rPr sz="1700">
                <a:solidFill>
                  <a:srgbClr val="000000"/>
                </a:solidFill>
                <a:latin typeface="Arial"/>
              </a:rPr>
              <a:t>What a semantic network cannot do is notice that its own sequence does not fit twelve, five and a sacrum. The decoder adds only that: instances, type probabilities, and the most likely monotone sequence, with the probability of each reading reported rather than a verdict forced.</a:t>
            </a:r>
          </a:p>
          <a:p>
            <a:r>
              <a:rPr sz="1700">
                <a:solidFill>
                  <a:srgbClr val="000000"/>
                </a:solidFill>
                <a:latin typeface="Arial"/>
              </a:rPr>
              <a:t>Rare-class exposure is enforced: records carrying a lumbar rib, a T13 or a lumbosacral variant fill half of every training queue. Five patient-grouped, LSTV-stratified folds; 500 epochs each on H200 GPUs.</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4. Isensee F, et al. Nat Methods 2021;18:203–211.   5. Wald T, et al. TMLR 2025 (ResEnc).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Identity is local: T12 and L1 differ in shape inside the same patient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Eleven shape features per vertebra, each divided by the patient's own median across levels so size is removed and only shape remains.</a:t>
            </a:r>
          </a:p>
          <a:p>
            <a:r>
              <a:rPr sz="1600">
                <a:solidFill>
                  <a:srgbClr val="000000"/>
                </a:solidFill>
                <a:latin typeface="Arial"/>
              </a:rPr>
              <a:t>Logistic regression, cross-validated by patient: thoracic against lumbar AUC 0.998; T12 against L1 AUC 0.990, accuracy 97.3 percent over 1,485 vertebrae.</a:t>
            </a:r>
          </a:p>
          <a:p>
            <a:r>
              <a:rPr sz="1600">
                <a:solidFill>
                  <a:srgbClr val="000000"/>
                </a:solidFill>
                <a:latin typeface="Arial"/>
              </a:rPr>
              <a:t>Transverse-process span carries most of it. Costal facets and facet orientation are not in that feature set; the network sees them.</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Morphometry by level with its spread, 802 records: the reference the model is measured against.</a:t>
            </a:r>
          </a:p>
        </p:txBody>
      </p:sp>
      <p:pic>
        <p:nvPicPr>
          <p:cNvPr id="28" name="Picture 27" descr="fig_levelatlas.png"/>
          <p:cNvPicPr>
            <a:picLocks noChangeAspect="1"/>
          </p:cNvPicPr>
          <p:nvPr/>
        </p:nvPicPr>
        <p:blipFill>
          <a:blip r:embed="rId6"/>
          <a:stretch>
            <a:fillRect/>
          </a:stretch>
        </p:blipFill>
        <p:spPr>
          <a:xfrm>
            <a:off x="256032" y="1554480"/>
            <a:ext cx="7900000" cy="355602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Eighteen six-lumbar spines, read from the labels: where is the extra body?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Every feature as a z-score against 643 normal five-lumbar spines.</a:t>
            </a:r>
          </a:p>
          <a:p>
            <a:r>
              <a:rPr sz="1600">
                <a:solidFill>
                  <a:srgbClr val="000000"/>
                </a:solidFill>
                <a:latin typeface="Arial"/>
              </a:rPr>
              <a:t>Bottom body: a transverse process 2–5 SD taller than a normal L5's, sitting 2 SD closer to the ilium, or a sacrum a segment short, reads as a lumbarized S1.</a:t>
            </a:r>
          </a:p>
          <a:p>
            <a:r>
              <a:rPr sz="1600">
                <a:solidFill>
                  <a:srgbClr val="000000"/>
                </a:solidFill>
                <a:latin typeface="Arial"/>
              </a:rPr>
              <a:t>Top body: the whole column scored as labelled and with every name moved up one; a labelled L1 that fits T12 better reads as an aplastic-rib T12.</a:t>
            </a:r>
          </a:p>
          <a:p>
            <a:r>
              <a:rPr sz="1600">
                <a:solidFill>
                  <a:srgbClr val="000000"/>
                </a:solidFill>
                <a:latin typeface="Arial"/>
              </a:rPr>
              <a:t>11 true L6  ·  4 lumbarized S1  ·  1 aplastic-rib T12  ·  2 with evidence at both ends.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The label convention hides an aplastic twelfth rib (the lowest rib-bearing body is defined as T12), which is why the column-wide test, not the rib length, finds reading B.</a:t>
            </a:r>
          </a:p>
        </p:txBody>
      </p:sp>
      <p:pic>
        <p:nvPicPr>
          <p:cNvPr id="28" name="Picture 27" descr="six_lumbar_readings.png"/>
          <p:cNvPicPr>
            <a:picLocks noChangeAspect="1"/>
          </p:cNvPicPr>
          <p:nvPr/>
        </p:nvPicPr>
        <p:blipFill>
          <a:blip r:embed="rId6"/>
          <a:stretch>
            <a:fillRect/>
          </a:stretch>
        </p:blipFill>
        <p:spPr>
          <a:xfrm>
            <a:off x="256032" y="1554480"/>
            <a:ext cx="7900000" cy="319761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the evidence looks like on the CT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Record 0376, Castellvi IV. Top left: the labelled L1 at pedicle level. Top right: coronal MIP through it, no rib. Bottom left: the labelled sixth body sitting on both alae. Bottom right: the disc beneath it and the sacral height.</a:t>
            </a:r>
          </a:p>
          <a:p>
            <a:r>
              <a:rPr sz="1800">
                <a:solidFill>
                  <a:srgbClr val="000000"/>
                </a:solidFill>
                <a:latin typeface="Arial"/>
              </a:rPr>
              <a:t>The bottom test calls it sacral-type; the column-wide test calls the top thoracic-type. A double shift is a real anatomy (presacral count 25 with a rib-less T12), and the field of view cannot exclude it.</a:t>
            </a:r>
          </a:p>
          <a:p>
            <a:r>
              <a:rPr sz="1800">
                <a:solidFill>
                  <a:srgbClr val="000000"/>
                </a:solidFill>
                <a:latin typeface="Arial"/>
              </a:rPr>
              <a:t>That is the point: on this study a verdict is not available to a human either. A probability is, and it is what the decoder reports.</a:t>
            </a:r>
          </a:p>
        </p:txBody>
      </p:sp>
      <p:pic>
        <p:nvPicPr>
          <p:cNvPr id="27" name="Picture 26" descr="reading_sheet_0376.png"/>
          <p:cNvPicPr>
            <a:picLocks noChangeAspect="1"/>
          </p:cNvPicPr>
          <p:nvPr/>
        </p:nvPicPr>
        <p:blipFill>
          <a:blip r:embed="rId6"/>
          <a:stretch>
            <a:fillRect/>
          </a:stretch>
        </p:blipFill>
        <p:spPr>
          <a:xfrm>
            <a:off x="411480" y="1371600"/>
            <a:ext cx="4600000" cy="4600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Do the two borders shift together? First look at 802 records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Thoracolumbar border</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Stump twelfth rib (12th:11th length below 0.33): 98 of 788, 12.4 percent.</a:t>
            </a:r>
          </a:p>
          <a:p>
            <a:r>
              <a:rPr sz="1700">
                <a:solidFill>
                  <a:srgbClr val="000000"/>
                </a:solidFill>
                <a:latin typeface="Arial"/>
              </a:rPr>
              <a:t>Lumbar rib: 16 of 802, 2.0 percent.</a:t>
            </a:r>
          </a:p>
          <a:p>
            <a:r>
              <a:rPr sz="1700">
                <a:solidFill>
                  <a:srgbClr val="000000"/>
                </a:solidFill>
                <a:latin typeface="Arial"/>
              </a:rPr>
              <a:t>No six-lumbar record carries an aplastic twelfth rib by rib length; one does by column shape.</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Lumbosacral border</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Sacralization: stump ribs in 4 of 14 against 94 of 758 elsewhere, odds ratio 2.8, p = 0.09.</a:t>
            </a:r>
          </a:p>
          <a:p>
            <a:r>
              <a:rPr sz="1700">
                <a:solidFill>
                  <a:srgbClr val="000000"/>
                </a:solidFill>
                <a:latin typeface="Arial"/>
              </a:rPr>
              <a:t>Lumbarization: no lumbar rib among the 14.</a:t>
            </a:r>
          </a:p>
          <a:p>
            <a:r>
              <a:rPr sz="1700">
                <a:solidFill>
                  <a:srgbClr val="000000"/>
                </a:solidFill>
                <a:latin typeface="Arial"/>
              </a:rPr>
              <a:t>Direction agrees with Nagata 2025; power does not, at 33 graded records.</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A single homeotic shift, cranial or caudal, predicts these pairings. Reading the whole cohort, and VerSe, is what tests it at full power.</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6. Nagata K, et al. Skeletal Radiol 2025;54:2169–2177.   7. Du Plessis AM, et al. J Anat 2018;232:850–856.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one-shot network on held-out folds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Three numbers decide whether the claim holds, and none of them is overall Dice:</a:t>
            </a:r>
          </a:p>
          <a:p>
            <a:r>
              <a:rPr sz="1600">
                <a:solidFill>
                  <a:srgbClr val="000000"/>
                </a:solidFill>
                <a:latin typeface="Arial"/>
              </a:rPr>
              <a:t>1. level identity accuracy on transitional records, reported apart from typical ones;</a:t>
            </a:r>
          </a:p>
          <a:p>
            <a:r>
              <a:rPr sz="1600">
                <a:solidFill>
                  <a:srgbClr val="000000"/>
                </a:solidFill>
                <a:latin typeface="Arial"/>
              </a:rPr>
              <a:t>2. whether the network ever says 'lumbar rib' or 'T13' (a model that never does still scores 94 percent on short ribs);</a:t>
            </a:r>
          </a:p>
          <a:p>
            <a:r>
              <a:rPr sz="1600">
                <a:solidFill>
                  <a:srgbClr val="000000"/>
                </a:solidFill>
                <a:latin typeface="Arial"/>
              </a:rPr>
              <a:t>3. the posterior on the eighteen six-lumbar spines against the label-based readings.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Folds launched 7 September 2026 on four H200 nodes; expected complete about 12 September.</a:t>
            </a:r>
          </a:p>
        </p:txBody>
      </p:sp>
      <p:sp>
        <p:nvSpPr>
          <p:cNvPr id="28" name="TextBox 27"/>
          <p:cNvSpPr txBox="1"/>
          <p:nvPr/>
        </p:nvSpPr>
        <p:spPr>
          <a:xfrm>
            <a:off x="256032" y="1554480"/>
            <a:ext cx="7900000" cy="500000"/>
          </a:xfrm>
          <a:prstGeom prst="rect">
            <a:avLst/>
          </a:prstGeom>
          <a:noFill/>
        </p:spPr>
        <p:txBody>
          <a:bodyPr wrap="square">
            <a:spAutoFit/>
          </a:bodyPr>
          <a:lstStyle/>
          <a:p>
            <a:r>
              <a:rPr sz="1300" b="1">
                <a:solidFill>
                  <a:srgbClr val="B5533C"/>
                </a:solidFill>
              </a:rPr>
              <a:t>[PENDING] figure: per-class Dice, typical versus transitional records, five folds (tools/eval_oneshot.py)</a:t>
            </a:r>
          </a:p>
        </p:txBody>
      </p:sp>
      <p:sp>
        <p:nvSpPr>
          <p:cNvPr id="29" name="TextBox 28"/>
          <p:cNvSpPr txBox="1"/>
          <p:nvPr/>
        </p:nvSpPr>
        <p:spPr>
          <a:xfrm>
            <a:off x="256032" y="2200000"/>
            <a:ext cx="7900000" cy="500000"/>
          </a:xfrm>
          <a:prstGeom prst="rect">
            <a:avLst/>
          </a:prstGeom>
          <a:noFill/>
        </p:spPr>
        <p:txBody>
          <a:bodyPr wrap="square">
            <a:spAutoFit/>
          </a:bodyPr>
          <a:lstStyle/>
          <a:p>
            <a:r>
              <a:rPr sz="1300" b="1">
                <a:solidFill>
                  <a:srgbClr val="B5533C"/>
                </a:solidFill>
              </a:rPr>
              <a:t>[PENDING] figure: rib-free count accuracy by transitional status; posterior calibration (tools/decode_sequence.py)</a:t>
            </a:r>
          </a:p>
        </p:txBody>
      </p:sp>
      <p:sp>
        <p:nvSpPr>
          <p:cNvPr id="30" name="TextBox 29"/>
          <p:cNvSpPr txBox="1"/>
          <p:nvPr/>
        </p:nvSpPr>
        <p:spPr>
          <a:xfrm>
            <a:off x="256032" y="2850000"/>
            <a:ext cx="7900000" cy="500000"/>
          </a:xfrm>
          <a:prstGeom prst="rect">
            <a:avLst/>
          </a:prstGeom>
          <a:noFill/>
        </p:spPr>
        <p:txBody>
          <a:bodyPr wrap="square">
            <a:spAutoFit/>
          </a:bodyPr>
          <a:lstStyle/>
          <a:p>
            <a:r>
              <a:rPr sz="1300" b="1">
                <a:solidFill>
                  <a:srgbClr val="B5533C"/>
                </a:solidFill>
              </a:rPr>
              <a:t>[PENDING] table: where ground-truth twelfth-rib, thirteenth-rib and lumbar-rib voxels went; lumbar-rib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same idea on the image the surgeon looks at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A multi-source radiograph corpus</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33,943 vertebra instances on 5,401 films: BUU-LSPINE 19,991; AASCE full-spine 8,069; NHANES II 3,217; Mendeley 2,666.</a:t>
            </a:r>
          </a:p>
          <a:p>
            <a:r>
              <a:rPr sz="1700">
                <a:solidFill>
                  <a:srgbClr val="000000"/>
                </a:solidFill>
                <a:latin typeface="Arial"/>
              </a:rPr>
              <a:t>Plus 4,000 rendered radiographs from CTSpinoPelvic1K whose corners are exact by construction.</a:t>
            </a:r>
          </a:p>
          <a:p>
            <a:r>
              <a:rPr sz="1700">
                <a:solidFill>
                  <a:srgbClr val="000000"/>
                </a:solidFill>
                <a:latin typeface="Arial"/>
              </a:rPr>
              <a:t>Levels recorded as annotated or inferred from position, never invented.</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A class-agnostic corner detector</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Baseline on 6,073 instances: AP50 0.957, corners within 10 percent of body size 77 percent.</a:t>
            </a:r>
          </a:p>
          <a:p>
            <a:r>
              <a:rPr sz="1700">
                <a:solidFill>
                  <a:srgbClr val="000000"/>
                </a:solidFill>
                <a:latin typeface="Arial"/>
              </a:rPr>
              <a:t>Retraining on the full corpus now. [PENDING] v2 numbers.</a:t>
            </a:r>
          </a:p>
          <a:p>
            <a:r>
              <a:rPr sz="1700">
                <a:solidFill>
                  <a:srgbClr val="000000"/>
                </a:solidFill>
                <a:latin typeface="Arial"/>
              </a:rPr>
              <a:t>Fails today on outside films: post-operative, instrumented, thoracic levels present.</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Aim: the level named on the intraoperative film, from local shape, before the incision, with a probability attached.</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8. Klinwichit P, et al. BUU-LSPINE, 2023.   9. Wu H, et al. AASCE MICCAI 2019.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1658600" cy="3657600"/>
          </a:xfrm>
          <a:prstGeom prst="rect">
            <a:avLst/>
          </a:prstGeom>
          <a:noFill/>
        </p:spPr>
        <p:txBody>
          <a:bodyPr wrap="square" anchor="t" lIns="0" rIns="0" tIns="0" bIns="0">
            <a:spAutoFit/>
          </a:bodyPr>
          <a:lstStyle/>
          <a:p>
            <a:pPr algn="l">
              <a:spcBef>
                <a:spcPts val="0"/>
              </a:spcBef>
              <a:spcAft>
                <a:spcPts val="1600"/>
              </a:spcAft>
            </a:pPr>
            <a:r>
              <a:rPr sz="1800">
                <a:solidFill>
                  <a:srgbClr val="000000"/>
                </a:solidFill>
                <a:latin typeface="Arial"/>
              </a:rPr>
              <a:t>A lumbar level can be named without counting from C2, because a T12 and an L1 are different shapes in the same patient, and a lumbarized S1 keeps sacral features. CTSpinoPelvic1K makes that measurable on 802 records, with the anomalies recorded as themselves rather than forced into an ordinary level.</a:t>
            </a:r>
          </a:p>
          <a:p>
            <a:r>
              <a:rPr sz="1800">
                <a:solidFill>
                  <a:srgbClr val="000000"/>
                </a:solidFill>
                <a:latin typeface="Arial"/>
              </a:rPr>
              <a:t>Six rib-free bodies are, in this cohort, a true L6 or a caudally shifted sacral segment; the thoracolumbar border is not the usual culprit. Where the evidence sits at both ends, the honest output is a probability, and that is what the decoder gives.</a:t>
            </a:r>
          </a:p>
          <a:p>
            <a:r>
              <a:rPr sz="1800">
                <a:solidFill>
                  <a:srgbClr val="000000"/>
                </a:solidFill>
                <a:latin typeface="Arial"/>
              </a:rPr>
              <a:t>For the surgeon the origin of the border vertebra decides where the mobile junction is, what the pedicle will take, which root exits beneath it, and which endplate the pelvic parameters were measured on.</a:t>
            </a:r>
          </a:p>
        </p:txBody>
      </p:sp>
      <p:sp>
        <p:nvSpPr>
          <p:cNvPr id="26" name="Rounded Rectangle 25"/>
          <p:cNvSpPr/>
          <p:nvPr/>
        </p:nvSpPr>
        <p:spPr>
          <a:xfrm>
            <a:off x="256032" y="4892040"/>
            <a:ext cx="11658600" cy="77724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a:solidFill>
                  <a:srgbClr val="095945"/>
                </a:solidFill>
                <a:latin typeface="Arial"/>
              </a:rPr>
              <a:t>Identity by local shape, with a posterior over the readings, is the deliverable a wrong-level detector needs and a count can never give.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1400"/>
              </a:spcAft>
            </a:pPr>
            <a:r>
              <a:rPr sz="1800">
                <a:solidFill>
                  <a:srgbClr val="095945"/>
                </a:solidFill>
                <a:latin typeface="Arial"/>
              </a:rPr>
              <a:t>Limitations</a:t>
            </a:r>
          </a:p>
          <a:p>
            <a:r>
              <a:rPr sz="1800">
                <a:solidFill>
                  <a:srgbClr val="095945"/>
                </a:solidFill>
                <a:latin typeface="Arial"/>
              </a:rPr>
              <a:t>Thoracic ground truth is field-of-view limited; no scan contains C2, so the readings are morphological consistency, not developmental truth.</a:t>
            </a:r>
          </a:p>
          <a:p>
            <a:r>
              <a:rPr sz="1800">
                <a:solidFill>
                  <a:srgbClr val="095945"/>
                </a:solidFill>
                <a:latin typeface="Arial"/>
              </a:rPr>
              <a:t>33 Castellvi grades, two residents' consensus; the label-based readings rest on 18 six-lumbar records.</a:t>
            </a:r>
          </a:p>
          <a:p>
            <a:r>
              <a:rPr sz="1800">
                <a:solidFill>
                  <a:srgbClr val="095945"/>
                </a:solidFill>
                <a:latin typeface="Arial"/>
              </a:rPr>
              <a:t>Supine screening cohort over 50; ribs are triaged-review pseudolabels; no held-out test set beyond the folds.</a:t>
            </a:r>
          </a:p>
        </p:txBody>
      </p:sp>
      <p:sp>
        <p:nvSpPr>
          <p:cNvPr id="26" name="TextBox 25"/>
          <p:cNvSpPr txBox="1"/>
          <p:nvPr/>
        </p:nvSpPr>
        <p:spPr>
          <a:xfrm>
            <a:off x="6172200" y="1371600"/>
            <a:ext cx="5349240" cy="4297680"/>
          </a:xfrm>
          <a:prstGeom prst="rect">
            <a:avLst/>
          </a:prstGeom>
          <a:noFill/>
        </p:spPr>
        <p:txBody>
          <a:bodyPr wrap="square" anchor="t" lIns="0" rIns="0" tIns="0" bIns="0">
            <a:spAutoFit/>
          </a:bodyPr>
          <a:lstStyle/>
          <a:p>
            <a:pPr algn="l">
              <a:spcBef>
                <a:spcPts val="0"/>
              </a:spcBef>
              <a:spcAft>
                <a:spcPts val="1400"/>
              </a:spcAft>
            </a:pPr>
            <a:r>
              <a:rPr sz="1800">
                <a:solidFill>
                  <a:srgbClr val="095945"/>
                </a:solidFill>
                <a:latin typeface="Arial"/>
              </a:rPr>
              <a:t>Next steps</a:t>
            </a:r>
          </a:p>
          <a:p>
            <a:r>
              <a:rPr sz="1800">
                <a:solidFill>
                  <a:srgbClr val="095945"/>
                </a:solidFill>
                <a:latin typeface="Arial"/>
              </a:rPr>
              <a:t>Run the released weights over the 374 VerSe scans to add S1 and the anomaly classes, and read Castellvi on the whole cohort.</a:t>
            </a:r>
          </a:p>
          <a:p>
            <a:r>
              <a:rPr sz="1800">
                <a:solidFill>
                  <a:srgbClr val="095945"/>
                </a:solidFill>
                <a:latin typeface="Arial"/>
              </a:rPr>
              <a:t>Replace the S1 carve with one that follows anatomy.</a:t>
            </a:r>
          </a:p>
          <a:p>
            <a:r>
              <a:rPr sz="1800">
                <a:solidFill>
                  <a:srgbClr val="095945"/>
                </a:solidFill>
                <a:latin typeface="Arial"/>
              </a:rPr>
              <a:t>Train the corner detector on the enlarged radiograph corpus and on real intraoperative films with the operated level labelled.</a:t>
            </a:r>
          </a:p>
          <a:p>
            <a:r>
              <a:rPr sz="1800">
                <a:solidFill>
                  <a:srgbClr val="095945"/>
                </a:solidFill>
                <a:latin typeface="Arial"/>
              </a:rPr>
              <a:t>Students: one command onboards a new annotator (openspineconsortium.com/onboarding).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675120" cy="42062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Annotators and coauthors: Ashley Schehr, Annika Tekumulla, Margret Khoushi, Ryan Christian, Dane Hubers, Faris Mahjoub, Hassan Saad, Mia Sooch, Sathyagopal Siddapureddy, Michael McLellan, Jerick Kim (WSU School of Medicine); Miraziz Ismoilov and Nizar Alnabahneh (Radiology, DMC/WSU).</a:t>
            </a:r>
          </a:p>
          <a:p>
            <a:r>
              <a:rPr sz="1700">
                <a:solidFill>
                  <a:srgbClr val="000000"/>
                </a:solidFill>
                <a:latin typeface="Arial"/>
              </a:rPr>
              <a:t>Data: CTSpinoPelvic1K v10, doi.org/10.5281/zenodo.22139642 (CC BY-NC-SA 4.0); build archive doi.org/10.5281/zenodo.22647933.</a:t>
            </a:r>
          </a:p>
          <a:p>
            <a:r>
              <a:rPr sz="1700">
                <a:solidFill>
                  <a:srgbClr val="000000"/>
                </a:solidFill>
                <a:latin typeface="Arial"/>
              </a:rPr>
              <a:t>Code and weights: github.com/OpenSpineConsortium/CTSpinoPelvic1K; huggingface.co/OpenSpineConsortium.</a:t>
            </a:r>
          </a:p>
          <a:p>
            <a:r>
              <a:rPr sz="1700">
                <a:solidFill>
                  <a:srgbClr val="000000"/>
                </a:solidFill>
                <a:latin typeface="Arial"/>
              </a:rPr>
              <a:t>Imaging: TCIA CT COLONOGRAPHY; annotations derive from CTSpine1K and CTPelvic1K.</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Questions</a:t>
            </a:r>
          </a:p>
          <a:p>
            <a:r>
              <a:rPr sz="1600">
                <a:solidFill>
                  <a:srgbClr val="095945"/>
                </a:solidFill>
                <a:latin typeface="Arial"/>
              </a:rPr>
              <a:t>gregory.schwing@med.wayne.edu</a:t>
            </a:r>
          </a:p>
          <a:p>
            <a:r>
              <a:rPr sz="1600">
                <a:solidFill>
                  <a:srgbClr val="095945"/>
                </a:solidFill>
                <a:latin typeface="Arial"/>
              </a:rPr>
              <a:t>openspineconsortium.com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501</cp:revision>
  <dcterms:created xsi:type="dcterms:W3CDTF">2016-06-08T12:30:36Z</dcterms:created>
  <dcterms:modified xsi:type="dcterms:W3CDTF">2026-08-15T16:45:35Z</dcterms:modified>
</cp:coreProperties>
</file>